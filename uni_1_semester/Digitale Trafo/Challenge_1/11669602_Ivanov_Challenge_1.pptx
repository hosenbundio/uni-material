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7" r:id="rId2"/>
    <p:sldId id="344" r:id="rId3"/>
    <p:sldId id="338" r:id="rId4"/>
    <p:sldId id="259" r:id="rId5"/>
    <p:sldId id="343" r:id="rId6"/>
    <p:sldId id="258" r:id="rId7"/>
    <p:sldId id="339" r:id="rId8"/>
    <p:sldId id="349" r:id="rId9"/>
    <p:sldId id="350" r:id="rId10"/>
    <p:sldId id="341" r:id="rId11"/>
    <p:sldId id="351" r:id="rId12"/>
    <p:sldId id="346" r:id="rId13"/>
    <p:sldId id="347" r:id="rId14"/>
    <p:sldId id="352" r:id="rId15"/>
    <p:sldId id="337"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5"/>
    <p:restoredTop sz="94698"/>
  </p:normalViewPr>
  <p:slideViewPr>
    <p:cSldViewPr snapToGrid="0" showGuides="1">
      <p:cViewPr varScale="1">
        <p:scale>
          <a:sx n="132" d="100"/>
          <a:sy n="132" d="100"/>
        </p:scale>
        <p:origin x="496" y="4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F8CC6-C96A-0E43-A3B4-AF00AB29B89E}" type="datetimeFigureOut">
              <a:rPr lang="de-DE" smtClean="0"/>
              <a:t>12.01.26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6DB32-81D2-214A-ADC4-D9BF278F77C4}" type="slidenum">
              <a:rPr lang="de-DE" smtClean="0"/>
              <a:t>‹#›</a:t>
            </a:fld>
            <a:endParaRPr lang="de-DE"/>
          </a:p>
        </p:txBody>
      </p:sp>
    </p:spTree>
    <p:extLst>
      <p:ext uri="{BB962C8B-B14F-4D97-AF65-F5344CB8AC3E}">
        <p14:creationId xmlns:p14="http://schemas.microsoft.com/office/powerpoint/2010/main" val="292052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DCF08C52-BAF8-043A-F3AD-B6135256FA93}" type="slidenum">
              <a:rPr/>
              <a:t>15</a:t>
            </a:fld>
            <a:endParaRPr/>
          </a:p>
        </p:txBody>
      </p:sp>
    </p:spTree>
    <p:extLst>
      <p:ext uri="{BB962C8B-B14F-4D97-AF65-F5344CB8AC3E}">
        <p14:creationId xmlns:p14="http://schemas.microsoft.com/office/powerpoint/2010/main" val="1400530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userDrawn="1">
  <p:cSld name="Textfolie">
    <p:spTree>
      <p:nvGrpSpPr>
        <p:cNvPr id="1" name=""/>
        <p:cNvGrpSpPr/>
        <p:nvPr/>
      </p:nvGrpSpPr>
      <p:grpSpPr bwMode="auto">
        <a:xfrm>
          <a:off x="0" y="0"/>
          <a:ext cx="0" cy="0"/>
          <a:chOff x="0" y="0"/>
          <a:chExt cx="0" cy="0"/>
        </a:xfrm>
      </p:grpSpPr>
      <p:sp>
        <p:nvSpPr>
          <p:cNvPr id="75" name="object 2"/>
          <p:cNvSpPr/>
          <p:nvPr userDrawn="1"/>
        </p:nvSpPr>
        <p:spPr bwMode="auto">
          <a:xfrm>
            <a:off x="0" y="6375797"/>
            <a:ext cx="12192000" cy="482203"/>
          </a:xfrm>
          <a:custGeom>
            <a:avLst/>
            <a:gdLst/>
            <a:ahLst/>
            <a:cxnLst/>
            <a:rect l="l" t="t" r="r" b="b"/>
            <a:pathLst>
              <a:path w="13004800" h="6896100" extrusionOk="0">
                <a:moveTo>
                  <a:pt x="0" y="6896100"/>
                </a:moveTo>
                <a:lnTo>
                  <a:pt x="13004800" y="6896100"/>
                </a:lnTo>
                <a:lnTo>
                  <a:pt x="13004800" y="0"/>
                </a:lnTo>
                <a:lnTo>
                  <a:pt x="0" y="0"/>
                </a:lnTo>
                <a:lnTo>
                  <a:pt x="0" y="6896100"/>
                </a:lnTo>
                <a:close/>
              </a:path>
            </a:pathLst>
          </a:custGeom>
          <a:solidFill>
            <a:schemeClr val="bg1">
              <a:lumMod val="95000"/>
            </a:schemeClr>
          </a:solidFill>
        </p:spPr>
        <p:txBody>
          <a:bodyPr wrap="square" lIns="0" tIns="0" rIns="0" bIns="0" rtlCol="0"/>
          <a:lstStyle/>
          <a:p>
            <a:pPr>
              <a:defRPr/>
            </a:pPr>
            <a:endParaRPr sz="2400">
              <a:solidFill>
                <a:schemeClr val="bg1">
                  <a:lumMod val="85000"/>
                </a:schemeClr>
              </a:solidFill>
            </a:endParaRPr>
          </a:p>
        </p:txBody>
      </p:sp>
      <p:sp>
        <p:nvSpPr>
          <p:cNvPr id="3" name="Holder 3"/>
          <p:cNvSpPr>
            <a:spLocks noGrp="1"/>
          </p:cNvSpPr>
          <p:nvPr>
            <p:ph type="body" idx="1"/>
          </p:nvPr>
        </p:nvSpPr>
        <p:spPr bwMode="auto">
          <a:xfrm>
            <a:off x="1609944" y="2180861"/>
            <a:ext cx="7715251" cy="307776"/>
          </a:xfrm>
          <a:prstGeom prst="rect">
            <a:avLst/>
          </a:prstGeom>
        </p:spPr>
        <p:txBody>
          <a:bodyPr lIns="0" tIns="0" rIns="0" bIns="0"/>
          <a:lstStyle>
            <a:lvl1pPr>
              <a:defRPr sz="1200" b="0" i="0" baseline="0">
                <a:solidFill>
                  <a:schemeClr val="tx1"/>
                </a:solidFill>
                <a:latin typeface="Arial" panose="020B0604020202020204" pitchFamily="34" charset="0"/>
                <a:cs typeface="Arial"/>
              </a:defRPr>
            </a:lvl1pPr>
          </a:lstStyle>
          <a:p>
            <a:pPr>
              <a:defRPr/>
            </a:pPr>
            <a:endParaRPr dirty="0"/>
          </a:p>
        </p:txBody>
      </p:sp>
      <p:sp>
        <p:nvSpPr>
          <p:cNvPr id="8" name="Holder 4"/>
          <p:cNvSpPr>
            <a:spLocks noGrp="1"/>
          </p:cNvSpPr>
          <p:nvPr>
            <p:ph type="ftr" sz="quarter" idx="3"/>
          </p:nvPr>
        </p:nvSpPr>
        <p:spPr bwMode="auto">
          <a:xfrm>
            <a:off x="2309812" y="6502955"/>
            <a:ext cx="8072437" cy="194311"/>
          </a:xfrm>
          <a:prstGeom prst="rect">
            <a:avLst/>
          </a:prstGeom>
        </p:spPr>
        <p:txBody>
          <a:bodyPr lIns="0" tIns="0" rIns="0" bIns="0"/>
          <a:lstStyle>
            <a:lvl1pPr algn="ctr">
              <a:defRPr sz="1200">
                <a:solidFill>
                  <a:schemeClr val="tx1"/>
                </a:solidFill>
              </a:defRPr>
            </a:lvl1pPr>
          </a:lstStyle>
          <a:p>
            <a:pPr>
              <a:defRPr/>
            </a:pPr>
            <a:r>
              <a:rPr lang="de-DE" dirty="0"/>
              <a:t>Fachbereich Wirtschaftswissenschaften -  Prof. Dr. Martin Adam </a:t>
            </a:r>
            <a:br>
              <a:rPr lang="de-DE" dirty="0"/>
            </a:br>
            <a:endParaRPr dirty="0"/>
          </a:p>
        </p:txBody>
      </p:sp>
      <p:sp>
        <p:nvSpPr>
          <p:cNvPr id="9" name="Holder 5"/>
          <p:cNvSpPr>
            <a:spLocks noGrp="1"/>
          </p:cNvSpPr>
          <p:nvPr>
            <p:ph type="dt" sz="half" idx="2"/>
          </p:nvPr>
        </p:nvSpPr>
        <p:spPr bwMode="auto">
          <a:xfrm>
            <a:off x="291465" y="6500812"/>
            <a:ext cx="1375411" cy="196453"/>
          </a:xfrm>
          <a:prstGeom prst="rect">
            <a:avLst/>
          </a:prstGeom>
        </p:spPr>
        <p:txBody>
          <a:bodyPr lIns="0" tIns="0" rIns="0" bIns="0"/>
          <a:lstStyle>
            <a:lvl1pPr algn="l">
              <a:defRPr sz="1200">
                <a:solidFill>
                  <a:schemeClr val="tx1"/>
                </a:solidFill>
              </a:defRPr>
            </a:lvl1pPr>
          </a:lstStyle>
          <a:p>
            <a:pPr>
              <a:defRPr/>
            </a:pPr>
            <a:fld id="{D136BA79-F54F-FF44-890F-0CC4A3312E96}" type="datetime1">
              <a:rPr lang="de-DE"/>
              <a:t>12.01.26</a:t>
            </a:fld>
            <a:endParaRPr lang="en-US"/>
          </a:p>
        </p:txBody>
      </p:sp>
      <p:sp>
        <p:nvSpPr>
          <p:cNvPr id="10" name="Holder 6"/>
          <p:cNvSpPr>
            <a:spLocks noGrp="1"/>
          </p:cNvSpPr>
          <p:nvPr>
            <p:ph type="sldNum" sz="quarter" idx="4"/>
          </p:nvPr>
        </p:nvSpPr>
        <p:spPr bwMode="auto">
          <a:xfrm>
            <a:off x="11096626" y="6526033"/>
            <a:ext cx="803911" cy="171233"/>
          </a:xfrm>
          <a:prstGeom prst="rect">
            <a:avLst/>
          </a:prstGeom>
        </p:spPr>
        <p:txBody>
          <a:bodyPr lIns="0" tIns="0" rIns="0" bIns="0"/>
          <a:lstStyle>
            <a:lvl1pPr algn="r">
              <a:defRPr sz="1200">
                <a:solidFill>
                  <a:schemeClr val="tx1"/>
                </a:solidFill>
              </a:defRPr>
            </a:lvl1pPr>
          </a:lstStyle>
          <a:p>
            <a:pPr>
              <a:defRPr/>
            </a:pPr>
            <a:fld id="{B6F15528-21DE-4FAA-801E-634DDDAF4B2B}" type="slidenum">
              <a:rPr lang="de-DE"/>
              <a:t>‹#›</a:t>
            </a:fld>
            <a:endParaRPr lang="de-DE"/>
          </a:p>
        </p:txBody>
      </p:sp>
      <p:sp>
        <p:nvSpPr>
          <p:cNvPr id="4" name="Inhaltsplatzhalter 3"/>
          <p:cNvSpPr>
            <a:spLocks noGrp="1"/>
          </p:cNvSpPr>
          <p:nvPr>
            <p:ph sz="quarter" idx="11"/>
          </p:nvPr>
        </p:nvSpPr>
        <p:spPr bwMode="auto">
          <a:xfrm>
            <a:off x="342371" y="5876239"/>
            <a:ext cx="11558165" cy="381600"/>
          </a:xfrm>
          <a:prstGeom prst="rect">
            <a:avLst/>
          </a:prstGeom>
        </p:spPr>
        <p:txBody>
          <a:bodyPr/>
          <a:lstStyle>
            <a:lvl2pPr algn="l">
              <a:defRPr sz="1000" baseline="0">
                <a:solidFill>
                  <a:schemeClr val="bg1">
                    <a:lumMod val="50000"/>
                  </a:schemeClr>
                </a:solidFill>
                <a:latin typeface="Arial"/>
                <a:cs typeface="Arial"/>
              </a:defRPr>
            </a:lvl2pPr>
          </a:lstStyle>
          <a:p>
            <a:pPr lvl="1">
              <a:defRPr/>
            </a:pPr>
            <a:endParaRPr lang="de-DE" dirty="0"/>
          </a:p>
          <a:p>
            <a:pPr lvl="1">
              <a:defRPr/>
            </a:pPr>
            <a:r>
              <a:rPr lang="de-DE" dirty="0"/>
              <a:t>Source: </a:t>
            </a:r>
          </a:p>
        </p:txBody>
      </p:sp>
      <p:sp>
        <p:nvSpPr>
          <p:cNvPr id="5" name="Titelplatzhalter 1"/>
          <p:cNvSpPr>
            <a:spLocks noGrp="1"/>
          </p:cNvSpPr>
          <p:nvPr>
            <p:ph type="title"/>
          </p:nvPr>
        </p:nvSpPr>
        <p:spPr bwMode="auto">
          <a:xfrm>
            <a:off x="143339" y="723330"/>
            <a:ext cx="10515600" cy="1325033"/>
          </a:xfrm>
          <a:prstGeom prst="rect">
            <a:avLst/>
          </a:prstGeom>
        </p:spPr>
        <p:txBody>
          <a:bodyPr vert="horz" lIns="91440" tIns="45720" rIns="91440" bIns="45720" rtlCol="0" anchor="ctr">
            <a:normAutofit/>
          </a:bodyPr>
          <a:lstStyle>
            <a:lvl1pPr>
              <a:defRPr cap="all" baseline="0">
                <a:latin typeface="Arial Black" panose="020B0604020202020204" pitchFamily="34" charset="0"/>
              </a:defRPr>
            </a:lvl1pPr>
          </a:lstStyle>
          <a:p>
            <a:pPr>
              <a:defRPr/>
            </a:pPr>
            <a:endParaRPr lang="de-DE" dirty="0"/>
          </a:p>
        </p:txBody>
      </p:sp>
    </p:spTree>
    <p:extLst>
      <p:ext uri="{BB962C8B-B14F-4D97-AF65-F5344CB8AC3E}">
        <p14:creationId xmlns:p14="http://schemas.microsoft.com/office/powerpoint/2010/main" val="3225024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1_Benutzerdefiniertes Layou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dirty="0"/>
              <a:t>MASTERTITELFORMAT BEARBEITEN</a:t>
            </a:r>
          </a:p>
        </p:txBody>
      </p:sp>
      <p:sp>
        <p:nvSpPr>
          <p:cNvPr id="3" name="Fußzeilenplatzhalter 2"/>
          <p:cNvSpPr>
            <a:spLocks noGrp="1"/>
          </p:cNvSpPr>
          <p:nvPr>
            <p:ph type="ftr" sz="quarter" idx="10"/>
          </p:nvPr>
        </p:nvSpPr>
        <p:spPr bwMode="auto"/>
        <p:txBody>
          <a:bodyPr/>
          <a:lstStyle>
            <a:lvl1pPr>
              <a:defRPr>
                <a:solidFill>
                  <a:schemeClr val="tx1"/>
                </a:solidFill>
              </a:defRPr>
            </a:lvl1pPr>
          </a:lstStyle>
          <a:p>
            <a:pPr>
              <a:defRPr/>
            </a:pPr>
            <a:r>
              <a:rPr lang="de-DE" dirty="0"/>
              <a:t>Fachbereich Wirtschaftswissenschaften -  Prof. Dr. Martin Adam </a:t>
            </a:r>
            <a:br>
              <a:rPr lang="de-DE" dirty="0"/>
            </a:br>
            <a:endParaRPr lang="de-DE" dirty="0"/>
          </a:p>
        </p:txBody>
      </p:sp>
      <p:sp>
        <p:nvSpPr>
          <p:cNvPr id="4" name="Datumsplatzhalter 3"/>
          <p:cNvSpPr>
            <a:spLocks noGrp="1"/>
          </p:cNvSpPr>
          <p:nvPr>
            <p:ph type="dt" sz="half" idx="11"/>
          </p:nvPr>
        </p:nvSpPr>
        <p:spPr bwMode="auto"/>
        <p:txBody>
          <a:bodyPr/>
          <a:lstStyle>
            <a:lvl1pPr>
              <a:defRPr>
                <a:solidFill>
                  <a:schemeClr val="tx1"/>
                </a:solidFill>
              </a:defRPr>
            </a:lvl1pPr>
          </a:lstStyle>
          <a:p>
            <a:pPr>
              <a:defRPr/>
            </a:pPr>
            <a:fld id="{F0E3D606-8972-5E43-B941-0F33DA8F155E}" type="datetime1">
              <a:rPr lang="de-DE" smtClean="0"/>
              <a:pPr>
                <a:defRPr/>
              </a:pPr>
              <a:t>12.01.26</a:t>
            </a:fld>
            <a:endParaRPr lang="en-US" dirty="0"/>
          </a:p>
        </p:txBody>
      </p:sp>
      <p:sp>
        <p:nvSpPr>
          <p:cNvPr id="5" name="Foliennummernplatzhalter 4"/>
          <p:cNvSpPr>
            <a:spLocks noGrp="1"/>
          </p:cNvSpPr>
          <p:nvPr>
            <p:ph type="sldNum" sz="quarter" idx="12"/>
          </p:nvPr>
        </p:nvSpPr>
        <p:spPr bwMode="auto"/>
        <p:txBody>
          <a:bodyPr/>
          <a:lstStyle>
            <a:lvl1pPr>
              <a:defRPr>
                <a:solidFill>
                  <a:schemeClr val="tx1"/>
                </a:solidFill>
              </a:defRPr>
            </a:lvl1pPr>
          </a:lstStyle>
          <a:p>
            <a:pPr>
              <a:defRPr/>
            </a:pPr>
            <a:fld id="{B6F15528-21DE-4FAA-801E-634DDDAF4B2B}" type="slidenum">
              <a:rPr lang="de-DE" smtClean="0"/>
              <a:pPr>
                <a:defRPr/>
              </a:pPr>
              <a:t>‹#›</a:t>
            </a:fld>
            <a:endParaRPr lang="de-DE" dirty="0"/>
          </a:p>
        </p:txBody>
      </p:sp>
    </p:spTree>
    <p:extLst>
      <p:ext uri="{BB962C8B-B14F-4D97-AF65-F5344CB8AC3E}">
        <p14:creationId xmlns:p14="http://schemas.microsoft.com/office/powerpoint/2010/main" val="30535299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el">
    <p:spTree>
      <p:nvGrpSpPr>
        <p:cNvPr id="1" name=""/>
        <p:cNvGrpSpPr/>
        <p:nvPr/>
      </p:nvGrpSpPr>
      <p:grpSpPr bwMode="auto">
        <a:xfrm>
          <a:off x="0" y="0"/>
          <a:ext cx="0" cy="0"/>
          <a:chOff x="0" y="0"/>
          <a:chExt cx="0" cy="0"/>
        </a:xfrm>
      </p:grpSpPr>
      <p:sp>
        <p:nvSpPr>
          <p:cNvPr id="81" name="object 2"/>
          <p:cNvSpPr/>
          <p:nvPr userDrawn="1"/>
        </p:nvSpPr>
        <p:spPr bwMode="auto">
          <a:xfrm>
            <a:off x="143339" y="6375797"/>
            <a:ext cx="12192000" cy="482203"/>
          </a:xfrm>
          <a:custGeom>
            <a:avLst/>
            <a:gdLst/>
            <a:ahLst/>
            <a:cxnLst/>
            <a:rect l="l" t="t" r="r" b="b"/>
            <a:pathLst>
              <a:path w="13004800" h="6896100" extrusionOk="0">
                <a:moveTo>
                  <a:pt x="0" y="6896100"/>
                </a:moveTo>
                <a:lnTo>
                  <a:pt x="13004800" y="6896100"/>
                </a:lnTo>
                <a:lnTo>
                  <a:pt x="13004800" y="0"/>
                </a:lnTo>
                <a:lnTo>
                  <a:pt x="0" y="0"/>
                </a:lnTo>
                <a:lnTo>
                  <a:pt x="0" y="6896100"/>
                </a:lnTo>
                <a:close/>
              </a:path>
            </a:pathLst>
          </a:custGeom>
          <a:solidFill>
            <a:schemeClr val="bg1">
              <a:lumMod val="95000"/>
            </a:schemeClr>
          </a:solidFill>
        </p:spPr>
        <p:txBody>
          <a:bodyPr wrap="square" lIns="0" tIns="0" rIns="0" bIns="0" rtlCol="0"/>
          <a:lstStyle/>
          <a:p>
            <a:pPr>
              <a:defRPr/>
            </a:pPr>
            <a:endParaRPr sz="2400">
              <a:solidFill>
                <a:schemeClr val="bg1">
                  <a:lumMod val="85000"/>
                </a:schemeClr>
              </a:solidFill>
            </a:endParaRPr>
          </a:p>
        </p:txBody>
      </p:sp>
      <p:sp>
        <p:nvSpPr>
          <p:cNvPr id="8" name="Holder 4"/>
          <p:cNvSpPr>
            <a:spLocks noGrp="1"/>
          </p:cNvSpPr>
          <p:nvPr>
            <p:ph type="ftr" sz="quarter" idx="3"/>
          </p:nvPr>
        </p:nvSpPr>
        <p:spPr bwMode="auto">
          <a:xfrm>
            <a:off x="2309812" y="6502955"/>
            <a:ext cx="8072437" cy="194311"/>
          </a:xfrm>
          <a:prstGeom prst="rect">
            <a:avLst/>
          </a:prstGeom>
        </p:spPr>
        <p:txBody>
          <a:bodyPr lIns="0" tIns="0" rIns="0" bIns="0"/>
          <a:lstStyle>
            <a:lvl1pPr algn="ctr">
              <a:defRPr sz="1200">
                <a:solidFill>
                  <a:schemeClr val="tx1"/>
                </a:solidFill>
              </a:defRPr>
            </a:lvl1pPr>
          </a:lstStyle>
          <a:p>
            <a:pPr>
              <a:defRPr/>
            </a:pPr>
            <a:r>
              <a:rPr lang="de-DE" dirty="0"/>
              <a:t>Fachbereich Wirtschaftswissenschaften -  Prof. Dr. Martin Adam </a:t>
            </a:r>
            <a:br>
              <a:rPr lang="de-DE" dirty="0"/>
            </a:br>
            <a:endParaRPr lang="de-DE" dirty="0"/>
          </a:p>
        </p:txBody>
      </p:sp>
      <p:sp>
        <p:nvSpPr>
          <p:cNvPr id="9" name="Holder 5"/>
          <p:cNvSpPr>
            <a:spLocks noGrp="1"/>
          </p:cNvSpPr>
          <p:nvPr>
            <p:ph type="dt" sz="half" idx="2"/>
          </p:nvPr>
        </p:nvSpPr>
        <p:spPr bwMode="auto">
          <a:xfrm>
            <a:off x="291465" y="6500812"/>
            <a:ext cx="1375411" cy="196453"/>
          </a:xfrm>
          <a:prstGeom prst="rect">
            <a:avLst/>
          </a:prstGeom>
        </p:spPr>
        <p:txBody>
          <a:bodyPr lIns="0" tIns="0" rIns="0" bIns="0"/>
          <a:lstStyle>
            <a:lvl1pPr algn="l">
              <a:defRPr sz="1200">
                <a:solidFill>
                  <a:schemeClr val="tx1"/>
                </a:solidFill>
              </a:defRPr>
            </a:lvl1pPr>
          </a:lstStyle>
          <a:p>
            <a:pPr>
              <a:defRPr/>
            </a:pPr>
            <a:fld id="{9EB4267E-ED5D-0D47-AD06-5A362CC69136}" type="datetime1">
              <a:rPr lang="de-DE" smtClean="0"/>
              <a:pPr>
                <a:defRPr/>
              </a:pPr>
              <a:t>12.01.26</a:t>
            </a:fld>
            <a:endParaRPr lang="en-US" dirty="0"/>
          </a:p>
        </p:txBody>
      </p:sp>
      <p:sp>
        <p:nvSpPr>
          <p:cNvPr id="10" name="Holder 6"/>
          <p:cNvSpPr>
            <a:spLocks noGrp="1"/>
          </p:cNvSpPr>
          <p:nvPr>
            <p:ph type="sldNum" sz="quarter" idx="10"/>
          </p:nvPr>
        </p:nvSpPr>
        <p:spPr bwMode="auto">
          <a:xfrm>
            <a:off x="11096626" y="6526033"/>
            <a:ext cx="803911" cy="171233"/>
          </a:xfrm>
          <a:prstGeom prst="rect">
            <a:avLst/>
          </a:prstGeom>
        </p:spPr>
        <p:txBody>
          <a:bodyPr lIns="0" tIns="0" rIns="0" bIns="0"/>
          <a:lstStyle>
            <a:lvl1pPr algn="r">
              <a:defRPr sz="1200">
                <a:solidFill>
                  <a:schemeClr val="tx1"/>
                </a:solidFill>
              </a:defRPr>
            </a:lvl1pPr>
          </a:lstStyle>
          <a:p>
            <a:pPr>
              <a:defRPr/>
            </a:pPr>
            <a:fld id="{B6F15528-21DE-4FAA-801E-634DDDAF4B2B}" type="slidenum">
              <a:rPr lang="de-DE" smtClean="0"/>
              <a:pPr>
                <a:defRPr/>
              </a:pPr>
              <a:t>‹#›</a:t>
            </a:fld>
            <a:endParaRPr lang="de-DE" dirty="0"/>
          </a:p>
        </p:txBody>
      </p:sp>
    </p:spTree>
    <p:extLst>
      <p:ext uri="{BB962C8B-B14F-4D97-AF65-F5344CB8AC3E}">
        <p14:creationId xmlns:p14="http://schemas.microsoft.com/office/powerpoint/2010/main" val="845132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8C001FB2-29A7-4769-8BB4-8B7C0D4E06FC}" type="datetimeFigureOut">
              <a:rPr lang="de-DE" smtClean="0"/>
              <a:t>12.01.26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427A85BC-55C8-452A-9926-9E4E48972868}" type="slidenum">
              <a:rPr lang="de-DE" smtClean="0"/>
              <a:t>‹#›</a:t>
            </a:fld>
            <a:endParaRPr lang="de-DE"/>
          </a:p>
        </p:txBody>
      </p:sp>
    </p:spTree>
    <p:extLst>
      <p:ext uri="{BB962C8B-B14F-4D97-AF65-F5344CB8AC3E}">
        <p14:creationId xmlns:p14="http://schemas.microsoft.com/office/powerpoint/2010/main" val="3168692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12" Type="http://schemas.openxmlformats.org/officeDocument/2006/relationships/image" Target="../media/image5.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11" Type="http://schemas.openxmlformats.org/officeDocument/2006/relationships/image" Target="../media/image4.png"/><Relationship Id="rId5" Type="http://schemas.openxmlformats.org/officeDocument/2006/relationships/theme" Target="../theme/theme1.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aphicFrame>
        <p:nvGraphicFramePr>
          <p:cNvPr id="4" name="think-cell data - do not delete" hidden="1"/>
          <p:cNvGraphicFramePr>
            <a:graphicFrameLocks noChangeAspect="1"/>
          </p:cNvGraphicFramePr>
          <p:nvPr userDrawn="1">
            <p:custDataLst>
              <p:tags r:id="rId6"/>
            </p:custDataLst>
            <p:extLst>
              <p:ext uri="{D42A27DB-BD31-4B8C-83A1-F6EECF244321}">
                <p14:modId xmlns:p14="http://schemas.microsoft.com/office/powerpoint/2010/main" val="98697668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7" imgW="245" imgH="245" progId="TCLayout.ActiveDocument.1">
                  <p:embed/>
                </p:oleObj>
              </mc:Choice>
              <mc:Fallback>
                <p:oleObj name="think-cell Slide" r:id="rId7" imgW="245" imgH="245" progId="TCLayout.ActiveDocument.1">
                  <p:embed/>
                  <p:pic>
                    <p:nvPicPr>
                      <p:cNvPr id="4" name="think-cell data - do not delete" hidden="1"/>
                      <p:cNvPicPr/>
                      <p:nvPr/>
                    </p:nvPicPr>
                    <p:blipFill>
                      <a:blip r:embed="rId8"/>
                      <a:stretch>
                        <a:fillRect/>
                      </a:stretch>
                    </p:blipFill>
                    <p:spPr>
                      <a:xfrm>
                        <a:off x="2118" y="2118"/>
                        <a:ext cx="2117" cy="2117"/>
                      </a:xfrm>
                      <a:prstGeom prst="rect">
                        <a:avLst/>
                      </a:prstGeom>
                    </p:spPr>
                  </p:pic>
                </p:oleObj>
              </mc:Fallback>
            </mc:AlternateContent>
          </a:graphicData>
        </a:graphic>
      </p:graphicFrame>
      <p:sp>
        <p:nvSpPr>
          <p:cNvPr id="7" name="Holder 4"/>
          <p:cNvSpPr>
            <a:spLocks noGrp="1"/>
          </p:cNvSpPr>
          <p:nvPr>
            <p:ph type="ftr" sz="quarter" idx="3"/>
          </p:nvPr>
        </p:nvSpPr>
        <p:spPr bwMode="auto">
          <a:xfrm>
            <a:off x="2309812" y="6502955"/>
            <a:ext cx="8072437" cy="194311"/>
          </a:xfrm>
          <a:prstGeom prst="rect">
            <a:avLst/>
          </a:prstGeom>
        </p:spPr>
        <p:txBody>
          <a:bodyPr lIns="0" tIns="0" rIns="0" bIns="0"/>
          <a:lstStyle>
            <a:lvl1pPr algn="ctr">
              <a:defRPr sz="1200">
                <a:solidFill>
                  <a:srgbClr val="0F96D4"/>
                </a:solidFill>
              </a:defRPr>
            </a:lvl1pPr>
          </a:lstStyle>
          <a:p>
            <a:pPr>
              <a:defRPr/>
            </a:pPr>
            <a:r>
              <a:rPr lang="de-DE"/>
              <a:t>Fachbereich Wirtschaftswissenschaften -  Prof. Dr. Martin Adam </a:t>
            </a:r>
            <a:br>
              <a:rPr lang="de-DE"/>
            </a:br>
            <a:endParaRPr lang="de-DE"/>
          </a:p>
        </p:txBody>
      </p:sp>
      <p:sp>
        <p:nvSpPr>
          <p:cNvPr id="8" name="Holder 5"/>
          <p:cNvSpPr>
            <a:spLocks noGrp="1"/>
          </p:cNvSpPr>
          <p:nvPr>
            <p:ph type="dt" sz="half" idx="2"/>
          </p:nvPr>
        </p:nvSpPr>
        <p:spPr bwMode="auto">
          <a:xfrm>
            <a:off x="291465" y="6500812"/>
            <a:ext cx="1375411" cy="196453"/>
          </a:xfrm>
          <a:prstGeom prst="rect">
            <a:avLst/>
          </a:prstGeom>
        </p:spPr>
        <p:txBody>
          <a:bodyPr lIns="0" tIns="0" rIns="0" bIns="0"/>
          <a:lstStyle>
            <a:lvl1pPr algn="l">
              <a:defRPr sz="1200">
                <a:solidFill>
                  <a:schemeClr val="tx1">
                    <a:tint val="75000"/>
                  </a:schemeClr>
                </a:solidFill>
              </a:defRPr>
            </a:lvl1pPr>
          </a:lstStyle>
          <a:p>
            <a:pPr>
              <a:defRPr/>
            </a:pPr>
            <a:fld id="{386F862C-624A-0849-9959-3FBFF889183F}" type="datetime1">
              <a:rPr lang="de-DE"/>
              <a:t>12.01.26</a:t>
            </a:fld>
            <a:endParaRPr lang="en-US"/>
          </a:p>
        </p:txBody>
      </p:sp>
      <p:sp>
        <p:nvSpPr>
          <p:cNvPr id="9" name="Holder 6"/>
          <p:cNvSpPr>
            <a:spLocks noGrp="1"/>
          </p:cNvSpPr>
          <p:nvPr>
            <p:ph type="sldNum" sz="quarter" idx="4"/>
          </p:nvPr>
        </p:nvSpPr>
        <p:spPr bwMode="auto">
          <a:xfrm>
            <a:off x="11096626" y="6526033"/>
            <a:ext cx="803911" cy="171233"/>
          </a:xfrm>
          <a:prstGeom prst="rect">
            <a:avLst/>
          </a:prstGeom>
        </p:spPr>
        <p:txBody>
          <a:bodyPr lIns="0" tIns="0" rIns="0" bIns="0"/>
          <a:lstStyle>
            <a:lvl1pPr algn="r">
              <a:defRPr sz="1200">
                <a:solidFill>
                  <a:schemeClr val="tx1">
                    <a:tint val="75000"/>
                  </a:schemeClr>
                </a:solidFill>
              </a:defRPr>
            </a:lvl1pPr>
          </a:lstStyle>
          <a:p>
            <a:pPr>
              <a:defRPr/>
            </a:pPr>
            <a:fld id="{B6F15528-21DE-4FAA-801E-634DDDAF4B2B}" type="slidenum">
              <a:rPr lang="de-DE"/>
              <a:t>‹#›</a:t>
            </a:fld>
            <a:endParaRPr lang="de-DE"/>
          </a:p>
        </p:txBody>
      </p:sp>
      <p:pic>
        <p:nvPicPr>
          <p:cNvPr id="3" name="Grafik 2"/>
          <p:cNvPicPr>
            <a:picLocks noChangeAspect="1"/>
          </p:cNvPicPr>
          <p:nvPr userDrawn="1"/>
        </p:nvPicPr>
        <p:blipFill>
          <a:blip r:embed="rId9">
            <a:extLst>
              <a:ext uri="{96DAC541-7B7A-43D3-8B79-37D633B846F1}">
                <asvg:svgBlip xmlns:asvg="http://schemas.microsoft.com/office/drawing/2016/SVG/main" r:embed="rId10"/>
              </a:ext>
            </a:extLst>
          </a:blip>
          <a:stretch/>
        </p:blipFill>
        <p:spPr bwMode="auto">
          <a:xfrm>
            <a:off x="5414" y="2746"/>
            <a:ext cx="12181172" cy="6857999"/>
          </a:xfrm>
          <a:prstGeom prst="rect">
            <a:avLst/>
          </a:prstGeom>
        </p:spPr>
      </p:pic>
      <p:sp>
        <p:nvSpPr>
          <p:cNvPr id="5" name="Rechteck 4"/>
          <p:cNvSpPr/>
          <p:nvPr userDrawn="1"/>
        </p:nvSpPr>
        <p:spPr bwMode="auto">
          <a:xfrm>
            <a:off x="9950738" y="97144"/>
            <a:ext cx="1632181" cy="768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2400"/>
          </a:p>
        </p:txBody>
      </p:sp>
      <p:sp>
        <p:nvSpPr>
          <p:cNvPr id="2" name="Titelplatzhalter 1"/>
          <p:cNvSpPr>
            <a:spLocks noGrp="1"/>
          </p:cNvSpPr>
          <p:nvPr>
            <p:ph type="title"/>
          </p:nvPr>
        </p:nvSpPr>
        <p:spPr bwMode="auto">
          <a:xfrm>
            <a:off x="143339" y="723330"/>
            <a:ext cx="11713301" cy="1325033"/>
          </a:xfrm>
          <a:prstGeom prst="rect">
            <a:avLst/>
          </a:prstGeom>
        </p:spPr>
        <p:txBody>
          <a:bodyPr vert="horz" lIns="91440" tIns="45720" rIns="91440" bIns="45720" rtlCol="0" anchor="ctr">
            <a:normAutofit/>
          </a:bodyPr>
          <a:lstStyle/>
          <a:p>
            <a:pPr>
              <a:defRPr/>
            </a:pPr>
            <a:endParaRPr lang="de-DE" dirty="0"/>
          </a:p>
        </p:txBody>
      </p:sp>
      <p:pic>
        <p:nvPicPr>
          <p:cNvPr id="16" name="Grafik 15"/>
          <p:cNvPicPr>
            <a:picLocks noChangeAspect="1"/>
          </p:cNvPicPr>
          <p:nvPr userDrawn="1"/>
        </p:nvPicPr>
        <p:blipFill>
          <a:blip r:embed="rId11">
            <a:extLst>
              <a:ext uri="{96DAC541-7B7A-43D3-8B79-37D633B846F1}">
                <asvg:svgBlip xmlns:asvg="http://schemas.microsoft.com/office/drawing/2016/SVG/main" r:embed="rId12"/>
              </a:ext>
            </a:extLst>
          </a:blip>
          <a:stretch/>
        </p:blipFill>
        <p:spPr bwMode="auto">
          <a:xfrm>
            <a:off x="10625037" y="-15010"/>
            <a:ext cx="1031200" cy="1017684"/>
          </a:xfrm>
          <a:prstGeom prst="rect">
            <a:avLst/>
          </a:prstGeom>
        </p:spPr>
      </p:pic>
    </p:spTree>
    <p:extLst>
      <p:ext uri="{BB962C8B-B14F-4D97-AF65-F5344CB8AC3E}">
        <p14:creationId xmlns:p14="http://schemas.microsoft.com/office/powerpoint/2010/main" val="3922917524"/>
      </p:ext>
    </p:extLst>
  </p:cSld>
  <p:clrMap bg1="lt1" tx1="dk1" bg2="lt2" tx2="dk2" accent1="accent1" accent2="accent2" accent3="accent3" accent4="accent4" accent5="accent5" accent6="accent6" hlink="hlink" folHlink="folHlink"/>
  <p:sldLayoutIdLst>
    <p:sldLayoutId id="2147483666" r:id="rId1"/>
    <p:sldLayoutId id="2147483665" r:id="rId2"/>
    <p:sldLayoutId id="2147483661" r:id="rId3"/>
    <p:sldLayoutId id="2147483667" r:id="rId4"/>
  </p:sldLayoutIdLst>
  <p:hf hdr="0"/>
  <p:txStyles>
    <p:titleStyle>
      <a:lvl1pPr>
        <a:defRPr sz="2800" b="1" i="0" cap="all" baseline="0">
          <a:solidFill>
            <a:srgbClr val="005F9C"/>
          </a:solidFill>
          <a:latin typeface="Arial Black" panose="020B0604020202020204" pitchFamily="34" charset="0"/>
          <a:ea typeface="+mj-ea"/>
          <a:cs typeface="Arial Black"/>
        </a:defRPr>
      </a:lvl1pPr>
    </p:titleStyle>
    <p:bodyStyle>
      <a:lvl1pPr marL="0">
        <a:defRPr sz="1067">
          <a:latin typeface="Arial"/>
          <a:ea typeface="+mn-ea"/>
          <a:cs typeface="Arial"/>
        </a:defRPr>
      </a:lvl1pPr>
      <a:lvl2pPr marL="382636">
        <a:defRPr>
          <a:latin typeface="+mn-lt"/>
          <a:ea typeface="+mn-ea"/>
          <a:cs typeface="+mn-cs"/>
        </a:defRPr>
      </a:lvl2pPr>
      <a:lvl3pPr marL="765273">
        <a:defRPr>
          <a:latin typeface="+mn-lt"/>
          <a:ea typeface="+mn-ea"/>
          <a:cs typeface="+mn-cs"/>
        </a:defRPr>
      </a:lvl3pPr>
      <a:lvl4pPr marL="1147909">
        <a:defRPr>
          <a:latin typeface="+mn-lt"/>
          <a:ea typeface="+mn-ea"/>
          <a:cs typeface="+mn-cs"/>
        </a:defRPr>
      </a:lvl4pPr>
      <a:lvl5pPr marL="1530546">
        <a:defRPr>
          <a:latin typeface="+mn-lt"/>
          <a:ea typeface="+mn-ea"/>
          <a:cs typeface="+mn-cs"/>
        </a:defRPr>
      </a:lvl5pPr>
      <a:lvl6pPr marL="1913182">
        <a:defRPr>
          <a:latin typeface="+mn-lt"/>
          <a:ea typeface="+mn-ea"/>
          <a:cs typeface="+mn-cs"/>
        </a:defRPr>
      </a:lvl6pPr>
      <a:lvl7pPr marL="2295819">
        <a:defRPr>
          <a:latin typeface="+mn-lt"/>
          <a:ea typeface="+mn-ea"/>
          <a:cs typeface="+mn-cs"/>
        </a:defRPr>
      </a:lvl7pPr>
      <a:lvl8pPr marL="2678454">
        <a:defRPr>
          <a:latin typeface="+mn-lt"/>
          <a:ea typeface="+mn-ea"/>
          <a:cs typeface="+mn-cs"/>
        </a:defRPr>
      </a:lvl8pPr>
      <a:lvl9pPr marL="3061091">
        <a:defRPr>
          <a:latin typeface="+mn-lt"/>
          <a:ea typeface="+mn-ea"/>
          <a:cs typeface="+mn-cs"/>
        </a:defRPr>
      </a:lvl9pPr>
    </p:bodyStyle>
    <p:otherStyle>
      <a:lvl1pPr marL="0">
        <a:defRPr>
          <a:latin typeface="+mn-lt"/>
          <a:ea typeface="+mn-ea"/>
          <a:cs typeface="+mn-cs"/>
        </a:defRPr>
      </a:lvl1pPr>
      <a:lvl2pPr marL="382636">
        <a:defRPr>
          <a:latin typeface="+mn-lt"/>
          <a:ea typeface="+mn-ea"/>
          <a:cs typeface="+mn-cs"/>
        </a:defRPr>
      </a:lvl2pPr>
      <a:lvl3pPr marL="765273">
        <a:defRPr>
          <a:latin typeface="+mn-lt"/>
          <a:ea typeface="+mn-ea"/>
          <a:cs typeface="+mn-cs"/>
        </a:defRPr>
      </a:lvl3pPr>
      <a:lvl4pPr marL="1147909">
        <a:defRPr>
          <a:latin typeface="+mn-lt"/>
          <a:ea typeface="+mn-ea"/>
          <a:cs typeface="+mn-cs"/>
        </a:defRPr>
      </a:lvl4pPr>
      <a:lvl5pPr marL="1530546">
        <a:defRPr>
          <a:latin typeface="+mn-lt"/>
          <a:ea typeface="+mn-ea"/>
          <a:cs typeface="+mn-cs"/>
        </a:defRPr>
      </a:lvl5pPr>
      <a:lvl6pPr marL="1913182">
        <a:defRPr>
          <a:latin typeface="+mn-lt"/>
          <a:ea typeface="+mn-ea"/>
          <a:cs typeface="+mn-cs"/>
        </a:defRPr>
      </a:lvl6pPr>
      <a:lvl7pPr marL="2295819">
        <a:defRPr>
          <a:latin typeface="+mn-lt"/>
          <a:ea typeface="+mn-ea"/>
          <a:cs typeface="+mn-cs"/>
        </a:defRPr>
      </a:lvl7pPr>
      <a:lvl8pPr marL="2678454">
        <a:defRPr>
          <a:latin typeface="+mn-lt"/>
          <a:ea typeface="+mn-ea"/>
          <a:cs typeface="+mn-cs"/>
        </a:defRPr>
      </a:lvl8pPr>
      <a:lvl9pPr marL="3061091">
        <a:defRPr>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alphaModFix amt="32000"/>
            <a:lum/>
          </a:blip>
          <a:srcRect t="-11382" b="7317"/>
          <a:stretch>
            <a:fillRect t="3000"/>
          </a:stretch>
        </a:blipFill>
        <a:effectLst/>
      </p:bgPr>
    </p:bg>
    <p:spTree>
      <p:nvGrpSpPr>
        <p:cNvPr id="1" name=""/>
        <p:cNvGrpSpPr/>
        <p:nvPr/>
      </p:nvGrpSpPr>
      <p:grpSpPr bwMode="auto">
        <a:xfrm>
          <a:off x="0" y="0"/>
          <a:ext cx="0" cy="0"/>
          <a:chOff x="0" y="0"/>
          <a:chExt cx="0" cy="0"/>
        </a:xfrm>
      </p:grpSpPr>
      <p:sp>
        <p:nvSpPr>
          <p:cNvPr id="2" name="Titel 1"/>
          <p:cNvSpPr>
            <a:spLocks noGrp="1"/>
          </p:cNvSpPr>
          <p:nvPr>
            <p:ph type="title" idx="4294967295"/>
          </p:nvPr>
        </p:nvSpPr>
        <p:spPr bwMode="auto">
          <a:xfrm>
            <a:off x="979170" y="2277538"/>
            <a:ext cx="7715251" cy="779700"/>
          </a:xfrm>
        </p:spPr>
        <p:txBody>
          <a:bodyPr>
            <a:noAutofit/>
          </a:bodyPr>
          <a:lstStyle/>
          <a:p>
            <a:pPr>
              <a:defRPr/>
            </a:pPr>
            <a:r>
              <a:rPr lang="de-DE" dirty="0"/>
              <a:t>Grundlagen der Digitalisierung Und digitalen Transformation</a:t>
            </a:r>
            <a:endParaRPr dirty="0"/>
          </a:p>
        </p:txBody>
      </p:sp>
      <p:sp>
        <p:nvSpPr>
          <p:cNvPr id="3" name="Textplatzhalter 2"/>
          <p:cNvSpPr>
            <a:spLocks noGrp="1"/>
          </p:cNvSpPr>
          <p:nvPr>
            <p:ph type="body" idx="4294967295"/>
          </p:nvPr>
        </p:nvSpPr>
        <p:spPr bwMode="auto">
          <a:xfrm>
            <a:off x="979171" y="4533907"/>
            <a:ext cx="7715251" cy="307776"/>
          </a:xfrm>
          <a:prstGeom prst="rect">
            <a:avLst/>
          </a:prstGeom>
        </p:spPr>
        <p:txBody>
          <a:bodyPr>
            <a:noAutofit/>
          </a:bodyPr>
          <a:lstStyle/>
          <a:p>
            <a:pPr>
              <a:defRPr/>
            </a:pPr>
            <a:r>
              <a:rPr lang="de-DE" sz="3200" b="1" dirty="0">
                <a:solidFill>
                  <a:schemeClr val="tx1"/>
                </a:solidFill>
                <a:latin typeface="Arial Black"/>
                <a:cs typeface="Arial Black"/>
              </a:rPr>
              <a:t>Challenge 1</a:t>
            </a:r>
          </a:p>
        </p:txBody>
      </p:sp>
      <p:sp>
        <p:nvSpPr>
          <p:cNvPr id="4" name="Untertitel 3"/>
          <p:cNvSpPr>
            <a:spLocks noGrp="1"/>
          </p:cNvSpPr>
          <p:nvPr>
            <p:ph type="subTitle" idx="4294967295"/>
          </p:nvPr>
        </p:nvSpPr>
        <p:spPr bwMode="auto">
          <a:xfrm>
            <a:off x="979170" y="5099401"/>
            <a:ext cx="8534400" cy="369332"/>
          </a:xfrm>
          <a:prstGeom prst="rect">
            <a:avLst/>
          </a:prstGeom>
        </p:spPr>
        <p:txBody>
          <a:bodyPr>
            <a:normAutofit/>
          </a:bodyPr>
          <a:lstStyle/>
          <a:p>
            <a:pPr algn="l">
              <a:defRPr/>
            </a:pPr>
            <a:r>
              <a:rPr lang="de-DE" sz="1800" b="1" dirty="0">
                <a:effectLst/>
                <a:latin typeface="Arial" panose="020B0604020202020204" pitchFamily="34" charset="0"/>
                <a:ea typeface="Times New Roman" panose="02020603050405020304" pitchFamily="18" charset="0"/>
                <a:cs typeface="Times New Roman" panose="02020603050405020304" pitchFamily="18" charset="0"/>
              </a:rPr>
              <a:t>Prozessmodellierung – Prozesse verstehen und verbessern</a:t>
            </a: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a:defRPr/>
            </a:pPr>
            <a:endParaRPr dirty="0"/>
          </a:p>
        </p:txBody>
      </p:sp>
      <p:sp>
        <p:nvSpPr>
          <p:cNvPr id="5" name="Datumsplatzhalter 4"/>
          <p:cNvSpPr>
            <a:spLocks noGrp="1"/>
          </p:cNvSpPr>
          <p:nvPr>
            <p:ph type="dt" sz="half" idx="2"/>
          </p:nvPr>
        </p:nvSpPr>
        <p:spPr bwMode="auto"/>
        <p:txBody>
          <a:bodyPr/>
          <a:lstStyle/>
          <a:p>
            <a:pPr defTabSz="382636">
              <a:defRPr/>
            </a:pPr>
            <a:fld id="{14A53A0E-0CD9-9840-AD2A-654691C1B006}" type="datetime1">
              <a:rPr lang="de-DE" kern="0">
                <a:solidFill>
                  <a:prstClr val="black"/>
                </a:solidFill>
                <a:latin typeface="Calibri"/>
                <a:ea typeface="Arial"/>
                <a:cs typeface="Arial"/>
              </a:rPr>
              <a:pPr defTabSz="382636">
                <a:defRPr/>
              </a:pPr>
              <a:t>12.01.26</a:t>
            </a:fld>
            <a:endParaRPr lang="en-US" kern="0">
              <a:solidFill>
                <a:prstClr val="black"/>
              </a:solidFill>
              <a:latin typeface="Calibri"/>
              <a:ea typeface="Arial"/>
              <a:cs typeface="Arial"/>
            </a:endParaRPr>
          </a:p>
        </p:txBody>
      </p:sp>
      <p:sp>
        <p:nvSpPr>
          <p:cNvPr id="6" name="Fußzeilenplatzhalter 5"/>
          <p:cNvSpPr>
            <a:spLocks noGrp="1"/>
          </p:cNvSpPr>
          <p:nvPr>
            <p:ph type="ftr" sz="quarter" idx="3"/>
          </p:nvPr>
        </p:nvSpPr>
        <p:spPr bwMode="auto"/>
        <p:txBody>
          <a:bodyPr/>
          <a:lstStyle/>
          <a:p>
            <a:pPr defTabSz="382636">
              <a:defRPr/>
            </a:pPr>
            <a:r>
              <a:rPr lang="de-DE" kern="0">
                <a:solidFill>
                  <a:prstClr val="black"/>
                </a:solidFill>
                <a:latin typeface="Calibri"/>
                <a:ea typeface="Arial"/>
                <a:cs typeface="Arial"/>
              </a:rPr>
              <a:t>Fachbereich Wirtschaftswissenschaften -  Prof. Dr. Martin Adam </a:t>
            </a:r>
            <a:br>
              <a:rPr lang="de-DE" kern="0">
                <a:solidFill>
                  <a:prstClr val="black"/>
                </a:solidFill>
                <a:latin typeface="Calibri"/>
                <a:ea typeface="Arial"/>
                <a:cs typeface="Arial"/>
              </a:rPr>
            </a:br>
            <a:endParaRPr kern="0">
              <a:solidFill>
                <a:prstClr val="black"/>
              </a:solidFill>
              <a:latin typeface="Calibri"/>
              <a:cs typeface="Arial"/>
            </a:endParaRPr>
          </a:p>
        </p:txBody>
      </p:sp>
      <p:sp>
        <p:nvSpPr>
          <p:cNvPr id="7" name="Foliennummernplatzhalter 6"/>
          <p:cNvSpPr>
            <a:spLocks noGrp="1"/>
          </p:cNvSpPr>
          <p:nvPr>
            <p:ph type="sldNum" sz="quarter" idx="10"/>
          </p:nvPr>
        </p:nvSpPr>
        <p:spPr bwMode="auto"/>
        <p:txBody>
          <a:bodyPr/>
          <a:lstStyle/>
          <a:p>
            <a:pPr defTabSz="382636">
              <a:defRPr/>
            </a:pPr>
            <a:fld id="{B6F15528-21DE-4FAA-801E-634DDDAF4B2B}" type="slidenum">
              <a:rPr lang="de-DE" kern="0">
                <a:solidFill>
                  <a:prstClr val="black"/>
                </a:solidFill>
                <a:latin typeface="Calibri"/>
                <a:ea typeface="Arial"/>
                <a:cs typeface="Arial"/>
              </a:rPr>
              <a:pPr defTabSz="382636">
                <a:defRPr/>
              </a:pPr>
              <a:t>1</a:t>
            </a:fld>
            <a:endParaRPr lang="de-DE" kern="0">
              <a:solidFill>
                <a:prstClr val="black"/>
              </a:solidFill>
              <a:latin typeface="Calibri"/>
              <a:ea typeface="Arial"/>
              <a:cs typeface="Arial"/>
            </a:endParaRPr>
          </a:p>
        </p:txBody>
      </p:sp>
      <p:pic>
        <p:nvPicPr>
          <p:cNvPr id="8" name="Grafik 7" descr="Ein Bild, das Entwurf, Schwarz, Schwarzweiß, Design enthält.&#10;&#10;KI-generierte Inhalte können fehlerhaft sein.">
            <a:extLst>
              <a:ext uri="{FF2B5EF4-FFF2-40B4-BE49-F238E27FC236}">
                <a16:creationId xmlns:a16="http://schemas.microsoft.com/office/drawing/2014/main" id="{D404A1F8-B0A6-4F4B-B339-0120A7506EEF}"/>
              </a:ext>
            </a:extLst>
          </p:cNvPr>
          <p:cNvPicPr>
            <a:picLocks noChangeAspect="1"/>
          </p:cNvPicPr>
          <p:nvPr/>
        </p:nvPicPr>
        <p:blipFill>
          <a:blip r:embed="rId4"/>
          <a:stretch>
            <a:fillRect/>
          </a:stretch>
        </p:blipFill>
        <p:spPr bwMode="auto">
          <a:xfrm>
            <a:off x="8503138" y="3057238"/>
            <a:ext cx="1879111" cy="28186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22715A8-C202-4BA2-80DE-822277E0A850}"/>
              </a:ext>
            </a:extLst>
          </p:cNvPr>
          <p:cNvSpPr>
            <a:spLocks noGrp="1"/>
          </p:cNvSpPr>
          <p:nvPr>
            <p:ph type="body" idx="1"/>
          </p:nvPr>
        </p:nvSpPr>
        <p:spPr>
          <a:xfrm>
            <a:off x="211524" y="1888680"/>
            <a:ext cx="10885101" cy="562339"/>
          </a:xfrm>
        </p:spPr>
        <p:txBody>
          <a:bodyPr/>
          <a:lstStyle/>
          <a:p>
            <a:pPr>
              <a:lnSpc>
                <a:spcPct val="150000"/>
              </a:lnSpc>
            </a:pPr>
            <a:r>
              <a:rPr lang="en-GB" sz="2000" dirty="0"/>
              <a:t>Bitte </a:t>
            </a:r>
            <a:r>
              <a:rPr lang="en-GB" sz="2000" dirty="0" err="1"/>
              <a:t>verwenden</a:t>
            </a:r>
            <a:r>
              <a:rPr lang="en-GB" sz="2000" dirty="0"/>
              <a:t> Sie dieses </a:t>
            </a:r>
            <a:r>
              <a:rPr lang="en-GB" sz="2000" dirty="0" err="1"/>
              <a:t>Dokument</a:t>
            </a:r>
            <a:r>
              <a:rPr lang="en-GB" sz="2000" dirty="0"/>
              <a:t> </a:t>
            </a:r>
            <a:r>
              <a:rPr lang="en-GB" sz="2000" dirty="0" err="1"/>
              <a:t>für</a:t>
            </a:r>
            <a:r>
              <a:rPr lang="en-GB" sz="2000" dirty="0"/>
              <a:t> die </a:t>
            </a:r>
            <a:r>
              <a:rPr lang="en-GB" sz="2000" dirty="0" err="1"/>
              <a:t>Bearbeitung</a:t>
            </a:r>
            <a:r>
              <a:rPr lang="en-GB" sz="2000" dirty="0"/>
              <a:t> der </a:t>
            </a:r>
            <a:r>
              <a:rPr lang="en-GB" sz="2000" dirty="0" err="1"/>
              <a:t>Aufgaben</a:t>
            </a:r>
            <a:r>
              <a:rPr lang="en-GB" sz="2000" dirty="0"/>
              <a:t>. </a:t>
            </a:r>
          </a:p>
          <a:p>
            <a:pPr>
              <a:lnSpc>
                <a:spcPct val="150000"/>
              </a:lnSpc>
            </a:pPr>
            <a:r>
              <a:rPr lang="en-GB" sz="2000" dirty="0" err="1"/>
              <a:t>Sollte</a:t>
            </a:r>
            <a:r>
              <a:rPr lang="en-GB" sz="2000" dirty="0"/>
              <a:t> der Platz auf den </a:t>
            </a:r>
            <a:r>
              <a:rPr lang="en-GB" sz="2000" dirty="0" err="1"/>
              <a:t>vorhandenen</a:t>
            </a:r>
            <a:r>
              <a:rPr lang="en-GB" sz="2000" dirty="0"/>
              <a:t> </a:t>
            </a:r>
            <a:r>
              <a:rPr lang="en-GB" sz="2000" dirty="0" err="1"/>
              <a:t>Folien</a:t>
            </a:r>
            <a:r>
              <a:rPr lang="en-GB" sz="2000" dirty="0"/>
              <a:t> </a:t>
            </a:r>
            <a:r>
              <a:rPr lang="en-GB" sz="2000" dirty="0" err="1"/>
              <a:t>nicht</a:t>
            </a:r>
            <a:r>
              <a:rPr lang="en-GB" sz="2000" dirty="0"/>
              <a:t> </a:t>
            </a:r>
            <a:r>
              <a:rPr lang="en-GB" sz="2000" dirty="0" err="1"/>
              <a:t>genügen</a:t>
            </a:r>
            <a:r>
              <a:rPr lang="en-GB" sz="2000" dirty="0"/>
              <a:t>, </a:t>
            </a:r>
            <a:r>
              <a:rPr lang="en-GB" sz="2000" dirty="0" err="1"/>
              <a:t>fügen</a:t>
            </a:r>
            <a:r>
              <a:rPr lang="en-GB" sz="2000" dirty="0"/>
              <a:t> Sie </a:t>
            </a:r>
            <a:r>
              <a:rPr lang="en-GB" sz="2000" dirty="0" err="1"/>
              <a:t>gern</a:t>
            </a:r>
            <a:r>
              <a:rPr lang="en-GB" sz="2000" dirty="0"/>
              <a:t> </a:t>
            </a:r>
            <a:r>
              <a:rPr lang="en-GB" sz="2000" dirty="0" err="1"/>
              <a:t>weitere</a:t>
            </a:r>
            <a:r>
              <a:rPr lang="en-GB" sz="2000" dirty="0"/>
              <a:t> </a:t>
            </a:r>
            <a:r>
              <a:rPr lang="en-GB" sz="2000" dirty="0" err="1"/>
              <a:t>Folien</a:t>
            </a:r>
            <a:r>
              <a:rPr lang="en-GB" sz="2000" dirty="0"/>
              <a:t> </a:t>
            </a:r>
            <a:r>
              <a:rPr lang="en-GB" sz="2000" dirty="0" err="1"/>
              <a:t>ein</a:t>
            </a:r>
            <a:r>
              <a:rPr lang="en-GB" sz="2000" dirty="0"/>
              <a:t>. </a:t>
            </a:r>
            <a:r>
              <a:rPr lang="en-GB" sz="2000" dirty="0" err="1"/>
              <a:t>Nutzen</a:t>
            </a:r>
            <a:r>
              <a:rPr lang="en-GB" sz="2000" dirty="0"/>
              <a:t> Sie </a:t>
            </a:r>
            <a:r>
              <a:rPr lang="en-GB" sz="2000" dirty="0" err="1"/>
              <a:t>für</a:t>
            </a:r>
            <a:r>
              <a:rPr lang="en-GB" sz="2000" dirty="0"/>
              <a:t> die </a:t>
            </a:r>
            <a:r>
              <a:rPr lang="en-GB" sz="2000" dirty="0" err="1"/>
              <a:t>Modellierungsaufgaben</a:t>
            </a:r>
            <a:r>
              <a:rPr lang="en-GB" sz="2000" dirty="0"/>
              <a:t>, die </a:t>
            </a:r>
            <a:r>
              <a:rPr lang="en-GB" sz="2000" dirty="0" err="1"/>
              <a:t>dafür</a:t>
            </a:r>
            <a:r>
              <a:rPr lang="en-GB" sz="2000" dirty="0"/>
              <a:t> </a:t>
            </a:r>
            <a:r>
              <a:rPr lang="en-GB" sz="2000" dirty="0" err="1"/>
              <a:t>bereitgestellten</a:t>
            </a:r>
            <a:r>
              <a:rPr lang="en-GB" sz="2000" dirty="0"/>
              <a:t> </a:t>
            </a:r>
            <a:r>
              <a:rPr lang="en-GB" sz="2000" dirty="0" err="1"/>
              <a:t>Folien</a:t>
            </a:r>
            <a:r>
              <a:rPr lang="en-GB" sz="2000" dirty="0"/>
              <a:t> </a:t>
            </a:r>
            <a:r>
              <a:rPr lang="en-GB" sz="2000" dirty="0" err="1"/>
              <a:t>nach</a:t>
            </a:r>
            <a:r>
              <a:rPr lang="en-GB" sz="2000" dirty="0"/>
              <a:t> den </a:t>
            </a:r>
            <a:r>
              <a:rPr lang="en-GB" sz="2000" dirty="0" err="1"/>
              <a:t>Aufgaben</a:t>
            </a:r>
            <a:r>
              <a:rPr lang="en-GB" sz="2000" dirty="0"/>
              <a:t>. </a:t>
            </a:r>
          </a:p>
        </p:txBody>
      </p:sp>
      <p:sp>
        <p:nvSpPr>
          <p:cNvPr id="3" name="Fußzeilenplatzhalter 2">
            <a:extLst>
              <a:ext uri="{FF2B5EF4-FFF2-40B4-BE49-F238E27FC236}">
                <a16:creationId xmlns:a16="http://schemas.microsoft.com/office/drawing/2014/main" id="{23735665-9F89-413F-97F1-A8BAA2C8EC10}"/>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11926317-6728-484C-B7B7-4B4E897CDD1F}"/>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DBBECA6C-A332-49A6-8B4E-6F67BC3510B0}"/>
              </a:ext>
            </a:extLst>
          </p:cNvPr>
          <p:cNvSpPr>
            <a:spLocks noGrp="1"/>
          </p:cNvSpPr>
          <p:nvPr>
            <p:ph type="sldNum" sz="quarter" idx="4"/>
          </p:nvPr>
        </p:nvSpPr>
        <p:spPr/>
        <p:txBody>
          <a:bodyPr/>
          <a:lstStyle/>
          <a:p>
            <a:pPr>
              <a:defRPr/>
            </a:pPr>
            <a:fld id="{B6F15528-21DE-4FAA-801E-634DDDAF4B2B}" type="slidenum">
              <a:rPr lang="de-DE" smtClean="0"/>
              <a:t>2</a:t>
            </a:fld>
            <a:endParaRPr lang="de-DE"/>
          </a:p>
        </p:txBody>
      </p:sp>
      <p:sp>
        <p:nvSpPr>
          <p:cNvPr id="6" name="Inhaltsplatzhalter 5">
            <a:extLst>
              <a:ext uri="{FF2B5EF4-FFF2-40B4-BE49-F238E27FC236}">
                <a16:creationId xmlns:a16="http://schemas.microsoft.com/office/drawing/2014/main" id="{EB4185C9-E3D7-4F6E-9C07-286A1751E45C}"/>
              </a:ext>
            </a:extLst>
          </p:cNvPr>
          <p:cNvSpPr>
            <a:spLocks noGrp="1"/>
          </p:cNvSpPr>
          <p:nvPr>
            <p:ph sz="quarter" idx="11"/>
          </p:nvPr>
        </p:nvSpPr>
        <p:spPr/>
        <p:txBody>
          <a:bodyPr/>
          <a:lstStyle/>
          <a:p>
            <a:endParaRPr lang="en-GB"/>
          </a:p>
        </p:txBody>
      </p:sp>
      <p:sp>
        <p:nvSpPr>
          <p:cNvPr id="7" name="Titel 6">
            <a:extLst>
              <a:ext uri="{FF2B5EF4-FFF2-40B4-BE49-F238E27FC236}">
                <a16:creationId xmlns:a16="http://schemas.microsoft.com/office/drawing/2014/main" id="{34298CD1-A267-4491-97E5-8A686D7FBB86}"/>
              </a:ext>
            </a:extLst>
          </p:cNvPr>
          <p:cNvSpPr>
            <a:spLocks noGrp="1"/>
          </p:cNvSpPr>
          <p:nvPr>
            <p:ph type="title"/>
          </p:nvPr>
        </p:nvSpPr>
        <p:spPr/>
        <p:txBody>
          <a:bodyPr/>
          <a:lstStyle/>
          <a:p>
            <a:r>
              <a:rPr lang="en-GB" dirty="0" err="1"/>
              <a:t>Bearbeitungshinweis</a:t>
            </a:r>
            <a:endParaRPr lang="en-GB" dirty="0"/>
          </a:p>
        </p:txBody>
      </p:sp>
    </p:spTree>
    <p:extLst>
      <p:ext uri="{BB962C8B-B14F-4D97-AF65-F5344CB8AC3E}">
        <p14:creationId xmlns:p14="http://schemas.microsoft.com/office/powerpoint/2010/main" val="316816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DD3DB-42D7-4D64-B445-1CA380B8D48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45E0C437-3016-4CE4-A4C8-63710D2C6516}"/>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562EF406-C45A-41CE-B801-BB0129EE2629}"/>
              </a:ext>
            </a:extLst>
          </p:cNvPr>
          <p:cNvSpPr>
            <a:spLocks noGrp="1"/>
          </p:cNvSpPr>
          <p:nvPr>
            <p:ph type="sldNum" sz="quarter" idx="4"/>
          </p:nvPr>
        </p:nvSpPr>
        <p:spPr/>
        <p:txBody>
          <a:bodyPr/>
          <a:lstStyle/>
          <a:p>
            <a:pPr>
              <a:defRPr/>
            </a:pPr>
            <a:fld id="{B6F15528-21DE-4FAA-801E-634DDDAF4B2B}" type="slidenum">
              <a:rPr lang="de-DE" smtClean="0"/>
              <a:t>3</a:t>
            </a:fld>
            <a:endParaRPr lang="de-DE"/>
          </a:p>
        </p:txBody>
      </p:sp>
      <p:sp>
        <p:nvSpPr>
          <p:cNvPr id="7" name="Titel 6">
            <a:extLst>
              <a:ext uri="{FF2B5EF4-FFF2-40B4-BE49-F238E27FC236}">
                <a16:creationId xmlns:a16="http://schemas.microsoft.com/office/drawing/2014/main" id="{6110CB1A-79EA-43E4-B07E-257B21EBAC6E}"/>
              </a:ext>
            </a:extLst>
          </p:cNvPr>
          <p:cNvSpPr>
            <a:spLocks noGrp="1"/>
          </p:cNvSpPr>
          <p:nvPr>
            <p:ph type="title"/>
          </p:nvPr>
        </p:nvSpPr>
        <p:spPr>
          <a:xfrm>
            <a:off x="151155" y="535760"/>
            <a:ext cx="10515600" cy="1325033"/>
          </a:xfrm>
        </p:spPr>
        <p:txBody>
          <a:bodyPr/>
          <a:lstStyle/>
          <a:p>
            <a:r>
              <a:rPr lang="en-GB" dirty="0"/>
              <a:t>Aufgabe 1a</a:t>
            </a:r>
          </a:p>
        </p:txBody>
      </p:sp>
      <p:sp>
        <p:nvSpPr>
          <p:cNvPr id="10" name="Textfeld 9">
            <a:extLst>
              <a:ext uri="{FF2B5EF4-FFF2-40B4-BE49-F238E27FC236}">
                <a16:creationId xmlns:a16="http://schemas.microsoft.com/office/drawing/2014/main" id="{9CF93455-E584-4E90-9C1F-F02601CF11D3}"/>
              </a:ext>
            </a:extLst>
          </p:cNvPr>
          <p:cNvSpPr txBox="1"/>
          <p:nvPr/>
        </p:nvSpPr>
        <p:spPr>
          <a:xfrm>
            <a:off x="342369" y="1351103"/>
            <a:ext cx="11286921" cy="2523768"/>
          </a:xfrm>
          <a:prstGeom prst="rect">
            <a:avLst/>
          </a:prstGeom>
          <a:noFill/>
        </p:spPr>
        <p:txBody>
          <a:bodyPr wrap="square" rtlCol="0">
            <a:spAutoFit/>
          </a:bodyPr>
          <a:lstStyle/>
          <a:p>
            <a:pPr algn="just">
              <a:spcAft>
                <a:spcPts val="400"/>
              </a:spcAft>
            </a:pPr>
            <a:r>
              <a:rPr lang="de-DE" sz="1800" dirty="0">
                <a:effectLst/>
                <a:latin typeface="Arial" panose="020B0604020202020204" pitchFamily="34" charset="0"/>
                <a:ea typeface="Times New Roman" panose="02020603050405020304" pitchFamily="18" charset="0"/>
                <a:cs typeface="Times New Roman" panose="02020603050405020304" pitchFamily="18" charset="0"/>
              </a:rPr>
              <a:t>Wählen Sie einen alltäglichen Prozess oder Ablauf Ihres eigenen Lebens und stellen Sie diesen mithilfe der Business </a:t>
            </a:r>
            <a:r>
              <a:rPr lang="de-DE" sz="1800" dirty="0" err="1">
                <a:effectLst/>
                <a:latin typeface="Arial" panose="020B0604020202020204" pitchFamily="34" charset="0"/>
                <a:ea typeface="Times New Roman" panose="02020603050405020304" pitchFamily="18" charset="0"/>
                <a:cs typeface="Times New Roman" panose="02020603050405020304" pitchFamily="18" charset="0"/>
              </a:rPr>
              <a:t>Process</a:t>
            </a:r>
            <a:r>
              <a:rPr lang="de-DE" sz="1800" dirty="0">
                <a:effectLst/>
                <a:latin typeface="Arial" panose="020B0604020202020204" pitchFamily="34" charset="0"/>
                <a:ea typeface="Times New Roman" panose="02020603050405020304" pitchFamily="18" charset="0"/>
                <a:cs typeface="Times New Roman" panose="02020603050405020304" pitchFamily="18" charset="0"/>
              </a:rPr>
              <a:t> Management Notation (BPMN) dar. Sie können folgende Beispiele als Inspiration nutzen:</a:t>
            </a:r>
          </a:p>
          <a:p>
            <a:pPr algn="just">
              <a:spcAft>
                <a:spcPts val="400"/>
              </a:spcAft>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Beschreiben Sie Ihre Morgenroutine (vom Aufstehen bis zur ersten Vorlesung)</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Stellen Sie einen Teil einer Trainingseinheit in ihrem Sportverein dar</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Modellieren Sie die Ausführung eines Ihrer Hobbies (z.B. Zeichnen, Wandern, Musizieren, …)</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 </a:t>
            </a:r>
            <a:endParaRPr lang="de-DE" dirty="0">
              <a:latin typeface="Arial" panose="020B0604020202020204" pitchFamily="34" charset="0"/>
              <a:ea typeface="Times New Roman" panose="02020603050405020304" pitchFamily="18" charset="0"/>
              <a:cs typeface="Times New Roman" panose="02020603050405020304" pitchFamily="18" charset="0"/>
            </a:endParaRPr>
          </a:p>
          <a:p>
            <a:pPr lvl="0" algn="just">
              <a:spcAft>
                <a:spcPts val="400"/>
              </a:spcAft>
            </a:pPr>
            <a:r>
              <a:rPr lang="de-DE" sz="1400" dirty="0">
                <a:latin typeface="Arial" panose="020B0604020202020204" pitchFamily="34" charset="0"/>
                <a:ea typeface="Times New Roman" panose="02020603050405020304" pitchFamily="18" charset="0"/>
                <a:cs typeface="Times New Roman" panose="02020603050405020304" pitchFamily="18" charset="0"/>
              </a:rPr>
              <a:t>Der von Ihnen modellierte Prozess sollte mindestens die folgenden Anzahlen von Elementen aufweisen: 2 </a:t>
            </a:r>
            <a:r>
              <a:rPr lang="de-DE" sz="1400" dirty="0" err="1">
                <a:latin typeface="Arial" panose="020B0604020202020204" pitchFamily="34" charset="0"/>
                <a:ea typeface="Times New Roman" panose="02020603050405020304" pitchFamily="18" charset="0"/>
                <a:cs typeface="Times New Roman" panose="02020603050405020304" pitchFamily="18" charset="0"/>
              </a:rPr>
              <a:t>Swimlanes</a:t>
            </a:r>
            <a:r>
              <a:rPr lang="de-DE" sz="1400" dirty="0">
                <a:latin typeface="Arial" panose="020B0604020202020204" pitchFamily="34" charset="0"/>
                <a:ea typeface="Times New Roman" panose="02020603050405020304" pitchFamily="18" charset="0"/>
                <a:cs typeface="Times New Roman" panose="02020603050405020304" pitchFamily="18" charset="0"/>
              </a:rPr>
              <a:t>, 2 Events, 2 Gateways und 5 Aktivitäten. Als Orientierung können Sie die präsentierte Abbildung verwenden.</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15" name="Grafik 14">
            <a:extLst>
              <a:ext uri="{FF2B5EF4-FFF2-40B4-BE49-F238E27FC236}">
                <a16:creationId xmlns:a16="http://schemas.microsoft.com/office/drawing/2014/main" id="{F26BB0C2-4A13-4720-9D6D-5EEA22AD9BE8}"/>
              </a:ext>
            </a:extLst>
          </p:cNvPr>
          <p:cNvPicPr>
            <a:picLocks noChangeAspect="1"/>
          </p:cNvPicPr>
          <p:nvPr/>
        </p:nvPicPr>
        <p:blipFill>
          <a:blip r:embed="rId2"/>
          <a:stretch>
            <a:fillRect/>
          </a:stretch>
        </p:blipFill>
        <p:spPr>
          <a:xfrm>
            <a:off x="1955311" y="3874871"/>
            <a:ext cx="8426938" cy="2436307"/>
          </a:xfrm>
          <a:prstGeom prst="rect">
            <a:avLst/>
          </a:prstGeom>
        </p:spPr>
      </p:pic>
    </p:spTree>
    <p:extLst>
      <p:ext uri="{BB962C8B-B14F-4D97-AF65-F5344CB8AC3E}">
        <p14:creationId xmlns:p14="http://schemas.microsoft.com/office/powerpoint/2010/main" val="975625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14"/>
          <p:cNvSpPr>
            <a:spLocks noChangeShapeType="1"/>
          </p:cNvSpPr>
          <p:nvPr/>
        </p:nvSpPr>
        <p:spPr bwMode="auto">
          <a:xfrm>
            <a:off x="427695" y="6370890"/>
            <a:ext cx="986940" cy="0"/>
          </a:xfrm>
          <a:prstGeom prst="line">
            <a:avLst/>
          </a:prstGeom>
          <a:noFill/>
          <a:ln w="9525">
            <a:solidFill>
              <a:schemeClr val="tx1"/>
            </a:solidFill>
            <a:round/>
            <a:headEnd/>
            <a:tailEnd type="triangle" w="lg" len="lg"/>
          </a:ln>
        </p:spPr>
        <p:txBody>
          <a:bodyPr wrap="none" anchor="ctr"/>
          <a:lstStyle/>
          <a:p>
            <a:pPr>
              <a:defRPr/>
            </a:pPr>
            <a:endParaRPr lang="de-DE">
              <a:latin typeface="+mj-lt"/>
            </a:endParaRPr>
          </a:p>
        </p:txBody>
      </p:sp>
      <p:cxnSp>
        <p:nvCxnSpPr>
          <p:cNvPr id="31" name="Gerader Verbinder 30"/>
          <p:cNvCxnSpPr/>
          <p:nvPr/>
        </p:nvCxnSpPr>
        <p:spPr>
          <a:xfrm>
            <a:off x="1781971" y="0"/>
            <a:ext cx="0" cy="6949440"/>
          </a:xfrm>
          <a:prstGeom prst="line">
            <a:avLst/>
          </a:prstGeom>
        </p:spPr>
        <p:style>
          <a:lnRef idx="1">
            <a:schemeClr val="dk1"/>
          </a:lnRef>
          <a:fillRef idx="0">
            <a:schemeClr val="dk1"/>
          </a:fillRef>
          <a:effectRef idx="0">
            <a:schemeClr val="dk1"/>
          </a:effectRef>
          <a:fontRef idx="minor">
            <a:schemeClr val="tx1"/>
          </a:fontRef>
        </p:style>
      </p:cxnSp>
      <p:sp>
        <p:nvSpPr>
          <p:cNvPr id="2" name="Rechteck 1"/>
          <p:cNvSpPr/>
          <p:nvPr/>
        </p:nvSpPr>
        <p:spPr>
          <a:xfrm>
            <a:off x="1633961" y="1060961"/>
            <a:ext cx="169302" cy="116097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de-DE" sz="1200" dirty="0">
                <a:solidFill>
                  <a:sysClr val="windowText" lastClr="000000"/>
                </a:solidFill>
              </a:rPr>
              <a:t>BPMN</a:t>
            </a:r>
          </a:p>
        </p:txBody>
      </p:sp>
      <p:grpSp>
        <p:nvGrpSpPr>
          <p:cNvPr id="3" name="Gruppieren 2">
            <a:extLst>
              <a:ext uri="{FF2B5EF4-FFF2-40B4-BE49-F238E27FC236}">
                <a16:creationId xmlns:a16="http://schemas.microsoft.com/office/drawing/2014/main" id="{60CD63D3-9B86-57D4-478D-CFD557B4E6F6}"/>
              </a:ext>
            </a:extLst>
          </p:cNvPr>
          <p:cNvGrpSpPr/>
          <p:nvPr/>
        </p:nvGrpSpPr>
        <p:grpSpPr>
          <a:xfrm>
            <a:off x="2062093" y="1299181"/>
            <a:ext cx="9873871" cy="4809789"/>
            <a:chOff x="6102170" y="3786884"/>
            <a:chExt cx="1774527" cy="514555"/>
          </a:xfrm>
        </p:grpSpPr>
        <p:sp>
          <p:nvSpPr>
            <p:cNvPr id="5" name="Rechteck 4">
              <a:extLst>
                <a:ext uri="{FF2B5EF4-FFF2-40B4-BE49-F238E27FC236}">
                  <a16:creationId xmlns:a16="http://schemas.microsoft.com/office/drawing/2014/main" id="{C45042B5-1950-0D9E-DB0B-A631F1DAD818}"/>
                </a:ext>
              </a:extLst>
            </p:cNvPr>
            <p:cNvSpPr/>
            <p:nvPr/>
          </p:nvSpPr>
          <p:spPr>
            <a:xfrm>
              <a:off x="6102170" y="3786884"/>
              <a:ext cx="1774527" cy="514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Gerader Verbinder 6">
              <a:extLst>
                <a:ext uri="{FF2B5EF4-FFF2-40B4-BE49-F238E27FC236}">
                  <a16:creationId xmlns:a16="http://schemas.microsoft.com/office/drawing/2014/main" id="{A687FA29-B755-64C5-6421-BE1F800CEADE}"/>
                </a:ext>
              </a:extLst>
            </p:cNvPr>
            <p:cNvCxnSpPr/>
            <p:nvPr/>
          </p:nvCxnSpPr>
          <p:spPr>
            <a:xfrm>
              <a:off x="6394703" y="3786884"/>
              <a:ext cx="0" cy="5145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18759960-C9C5-95BF-B666-F7A96A0AE385}"/>
                </a:ext>
              </a:extLst>
            </p:cNvPr>
            <p:cNvCxnSpPr>
              <a:cxnSpLocks/>
              <a:stCxn id="5" idx="3"/>
            </p:cNvCxnSpPr>
            <p:nvPr/>
          </p:nvCxnSpPr>
          <p:spPr>
            <a:xfrm flipH="1">
              <a:off x="6394703" y="4044162"/>
              <a:ext cx="14819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Line 14">
            <a:extLst>
              <a:ext uri="{FF2B5EF4-FFF2-40B4-BE49-F238E27FC236}">
                <a16:creationId xmlns:a16="http://schemas.microsoft.com/office/drawing/2014/main" id="{74212DD1-5F8C-21FB-8930-0ACD5D942BA2}"/>
              </a:ext>
            </a:extLst>
          </p:cNvPr>
          <p:cNvSpPr>
            <a:spLocks noChangeShapeType="1"/>
          </p:cNvSpPr>
          <p:nvPr/>
        </p:nvSpPr>
        <p:spPr bwMode="auto">
          <a:xfrm>
            <a:off x="427695" y="6776209"/>
            <a:ext cx="986940" cy="0"/>
          </a:xfrm>
          <a:prstGeom prst="line">
            <a:avLst/>
          </a:prstGeom>
          <a:noFill/>
          <a:ln w="9525">
            <a:solidFill>
              <a:schemeClr val="tx1"/>
            </a:solidFill>
            <a:prstDash val="lgDash"/>
            <a:round/>
            <a:headEnd/>
            <a:tailEnd type="triangle" w="lg" len="lg"/>
          </a:ln>
        </p:spPr>
        <p:txBody>
          <a:bodyPr wrap="none" anchor="ctr"/>
          <a:lstStyle/>
          <a:p>
            <a:pPr>
              <a:defRPr/>
            </a:pPr>
            <a:endParaRPr lang="de-DE">
              <a:latin typeface="+mj-lt"/>
            </a:endParaRPr>
          </a:p>
        </p:txBody>
      </p:sp>
      <p:sp>
        <p:nvSpPr>
          <p:cNvPr id="11" name="Abgerundetes Rechteck 2">
            <a:extLst>
              <a:ext uri="{FF2B5EF4-FFF2-40B4-BE49-F238E27FC236}">
                <a16:creationId xmlns:a16="http://schemas.microsoft.com/office/drawing/2014/main" id="{0C8385F3-96A2-CA2E-221A-DD08DFD13176}"/>
              </a:ext>
            </a:extLst>
          </p:cNvPr>
          <p:cNvSpPr/>
          <p:nvPr/>
        </p:nvSpPr>
        <p:spPr>
          <a:xfrm>
            <a:off x="467072" y="3582988"/>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1100" dirty="0">
              <a:solidFill>
                <a:schemeClr val="tx1"/>
              </a:solidFill>
            </a:endParaRPr>
          </a:p>
        </p:txBody>
      </p:sp>
      <p:grpSp>
        <p:nvGrpSpPr>
          <p:cNvPr id="16" name="Gruppieren 15">
            <a:extLst>
              <a:ext uri="{FF2B5EF4-FFF2-40B4-BE49-F238E27FC236}">
                <a16:creationId xmlns:a16="http://schemas.microsoft.com/office/drawing/2014/main" id="{EB63F19B-B8BF-287D-E83F-C2452417BF8A}"/>
              </a:ext>
            </a:extLst>
          </p:cNvPr>
          <p:cNvGrpSpPr/>
          <p:nvPr/>
        </p:nvGrpSpPr>
        <p:grpSpPr>
          <a:xfrm>
            <a:off x="457757" y="1299942"/>
            <a:ext cx="860368" cy="457200"/>
            <a:chOff x="406768" y="2270137"/>
            <a:chExt cx="860368" cy="457200"/>
          </a:xfrm>
        </p:grpSpPr>
        <p:sp>
          <p:nvSpPr>
            <p:cNvPr id="13" name="Abgerundetes Rechteck 2">
              <a:extLst>
                <a:ext uri="{FF2B5EF4-FFF2-40B4-BE49-F238E27FC236}">
                  <a16:creationId xmlns:a16="http://schemas.microsoft.com/office/drawing/2014/main" id="{8621CCC7-4738-FA6B-5E8D-1BC6994F7BD4}"/>
                </a:ext>
              </a:extLst>
            </p:cNvPr>
            <p:cNvSpPr/>
            <p:nvPr/>
          </p:nvSpPr>
          <p:spPr>
            <a:xfrm>
              <a:off x="406768" y="227013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1100" dirty="0">
                <a:solidFill>
                  <a:schemeClr val="tx1"/>
                </a:solidFill>
              </a:endParaRPr>
            </a:p>
          </p:txBody>
        </p:sp>
        <p:sp>
          <p:nvSpPr>
            <p:cNvPr id="14" name="Abgerundetes Rechteck 2">
              <a:extLst>
                <a:ext uri="{FF2B5EF4-FFF2-40B4-BE49-F238E27FC236}">
                  <a16:creationId xmlns:a16="http://schemas.microsoft.com/office/drawing/2014/main" id="{6F8F5DF1-0BBC-6C53-8BA3-8B4E4C508333}"/>
                </a:ext>
              </a:extLst>
            </p:cNvPr>
            <p:cNvSpPr/>
            <p:nvPr/>
          </p:nvSpPr>
          <p:spPr>
            <a:xfrm>
              <a:off x="436902" y="2298287"/>
              <a:ext cx="800099" cy="4009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1100" dirty="0">
                <a:solidFill>
                  <a:schemeClr val="tx1"/>
                </a:solidFill>
              </a:endParaRPr>
            </a:p>
          </p:txBody>
        </p:sp>
      </p:grpSp>
      <p:sp>
        <p:nvSpPr>
          <p:cNvPr id="18" name="Flussdiagramm: Verbinder 17">
            <a:extLst>
              <a:ext uri="{FF2B5EF4-FFF2-40B4-BE49-F238E27FC236}">
                <a16:creationId xmlns:a16="http://schemas.microsoft.com/office/drawing/2014/main" id="{DA81AFEA-27F1-2A03-05A2-DA7165FEA0C0}"/>
              </a:ext>
            </a:extLst>
          </p:cNvPr>
          <p:cNvSpPr/>
          <p:nvPr/>
        </p:nvSpPr>
        <p:spPr>
          <a:xfrm>
            <a:off x="4084619" y="4183801"/>
            <a:ext cx="356400" cy="356400"/>
          </a:xfrm>
          <a:prstGeom prst="flowChartConnector">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100" dirty="0">
              <a:solidFill>
                <a:schemeClr val="tx1"/>
              </a:solidFill>
              <a:latin typeface="+mn-ea"/>
            </a:endParaRPr>
          </a:p>
        </p:txBody>
      </p:sp>
      <p:sp>
        <p:nvSpPr>
          <p:cNvPr id="20" name="Flussdiagramm: Verbinder 19">
            <a:extLst>
              <a:ext uri="{FF2B5EF4-FFF2-40B4-BE49-F238E27FC236}">
                <a16:creationId xmlns:a16="http://schemas.microsoft.com/office/drawing/2014/main" id="{B0A14BDB-96D0-B767-A8FE-95BCB2716784}"/>
              </a:ext>
            </a:extLst>
          </p:cNvPr>
          <p:cNvSpPr/>
          <p:nvPr/>
        </p:nvSpPr>
        <p:spPr>
          <a:xfrm>
            <a:off x="1023871" y="2448089"/>
            <a:ext cx="356400" cy="356400"/>
          </a:xfrm>
          <a:prstGeom prst="flowChartConnector">
            <a:avLst/>
          </a:prstGeom>
          <a:no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21" name="Gruppieren 20">
            <a:extLst>
              <a:ext uri="{FF2B5EF4-FFF2-40B4-BE49-F238E27FC236}">
                <a16:creationId xmlns:a16="http://schemas.microsoft.com/office/drawing/2014/main" id="{48422434-ED2E-C647-B443-961B427CF24E}"/>
              </a:ext>
            </a:extLst>
          </p:cNvPr>
          <p:cNvGrpSpPr/>
          <p:nvPr/>
        </p:nvGrpSpPr>
        <p:grpSpPr>
          <a:xfrm>
            <a:off x="1018730" y="1865538"/>
            <a:ext cx="356400" cy="356400"/>
            <a:chOff x="6395750" y="810194"/>
            <a:chExt cx="225025" cy="225025"/>
          </a:xfrm>
        </p:grpSpPr>
        <p:sp>
          <p:nvSpPr>
            <p:cNvPr id="23" name="Flussdiagramm: Verbinder 22">
              <a:extLst>
                <a:ext uri="{FF2B5EF4-FFF2-40B4-BE49-F238E27FC236}">
                  <a16:creationId xmlns:a16="http://schemas.microsoft.com/office/drawing/2014/main" id="{5FD1082A-940E-D087-18A3-89CFB93F55AF}"/>
                </a:ext>
              </a:extLst>
            </p:cNvPr>
            <p:cNvSpPr/>
            <p:nvPr/>
          </p:nvSpPr>
          <p:spPr>
            <a:xfrm>
              <a:off x="6395750" y="810194"/>
              <a:ext cx="225025" cy="225025"/>
            </a:xfrm>
            <a:prstGeom prst="flowChartConnector">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4" name="Flussdiagramm: Verbinder 23">
              <a:extLst>
                <a:ext uri="{FF2B5EF4-FFF2-40B4-BE49-F238E27FC236}">
                  <a16:creationId xmlns:a16="http://schemas.microsoft.com/office/drawing/2014/main" id="{DB88D53C-370D-9FF3-7D8A-3601216DD56C}"/>
                </a:ext>
              </a:extLst>
            </p:cNvPr>
            <p:cNvSpPr/>
            <p:nvPr/>
          </p:nvSpPr>
          <p:spPr>
            <a:xfrm>
              <a:off x="6423732" y="839252"/>
              <a:ext cx="166932" cy="166907"/>
            </a:xfrm>
            <a:prstGeom prst="flowChartConnector">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35" name="Gruppieren 34">
            <a:extLst>
              <a:ext uri="{FF2B5EF4-FFF2-40B4-BE49-F238E27FC236}">
                <a16:creationId xmlns:a16="http://schemas.microsoft.com/office/drawing/2014/main" id="{6515E2E6-675A-475E-479A-537C56EDDFDE}"/>
              </a:ext>
            </a:extLst>
          </p:cNvPr>
          <p:cNvGrpSpPr/>
          <p:nvPr/>
        </p:nvGrpSpPr>
        <p:grpSpPr>
          <a:xfrm>
            <a:off x="1063049" y="3129216"/>
            <a:ext cx="259200" cy="259200"/>
            <a:chOff x="6442107" y="2878468"/>
            <a:chExt cx="168332" cy="169200"/>
          </a:xfrm>
        </p:grpSpPr>
        <p:sp>
          <p:nvSpPr>
            <p:cNvPr id="36" name="Freihandform: Form 35">
              <a:extLst>
                <a:ext uri="{FF2B5EF4-FFF2-40B4-BE49-F238E27FC236}">
                  <a16:creationId xmlns:a16="http://schemas.microsoft.com/office/drawing/2014/main" id="{DABFB313-9899-D44A-F1EF-9387CA956605}"/>
                </a:ext>
              </a:extLst>
            </p:cNvPr>
            <p:cNvSpPr/>
            <p:nvPr/>
          </p:nvSpPr>
          <p:spPr>
            <a:xfrm rot="2700331">
              <a:off x="6441673" y="2878902"/>
              <a:ext cx="169200" cy="168332"/>
            </a:xfrm>
            <a:custGeom>
              <a:avLst/>
              <a:gdLst>
                <a:gd name="connsiteX0" fmla="*/ 495300 w 495300"/>
                <a:gd name="connsiteY0" fmla="*/ 0 h 495300"/>
                <a:gd name="connsiteX1" fmla="*/ 0 w 495300"/>
                <a:gd name="connsiteY1" fmla="*/ 0 h 495300"/>
                <a:gd name="connsiteX2" fmla="*/ 0 w 495300"/>
                <a:gd name="connsiteY2" fmla="*/ 495300 h 495300"/>
                <a:gd name="connsiteX3" fmla="*/ 495300 w 495300"/>
                <a:gd name="connsiteY3" fmla="*/ 495300 h 495300"/>
                <a:gd name="connsiteX4" fmla="*/ 476250 w 495300"/>
                <a:gd name="connsiteY4" fmla="*/ 476250 h 495300"/>
                <a:gd name="connsiteX5" fmla="*/ 19050 w 495300"/>
                <a:gd name="connsiteY5" fmla="*/ 476250 h 495300"/>
                <a:gd name="connsiteX6" fmla="*/ 19050 w 495300"/>
                <a:gd name="connsiteY6" fmla="*/ 19050 h 495300"/>
                <a:gd name="connsiteX7" fmla="*/ 476250 w 495300"/>
                <a:gd name="connsiteY7" fmla="*/ 1905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300" h="495300">
                  <a:moveTo>
                    <a:pt x="495300" y="0"/>
                  </a:moveTo>
                  <a:lnTo>
                    <a:pt x="0" y="0"/>
                  </a:lnTo>
                  <a:lnTo>
                    <a:pt x="0" y="495300"/>
                  </a:lnTo>
                  <a:lnTo>
                    <a:pt x="495300" y="495300"/>
                  </a:lnTo>
                  <a:close/>
                  <a:moveTo>
                    <a:pt x="476250" y="476250"/>
                  </a:moveTo>
                  <a:lnTo>
                    <a:pt x="19050" y="476250"/>
                  </a:lnTo>
                  <a:lnTo>
                    <a:pt x="19050" y="19050"/>
                  </a:lnTo>
                  <a:lnTo>
                    <a:pt x="476250" y="19050"/>
                  </a:lnTo>
                  <a:close/>
                </a:path>
              </a:pathLst>
            </a:custGeom>
            <a:solidFill>
              <a:srgbClr val="000000"/>
            </a:solidFill>
            <a:ln w="3175" cap="flat">
              <a:solidFill>
                <a:schemeClr val="tx1"/>
              </a:solidFill>
              <a:prstDash val="solid"/>
              <a:miter/>
            </a:ln>
          </p:spPr>
          <p:txBody>
            <a:bodyPr rtlCol="0" anchor="ctr"/>
            <a:lstStyle/>
            <a:p>
              <a:endParaRPr lang="en-GB"/>
            </a:p>
          </p:txBody>
        </p:sp>
        <p:sp>
          <p:nvSpPr>
            <p:cNvPr id="37" name="Freihandform: Form 36">
              <a:extLst>
                <a:ext uri="{FF2B5EF4-FFF2-40B4-BE49-F238E27FC236}">
                  <a16:creationId xmlns:a16="http://schemas.microsoft.com/office/drawing/2014/main" id="{A8145DB3-A5B6-8B69-7312-B09D54FC5B32}"/>
                </a:ext>
              </a:extLst>
            </p:cNvPr>
            <p:cNvSpPr/>
            <p:nvPr/>
          </p:nvSpPr>
          <p:spPr>
            <a:xfrm rot="2700331">
              <a:off x="6480856" y="2916739"/>
              <a:ext cx="90828" cy="90362"/>
            </a:xfrm>
            <a:custGeom>
              <a:avLst/>
              <a:gdLst>
                <a:gd name="connsiteX0" fmla="*/ 13468 w 265880"/>
                <a:gd name="connsiteY0" fmla="*/ 265881 h 265880"/>
                <a:gd name="connsiteX1" fmla="*/ 132940 w 265880"/>
                <a:gd name="connsiteY1" fmla="*/ 146409 h 265880"/>
                <a:gd name="connsiteX2" fmla="*/ 252413 w 265880"/>
                <a:gd name="connsiteY2" fmla="*/ 265881 h 265880"/>
                <a:gd name="connsiteX3" fmla="*/ 265881 w 265880"/>
                <a:gd name="connsiteY3" fmla="*/ 252413 h 265880"/>
                <a:gd name="connsiteX4" fmla="*/ 146409 w 265880"/>
                <a:gd name="connsiteY4" fmla="*/ 132940 h 265880"/>
                <a:gd name="connsiteX5" fmla="*/ 265881 w 265880"/>
                <a:gd name="connsiteY5" fmla="*/ 13468 h 265880"/>
                <a:gd name="connsiteX6" fmla="*/ 252413 w 265880"/>
                <a:gd name="connsiteY6" fmla="*/ 0 h 265880"/>
                <a:gd name="connsiteX7" fmla="*/ 132940 w 265880"/>
                <a:gd name="connsiteY7" fmla="*/ 119472 h 265880"/>
                <a:gd name="connsiteX8" fmla="*/ 13468 w 265880"/>
                <a:gd name="connsiteY8" fmla="*/ 0 h 265880"/>
                <a:gd name="connsiteX9" fmla="*/ 0 w 265880"/>
                <a:gd name="connsiteY9" fmla="*/ 13468 h 265880"/>
                <a:gd name="connsiteX10" fmla="*/ 119472 w 265880"/>
                <a:gd name="connsiteY10" fmla="*/ 132940 h 265880"/>
                <a:gd name="connsiteX11" fmla="*/ 0 w 265880"/>
                <a:gd name="connsiteY11" fmla="*/ 252413 h 265880"/>
                <a:gd name="connsiteX12" fmla="*/ 13468 w 265880"/>
                <a:gd name="connsiteY12" fmla="*/ 265881 h 26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880" h="265880">
                  <a:moveTo>
                    <a:pt x="13468" y="265881"/>
                  </a:moveTo>
                  <a:lnTo>
                    <a:pt x="132940" y="146409"/>
                  </a:lnTo>
                  <a:lnTo>
                    <a:pt x="252413" y="265881"/>
                  </a:lnTo>
                  <a:lnTo>
                    <a:pt x="265881" y="252413"/>
                  </a:lnTo>
                  <a:lnTo>
                    <a:pt x="146409" y="132940"/>
                  </a:lnTo>
                  <a:lnTo>
                    <a:pt x="265881" y="13468"/>
                  </a:lnTo>
                  <a:lnTo>
                    <a:pt x="252413" y="0"/>
                  </a:lnTo>
                  <a:lnTo>
                    <a:pt x="132940" y="119472"/>
                  </a:lnTo>
                  <a:lnTo>
                    <a:pt x="13468" y="0"/>
                  </a:lnTo>
                  <a:lnTo>
                    <a:pt x="0" y="13468"/>
                  </a:lnTo>
                  <a:lnTo>
                    <a:pt x="119472" y="132940"/>
                  </a:lnTo>
                  <a:lnTo>
                    <a:pt x="0" y="252413"/>
                  </a:lnTo>
                  <a:lnTo>
                    <a:pt x="13468" y="265881"/>
                  </a:lnTo>
                  <a:close/>
                </a:path>
              </a:pathLst>
            </a:custGeom>
            <a:solidFill>
              <a:srgbClr val="000000"/>
            </a:solidFill>
            <a:ln w="6350" cap="flat">
              <a:solidFill>
                <a:schemeClr val="tx1"/>
              </a:solidFill>
              <a:prstDash val="solid"/>
              <a:miter/>
            </a:ln>
          </p:spPr>
          <p:txBody>
            <a:bodyPr rtlCol="0" anchor="ctr"/>
            <a:lstStyle/>
            <a:p>
              <a:endParaRPr lang="en-GB"/>
            </a:p>
          </p:txBody>
        </p:sp>
      </p:grpSp>
      <p:grpSp>
        <p:nvGrpSpPr>
          <p:cNvPr id="38" name="Gruppieren 37">
            <a:extLst>
              <a:ext uri="{FF2B5EF4-FFF2-40B4-BE49-F238E27FC236}">
                <a16:creationId xmlns:a16="http://schemas.microsoft.com/office/drawing/2014/main" id="{71D492C5-D63F-982A-8B38-77E41C21E95A}"/>
              </a:ext>
            </a:extLst>
          </p:cNvPr>
          <p:cNvGrpSpPr/>
          <p:nvPr/>
        </p:nvGrpSpPr>
        <p:grpSpPr>
          <a:xfrm>
            <a:off x="427691" y="3082232"/>
            <a:ext cx="356400" cy="356400"/>
            <a:chOff x="6102170" y="2863994"/>
            <a:chExt cx="225025" cy="222483"/>
          </a:xfrm>
        </p:grpSpPr>
        <p:sp>
          <p:nvSpPr>
            <p:cNvPr id="39" name="Raute 38">
              <a:extLst>
                <a:ext uri="{FF2B5EF4-FFF2-40B4-BE49-F238E27FC236}">
                  <a16:creationId xmlns:a16="http://schemas.microsoft.com/office/drawing/2014/main" id="{6D10BD7B-8BBE-012A-24C8-07A7540A211E}"/>
                </a:ext>
              </a:extLst>
            </p:cNvPr>
            <p:cNvSpPr/>
            <p:nvPr/>
          </p:nvSpPr>
          <p:spPr>
            <a:xfrm>
              <a:off x="6102170" y="2863994"/>
              <a:ext cx="225025" cy="222483"/>
            </a:xfrm>
            <a:prstGeom prst="diamond">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Grafik 38" descr="Hinzufügen Silhouette">
              <a:extLst>
                <a:ext uri="{FF2B5EF4-FFF2-40B4-BE49-F238E27FC236}">
                  <a16:creationId xmlns:a16="http://schemas.microsoft.com/office/drawing/2014/main" id="{E327A9EB-7DB6-9263-9061-80BAB5646710}"/>
                </a:ext>
              </a:extLst>
            </p:cNvPr>
            <p:cNvSpPr/>
            <p:nvPr/>
          </p:nvSpPr>
          <p:spPr>
            <a:xfrm rot="2688311">
              <a:off x="6160682" y="2920227"/>
              <a:ext cx="108000" cy="108000"/>
            </a:xfrm>
            <a:custGeom>
              <a:avLst/>
              <a:gdLst>
                <a:gd name="connsiteX0" fmla="*/ 390525 w 762000"/>
                <a:gd name="connsiteY0" fmla="*/ 0 h 762000"/>
                <a:gd name="connsiteX1" fmla="*/ 371475 w 762000"/>
                <a:gd name="connsiteY1" fmla="*/ 0 h 762000"/>
                <a:gd name="connsiteX2" fmla="*/ 371475 w 762000"/>
                <a:gd name="connsiteY2" fmla="*/ 371475 h 762000"/>
                <a:gd name="connsiteX3" fmla="*/ 0 w 762000"/>
                <a:gd name="connsiteY3" fmla="*/ 371475 h 762000"/>
                <a:gd name="connsiteX4" fmla="*/ 0 w 762000"/>
                <a:gd name="connsiteY4" fmla="*/ 390525 h 762000"/>
                <a:gd name="connsiteX5" fmla="*/ 371475 w 762000"/>
                <a:gd name="connsiteY5" fmla="*/ 390525 h 762000"/>
                <a:gd name="connsiteX6" fmla="*/ 371475 w 762000"/>
                <a:gd name="connsiteY6" fmla="*/ 762000 h 762000"/>
                <a:gd name="connsiteX7" fmla="*/ 390525 w 762000"/>
                <a:gd name="connsiteY7" fmla="*/ 762000 h 762000"/>
                <a:gd name="connsiteX8" fmla="*/ 390525 w 762000"/>
                <a:gd name="connsiteY8" fmla="*/ 390525 h 762000"/>
                <a:gd name="connsiteX9" fmla="*/ 762000 w 762000"/>
                <a:gd name="connsiteY9" fmla="*/ 390525 h 762000"/>
                <a:gd name="connsiteX10" fmla="*/ 762000 w 762000"/>
                <a:gd name="connsiteY10" fmla="*/ 371475 h 762000"/>
                <a:gd name="connsiteX11" fmla="*/ 390525 w 762000"/>
                <a:gd name="connsiteY11" fmla="*/ 371475 h 762000"/>
                <a:gd name="connsiteX12" fmla="*/ 390525 w 762000"/>
                <a:gd name="connsiteY12"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2000" h="762000">
                  <a:moveTo>
                    <a:pt x="390525" y="0"/>
                  </a:moveTo>
                  <a:lnTo>
                    <a:pt x="371475" y="0"/>
                  </a:lnTo>
                  <a:lnTo>
                    <a:pt x="371475" y="371475"/>
                  </a:lnTo>
                  <a:lnTo>
                    <a:pt x="0" y="371475"/>
                  </a:lnTo>
                  <a:lnTo>
                    <a:pt x="0" y="390525"/>
                  </a:lnTo>
                  <a:lnTo>
                    <a:pt x="371475" y="390525"/>
                  </a:lnTo>
                  <a:lnTo>
                    <a:pt x="371475" y="762000"/>
                  </a:lnTo>
                  <a:lnTo>
                    <a:pt x="390525" y="762000"/>
                  </a:lnTo>
                  <a:lnTo>
                    <a:pt x="390525" y="390525"/>
                  </a:lnTo>
                  <a:lnTo>
                    <a:pt x="762000" y="390525"/>
                  </a:lnTo>
                  <a:lnTo>
                    <a:pt x="762000" y="371475"/>
                  </a:lnTo>
                  <a:lnTo>
                    <a:pt x="390525" y="371475"/>
                  </a:lnTo>
                  <a:lnTo>
                    <a:pt x="390525" y="0"/>
                  </a:lnTo>
                  <a:close/>
                </a:path>
              </a:pathLst>
            </a:custGeom>
            <a:solidFill>
              <a:srgbClr val="000000"/>
            </a:solidFill>
            <a:ln w="9525" cap="flat">
              <a:solidFill>
                <a:schemeClr val="tx1"/>
              </a:solidFill>
              <a:prstDash val="solid"/>
              <a:miter/>
            </a:ln>
          </p:spPr>
          <p:txBody>
            <a:bodyPr rtlCol="0" anchor="ctr"/>
            <a:lstStyle/>
            <a:p>
              <a:endParaRPr lang="en-GB" dirty="0"/>
            </a:p>
          </p:txBody>
        </p:sp>
      </p:grpSp>
      <p:sp>
        <p:nvSpPr>
          <p:cNvPr id="41" name="Textfeld 40">
            <a:extLst>
              <a:ext uri="{FF2B5EF4-FFF2-40B4-BE49-F238E27FC236}">
                <a16:creationId xmlns:a16="http://schemas.microsoft.com/office/drawing/2014/main" id="{176A073C-3680-8525-F64D-4AC0E8D1583E}"/>
              </a:ext>
            </a:extLst>
          </p:cNvPr>
          <p:cNvSpPr txBox="1"/>
          <p:nvPr/>
        </p:nvSpPr>
        <p:spPr>
          <a:xfrm>
            <a:off x="256020" y="991404"/>
            <a:ext cx="1263840" cy="307777"/>
          </a:xfrm>
          <a:prstGeom prst="rect">
            <a:avLst/>
          </a:prstGeom>
          <a:noFill/>
        </p:spPr>
        <p:txBody>
          <a:bodyPr wrap="square" rtlCol="0">
            <a:spAutoFit/>
          </a:bodyPr>
          <a:lstStyle/>
          <a:p>
            <a:pPr algn="ctr"/>
            <a:r>
              <a:rPr lang="de-DE" sz="1400" dirty="0"/>
              <a:t>Beschriftung</a:t>
            </a:r>
          </a:p>
        </p:txBody>
      </p:sp>
      <p:sp>
        <p:nvSpPr>
          <p:cNvPr id="4" name="TextBox 3">
            <a:extLst>
              <a:ext uri="{FF2B5EF4-FFF2-40B4-BE49-F238E27FC236}">
                <a16:creationId xmlns:a16="http://schemas.microsoft.com/office/drawing/2014/main" id="{FCE8C229-521D-6AEE-CE22-DE8BA365A4E1}"/>
              </a:ext>
            </a:extLst>
          </p:cNvPr>
          <p:cNvSpPr txBox="1"/>
          <p:nvPr/>
        </p:nvSpPr>
        <p:spPr>
          <a:xfrm rot="16200000">
            <a:off x="1934368" y="3519408"/>
            <a:ext cx="1672253" cy="369332"/>
          </a:xfrm>
          <a:prstGeom prst="rect">
            <a:avLst/>
          </a:prstGeom>
          <a:noFill/>
        </p:spPr>
        <p:txBody>
          <a:bodyPr wrap="none" rtlCol="0">
            <a:spAutoFit/>
          </a:bodyPr>
          <a:lstStyle/>
          <a:p>
            <a:r>
              <a:rPr lang="en-US" dirty="0" err="1">
                <a:latin typeface="+mj-ea"/>
                <a:ea typeface="+mj-ea"/>
              </a:rPr>
              <a:t>Morgenroutine</a:t>
            </a:r>
            <a:endParaRPr lang="en-US" dirty="0">
              <a:latin typeface="+mj-ea"/>
              <a:ea typeface="+mj-ea"/>
            </a:endParaRPr>
          </a:p>
        </p:txBody>
      </p:sp>
      <p:sp>
        <p:nvSpPr>
          <p:cNvPr id="6" name="TextBox 5">
            <a:extLst>
              <a:ext uri="{FF2B5EF4-FFF2-40B4-BE49-F238E27FC236}">
                <a16:creationId xmlns:a16="http://schemas.microsoft.com/office/drawing/2014/main" id="{EC393FD9-4AC3-97FB-233A-1BB8910553D6}"/>
              </a:ext>
            </a:extLst>
          </p:cNvPr>
          <p:cNvSpPr txBox="1"/>
          <p:nvPr/>
        </p:nvSpPr>
        <p:spPr>
          <a:xfrm rot="16200000">
            <a:off x="3634509" y="4775720"/>
            <a:ext cx="372218" cy="261610"/>
          </a:xfrm>
          <a:prstGeom prst="rect">
            <a:avLst/>
          </a:prstGeom>
          <a:noFill/>
        </p:spPr>
        <p:txBody>
          <a:bodyPr wrap="none" rtlCol="0">
            <a:spAutoFit/>
          </a:bodyPr>
          <a:lstStyle/>
          <a:p>
            <a:r>
              <a:rPr lang="en-US" sz="1100" dirty="0">
                <a:latin typeface="+mn-ea"/>
              </a:rPr>
              <a:t>Ich</a:t>
            </a:r>
          </a:p>
        </p:txBody>
      </p:sp>
      <p:sp>
        <p:nvSpPr>
          <p:cNvPr id="9" name="TextBox 8">
            <a:extLst>
              <a:ext uri="{FF2B5EF4-FFF2-40B4-BE49-F238E27FC236}">
                <a16:creationId xmlns:a16="http://schemas.microsoft.com/office/drawing/2014/main" id="{2DD9964F-CA60-1B7C-D0DE-9173BDFC7437}"/>
              </a:ext>
            </a:extLst>
          </p:cNvPr>
          <p:cNvSpPr txBox="1"/>
          <p:nvPr/>
        </p:nvSpPr>
        <p:spPr>
          <a:xfrm rot="16200000">
            <a:off x="3324329" y="2370825"/>
            <a:ext cx="992579" cy="261610"/>
          </a:xfrm>
          <a:prstGeom prst="rect">
            <a:avLst/>
          </a:prstGeom>
          <a:noFill/>
        </p:spPr>
        <p:txBody>
          <a:bodyPr wrap="none" rtlCol="0">
            <a:spAutoFit/>
          </a:bodyPr>
          <a:lstStyle/>
          <a:p>
            <a:r>
              <a:rPr lang="en-US" sz="1100" dirty="0" err="1">
                <a:latin typeface="+mn-ea"/>
              </a:rPr>
              <a:t>Mitbewohner</a:t>
            </a:r>
            <a:endParaRPr lang="en-US" sz="1100" dirty="0">
              <a:latin typeface="+mn-ea"/>
            </a:endParaRPr>
          </a:p>
        </p:txBody>
      </p:sp>
      <p:sp>
        <p:nvSpPr>
          <p:cNvPr id="12" name="TextBox 11">
            <a:extLst>
              <a:ext uri="{FF2B5EF4-FFF2-40B4-BE49-F238E27FC236}">
                <a16:creationId xmlns:a16="http://schemas.microsoft.com/office/drawing/2014/main" id="{4E176B74-8CC7-1130-4884-5ADDD74A2495}"/>
              </a:ext>
            </a:extLst>
          </p:cNvPr>
          <p:cNvSpPr txBox="1"/>
          <p:nvPr/>
        </p:nvSpPr>
        <p:spPr>
          <a:xfrm>
            <a:off x="3719240" y="3781075"/>
            <a:ext cx="1087157" cy="400110"/>
          </a:xfrm>
          <a:prstGeom prst="rect">
            <a:avLst/>
          </a:prstGeom>
          <a:noFill/>
        </p:spPr>
        <p:txBody>
          <a:bodyPr wrap="none" rtlCol="0">
            <a:spAutoFit/>
          </a:bodyPr>
          <a:lstStyle/>
          <a:p>
            <a:r>
              <a:rPr lang="en-US" sz="1000" dirty="0">
                <a:latin typeface="+mn-ea"/>
              </a:rPr>
              <a:t>Wecker </a:t>
            </a:r>
            <a:r>
              <a:rPr lang="en-US" sz="1000" dirty="0" err="1">
                <a:latin typeface="+mn-ea"/>
              </a:rPr>
              <a:t>klingelt</a:t>
            </a:r>
            <a:r>
              <a:rPr lang="en-US" sz="1000" dirty="0">
                <a:latin typeface="+mn-ea"/>
              </a:rPr>
              <a:t> </a:t>
            </a:r>
          </a:p>
          <a:p>
            <a:r>
              <a:rPr lang="en-US" sz="1000" dirty="0">
                <a:latin typeface="+mn-ea"/>
              </a:rPr>
              <a:t>um 5:00 Uhr</a:t>
            </a:r>
          </a:p>
        </p:txBody>
      </p:sp>
      <p:sp>
        <p:nvSpPr>
          <p:cNvPr id="15" name="Abgerundetes Rechteck 2">
            <a:extLst>
              <a:ext uri="{FF2B5EF4-FFF2-40B4-BE49-F238E27FC236}">
                <a16:creationId xmlns:a16="http://schemas.microsoft.com/office/drawing/2014/main" id="{509B7B02-35BD-57FE-2430-7802752825F1}"/>
              </a:ext>
            </a:extLst>
          </p:cNvPr>
          <p:cNvSpPr/>
          <p:nvPr/>
        </p:nvSpPr>
        <p:spPr>
          <a:xfrm>
            <a:off x="3840563" y="5129831"/>
            <a:ext cx="853441" cy="45351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r>
              <a:rPr lang="de-DE" sz="1100" dirty="0">
                <a:solidFill>
                  <a:schemeClr val="tx1"/>
                </a:solidFill>
                <a:latin typeface="+mn-ea"/>
              </a:rPr>
              <a:t>Wecker ausschalten</a:t>
            </a:r>
          </a:p>
        </p:txBody>
      </p:sp>
      <p:sp>
        <p:nvSpPr>
          <p:cNvPr id="19" name="Abgerundetes Rechteck 2">
            <a:extLst>
              <a:ext uri="{FF2B5EF4-FFF2-40B4-BE49-F238E27FC236}">
                <a16:creationId xmlns:a16="http://schemas.microsoft.com/office/drawing/2014/main" id="{D58041EF-A750-A1E4-6F36-A1717AA1230A}"/>
              </a:ext>
            </a:extLst>
          </p:cNvPr>
          <p:cNvSpPr/>
          <p:nvPr/>
        </p:nvSpPr>
        <p:spPr>
          <a:xfrm>
            <a:off x="4916571" y="4176525"/>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de-DE" sz="900" dirty="0">
                <a:solidFill>
                  <a:schemeClr val="tx1"/>
                </a:solidFill>
                <a:latin typeface="+mn-ea"/>
              </a:rPr>
              <a:t>Aufsetzen &amp; Wach werden</a:t>
            </a:r>
          </a:p>
        </p:txBody>
      </p:sp>
      <p:grpSp>
        <p:nvGrpSpPr>
          <p:cNvPr id="25" name="Gruppieren 37">
            <a:extLst>
              <a:ext uri="{FF2B5EF4-FFF2-40B4-BE49-F238E27FC236}">
                <a16:creationId xmlns:a16="http://schemas.microsoft.com/office/drawing/2014/main" id="{F1490C2B-A1F3-2677-44A1-83612884F597}"/>
              </a:ext>
            </a:extLst>
          </p:cNvPr>
          <p:cNvGrpSpPr/>
          <p:nvPr/>
        </p:nvGrpSpPr>
        <p:grpSpPr>
          <a:xfrm>
            <a:off x="5082964" y="5146840"/>
            <a:ext cx="356400" cy="356400"/>
            <a:chOff x="6102170" y="2863994"/>
            <a:chExt cx="225025" cy="222483"/>
          </a:xfrm>
        </p:grpSpPr>
        <p:sp>
          <p:nvSpPr>
            <p:cNvPr id="27" name="Raute 38">
              <a:extLst>
                <a:ext uri="{FF2B5EF4-FFF2-40B4-BE49-F238E27FC236}">
                  <a16:creationId xmlns:a16="http://schemas.microsoft.com/office/drawing/2014/main" id="{4F00CE12-13DC-1803-7575-FE9C6FE94832}"/>
                </a:ext>
              </a:extLst>
            </p:cNvPr>
            <p:cNvSpPr/>
            <p:nvPr/>
          </p:nvSpPr>
          <p:spPr>
            <a:xfrm>
              <a:off x="6102170" y="2863994"/>
              <a:ext cx="225025" cy="222483"/>
            </a:xfrm>
            <a:prstGeom prst="diamond">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Grafik 38" descr="Hinzufügen Silhouette">
              <a:extLst>
                <a:ext uri="{FF2B5EF4-FFF2-40B4-BE49-F238E27FC236}">
                  <a16:creationId xmlns:a16="http://schemas.microsoft.com/office/drawing/2014/main" id="{8E2AE869-829E-4B16-BD3C-2FBB8A4A0BA2}"/>
                </a:ext>
              </a:extLst>
            </p:cNvPr>
            <p:cNvSpPr/>
            <p:nvPr/>
          </p:nvSpPr>
          <p:spPr>
            <a:xfrm rot="2688311">
              <a:off x="6160682" y="2920227"/>
              <a:ext cx="108000" cy="108000"/>
            </a:xfrm>
            <a:custGeom>
              <a:avLst/>
              <a:gdLst>
                <a:gd name="connsiteX0" fmla="*/ 390525 w 762000"/>
                <a:gd name="connsiteY0" fmla="*/ 0 h 762000"/>
                <a:gd name="connsiteX1" fmla="*/ 371475 w 762000"/>
                <a:gd name="connsiteY1" fmla="*/ 0 h 762000"/>
                <a:gd name="connsiteX2" fmla="*/ 371475 w 762000"/>
                <a:gd name="connsiteY2" fmla="*/ 371475 h 762000"/>
                <a:gd name="connsiteX3" fmla="*/ 0 w 762000"/>
                <a:gd name="connsiteY3" fmla="*/ 371475 h 762000"/>
                <a:gd name="connsiteX4" fmla="*/ 0 w 762000"/>
                <a:gd name="connsiteY4" fmla="*/ 390525 h 762000"/>
                <a:gd name="connsiteX5" fmla="*/ 371475 w 762000"/>
                <a:gd name="connsiteY5" fmla="*/ 390525 h 762000"/>
                <a:gd name="connsiteX6" fmla="*/ 371475 w 762000"/>
                <a:gd name="connsiteY6" fmla="*/ 762000 h 762000"/>
                <a:gd name="connsiteX7" fmla="*/ 390525 w 762000"/>
                <a:gd name="connsiteY7" fmla="*/ 762000 h 762000"/>
                <a:gd name="connsiteX8" fmla="*/ 390525 w 762000"/>
                <a:gd name="connsiteY8" fmla="*/ 390525 h 762000"/>
                <a:gd name="connsiteX9" fmla="*/ 762000 w 762000"/>
                <a:gd name="connsiteY9" fmla="*/ 390525 h 762000"/>
                <a:gd name="connsiteX10" fmla="*/ 762000 w 762000"/>
                <a:gd name="connsiteY10" fmla="*/ 371475 h 762000"/>
                <a:gd name="connsiteX11" fmla="*/ 390525 w 762000"/>
                <a:gd name="connsiteY11" fmla="*/ 371475 h 762000"/>
                <a:gd name="connsiteX12" fmla="*/ 390525 w 762000"/>
                <a:gd name="connsiteY12"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2000" h="762000">
                  <a:moveTo>
                    <a:pt x="390525" y="0"/>
                  </a:moveTo>
                  <a:lnTo>
                    <a:pt x="371475" y="0"/>
                  </a:lnTo>
                  <a:lnTo>
                    <a:pt x="371475" y="371475"/>
                  </a:lnTo>
                  <a:lnTo>
                    <a:pt x="0" y="371475"/>
                  </a:lnTo>
                  <a:lnTo>
                    <a:pt x="0" y="390525"/>
                  </a:lnTo>
                  <a:lnTo>
                    <a:pt x="371475" y="390525"/>
                  </a:lnTo>
                  <a:lnTo>
                    <a:pt x="371475" y="762000"/>
                  </a:lnTo>
                  <a:lnTo>
                    <a:pt x="390525" y="762000"/>
                  </a:lnTo>
                  <a:lnTo>
                    <a:pt x="390525" y="390525"/>
                  </a:lnTo>
                  <a:lnTo>
                    <a:pt x="762000" y="390525"/>
                  </a:lnTo>
                  <a:lnTo>
                    <a:pt x="762000" y="371475"/>
                  </a:lnTo>
                  <a:lnTo>
                    <a:pt x="390525" y="371475"/>
                  </a:lnTo>
                  <a:lnTo>
                    <a:pt x="390525" y="0"/>
                  </a:lnTo>
                  <a:close/>
                </a:path>
              </a:pathLst>
            </a:custGeom>
            <a:solidFill>
              <a:srgbClr val="000000"/>
            </a:solidFill>
            <a:ln w="9525" cap="flat">
              <a:solidFill>
                <a:schemeClr val="tx1"/>
              </a:solidFill>
              <a:prstDash val="solid"/>
              <a:miter/>
            </a:ln>
          </p:spPr>
          <p:txBody>
            <a:bodyPr rtlCol="0" anchor="ctr"/>
            <a:lstStyle/>
            <a:p>
              <a:endParaRPr lang="en-GB" dirty="0"/>
            </a:p>
          </p:txBody>
        </p:sp>
      </p:grpSp>
      <p:sp>
        <p:nvSpPr>
          <p:cNvPr id="29" name="TextBox 28">
            <a:extLst>
              <a:ext uri="{FF2B5EF4-FFF2-40B4-BE49-F238E27FC236}">
                <a16:creationId xmlns:a16="http://schemas.microsoft.com/office/drawing/2014/main" id="{A1213493-6578-8DA9-E139-9A102562E7E8}"/>
              </a:ext>
            </a:extLst>
          </p:cNvPr>
          <p:cNvSpPr txBox="1"/>
          <p:nvPr/>
        </p:nvSpPr>
        <p:spPr>
          <a:xfrm>
            <a:off x="4967483" y="5518768"/>
            <a:ext cx="758541" cy="246221"/>
          </a:xfrm>
          <a:prstGeom prst="rect">
            <a:avLst/>
          </a:prstGeom>
          <a:noFill/>
        </p:spPr>
        <p:txBody>
          <a:bodyPr wrap="none" rtlCol="0">
            <a:spAutoFit/>
          </a:bodyPr>
          <a:lstStyle/>
          <a:p>
            <a:r>
              <a:rPr lang="en-US" sz="1000" dirty="0">
                <a:latin typeface="+mj-ea"/>
                <a:ea typeface="+mj-ea"/>
              </a:rPr>
              <a:t>Zu </a:t>
            </a:r>
            <a:r>
              <a:rPr lang="en-US" sz="1000" dirty="0" err="1">
                <a:latin typeface="+mj-ea"/>
                <a:ea typeface="+mj-ea"/>
              </a:rPr>
              <a:t>müde</a:t>
            </a:r>
            <a:r>
              <a:rPr lang="en-US" sz="1000" dirty="0">
                <a:latin typeface="+mj-ea"/>
                <a:ea typeface="+mj-ea"/>
              </a:rPr>
              <a:t>?</a:t>
            </a:r>
          </a:p>
        </p:txBody>
      </p:sp>
      <p:sp>
        <p:nvSpPr>
          <p:cNvPr id="42" name="Abgerundetes Rechteck 2">
            <a:extLst>
              <a:ext uri="{FF2B5EF4-FFF2-40B4-BE49-F238E27FC236}">
                <a16:creationId xmlns:a16="http://schemas.microsoft.com/office/drawing/2014/main" id="{660F6A12-DA50-2A3B-0C57-B278F6C1030E}"/>
              </a:ext>
            </a:extLst>
          </p:cNvPr>
          <p:cNvSpPr/>
          <p:nvPr/>
        </p:nvSpPr>
        <p:spPr>
          <a:xfrm>
            <a:off x="6033154" y="4183801"/>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de-DE" sz="900" dirty="0">
                <a:solidFill>
                  <a:schemeClr val="tx1"/>
                </a:solidFill>
                <a:latin typeface="+mn-ea"/>
              </a:rPr>
              <a:t>YouTube Video schauen</a:t>
            </a:r>
          </a:p>
        </p:txBody>
      </p:sp>
      <p:sp>
        <p:nvSpPr>
          <p:cNvPr id="44" name="Abgerundetes Rechteck 2">
            <a:extLst>
              <a:ext uri="{FF2B5EF4-FFF2-40B4-BE49-F238E27FC236}">
                <a16:creationId xmlns:a16="http://schemas.microsoft.com/office/drawing/2014/main" id="{81755772-3B3B-6FDF-8214-504E1B2145BA}"/>
              </a:ext>
            </a:extLst>
          </p:cNvPr>
          <p:cNvSpPr/>
          <p:nvPr/>
        </p:nvSpPr>
        <p:spPr>
          <a:xfrm>
            <a:off x="8153413" y="5096440"/>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900" dirty="0">
                <a:solidFill>
                  <a:schemeClr val="tx1"/>
                </a:solidFill>
                <a:latin typeface="+mn-ea"/>
              </a:rPr>
              <a:t>Joggen</a:t>
            </a:r>
          </a:p>
        </p:txBody>
      </p:sp>
      <p:sp>
        <p:nvSpPr>
          <p:cNvPr id="45" name="Abgerundetes Rechteck 2">
            <a:extLst>
              <a:ext uri="{FF2B5EF4-FFF2-40B4-BE49-F238E27FC236}">
                <a16:creationId xmlns:a16="http://schemas.microsoft.com/office/drawing/2014/main" id="{9727DF69-7B15-FAA4-8DD1-7D5355F3B91A}"/>
              </a:ext>
            </a:extLst>
          </p:cNvPr>
          <p:cNvSpPr/>
          <p:nvPr/>
        </p:nvSpPr>
        <p:spPr>
          <a:xfrm>
            <a:off x="6949826" y="5111283"/>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de-DE" sz="900" dirty="0">
                <a:solidFill>
                  <a:schemeClr val="tx1"/>
                </a:solidFill>
                <a:latin typeface="+mn-ea"/>
              </a:rPr>
              <a:t>Anziehen und Zähne putzen</a:t>
            </a:r>
          </a:p>
        </p:txBody>
      </p:sp>
      <p:sp>
        <p:nvSpPr>
          <p:cNvPr id="46" name="Abgerundetes Rechteck 2">
            <a:extLst>
              <a:ext uri="{FF2B5EF4-FFF2-40B4-BE49-F238E27FC236}">
                <a16:creationId xmlns:a16="http://schemas.microsoft.com/office/drawing/2014/main" id="{6D8635C6-9780-A752-673C-64DD6D936FBC}"/>
              </a:ext>
            </a:extLst>
          </p:cNvPr>
          <p:cNvSpPr/>
          <p:nvPr/>
        </p:nvSpPr>
        <p:spPr>
          <a:xfrm>
            <a:off x="8153413" y="416975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800" dirty="0">
                <a:solidFill>
                  <a:schemeClr val="tx1"/>
                </a:solidFill>
                <a:latin typeface="+mn-ea"/>
              </a:rPr>
              <a:t>Haferflocken essen</a:t>
            </a:r>
          </a:p>
        </p:txBody>
      </p:sp>
      <p:grpSp>
        <p:nvGrpSpPr>
          <p:cNvPr id="47" name="Gruppieren 37">
            <a:extLst>
              <a:ext uri="{FF2B5EF4-FFF2-40B4-BE49-F238E27FC236}">
                <a16:creationId xmlns:a16="http://schemas.microsoft.com/office/drawing/2014/main" id="{4060BB41-4EA2-8553-0E8E-45465A28A980}"/>
              </a:ext>
            </a:extLst>
          </p:cNvPr>
          <p:cNvGrpSpPr/>
          <p:nvPr/>
        </p:nvGrpSpPr>
        <p:grpSpPr>
          <a:xfrm>
            <a:off x="6285138" y="5158323"/>
            <a:ext cx="356400" cy="356400"/>
            <a:chOff x="6102170" y="2863994"/>
            <a:chExt cx="225025" cy="222483"/>
          </a:xfrm>
        </p:grpSpPr>
        <p:sp>
          <p:nvSpPr>
            <p:cNvPr id="48" name="Raute 38">
              <a:extLst>
                <a:ext uri="{FF2B5EF4-FFF2-40B4-BE49-F238E27FC236}">
                  <a16:creationId xmlns:a16="http://schemas.microsoft.com/office/drawing/2014/main" id="{5D366469-DAED-BD9E-1EDB-18E1C197A8E4}"/>
                </a:ext>
              </a:extLst>
            </p:cNvPr>
            <p:cNvSpPr/>
            <p:nvPr/>
          </p:nvSpPr>
          <p:spPr>
            <a:xfrm>
              <a:off x="6102170" y="2863994"/>
              <a:ext cx="225025" cy="222483"/>
            </a:xfrm>
            <a:prstGeom prst="diamond">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Grafik 38" descr="Hinzufügen Silhouette">
              <a:extLst>
                <a:ext uri="{FF2B5EF4-FFF2-40B4-BE49-F238E27FC236}">
                  <a16:creationId xmlns:a16="http://schemas.microsoft.com/office/drawing/2014/main" id="{11E5AD55-BC63-BF66-7885-DB0830BC4213}"/>
                </a:ext>
              </a:extLst>
            </p:cNvPr>
            <p:cNvSpPr/>
            <p:nvPr/>
          </p:nvSpPr>
          <p:spPr>
            <a:xfrm rot="2688311">
              <a:off x="6160682" y="2920227"/>
              <a:ext cx="108000" cy="108000"/>
            </a:xfrm>
            <a:custGeom>
              <a:avLst/>
              <a:gdLst>
                <a:gd name="connsiteX0" fmla="*/ 390525 w 762000"/>
                <a:gd name="connsiteY0" fmla="*/ 0 h 762000"/>
                <a:gd name="connsiteX1" fmla="*/ 371475 w 762000"/>
                <a:gd name="connsiteY1" fmla="*/ 0 h 762000"/>
                <a:gd name="connsiteX2" fmla="*/ 371475 w 762000"/>
                <a:gd name="connsiteY2" fmla="*/ 371475 h 762000"/>
                <a:gd name="connsiteX3" fmla="*/ 0 w 762000"/>
                <a:gd name="connsiteY3" fmla="*/ 371475 h 762000"/>
                <a:gd name="connsiteX4" fmla="*/ 0 w 762000"/>
                <a:gd name="connsiteY4" fmla="*/ 390525 h 762000"/>
                <a:gd name="connsiteX5" fmla="*/ 371475 w 762000"/>
                <a:gd name="connsiteY5" fmla="*/ 390525 h 762000"/>
                <a:gd name="connsiteX6" fmla="*/ 371475 w 762000"/>
                <a:gd name="connsiteY6" fmla="*/ 762000 h 762000"/>
                <a:gd name="connsiteX7" fmla="*/ 390525 w 762000"/>
                <a:gd name="connsiteY7" fmla="*/ 762000 h 762000"/>
                <a:gd name="connsiteX8" fmla="*/ 390525 w 762000"/>
                <a:gd name="connsiteY8" fmla="*/ 390525 h 762000"/>
                <a:gd name="connsiteX9" fmla="*/ 762000 w 762000"/>
                <a:gd name="connsiteY9" fmla="*/ 390525 h 762000"/>
                <a:gd name="connsiteX10" fmla="*/ 762000 w 762000"/>
                <a:gd name="connsiteY10" fmla="*/ 371475 h 762000"/>
                <a:gd name="connsiteX11" fmla="*/ 390525 w 762000"/>
                <a:gd name="connsiteY11" fmla="*/ 371475 h 762000"/>
                <a:gd name="connsiteX12" fmla="*/ 390525 w 762000"/>
                <a:gd name="connsiteY12"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2000" h="762000">
                  <a:moveTo>
                    <a:pt x="390525" y="0"/>
                  </a:moveTo>
                  <a:lnTo>
                    <a:pt x="371475" y="0"/>
                  </a:lnTo>
                  <a:lnTo>
                    <a:pt x="371475" y="371475"/>
                  </a:lnTo>
                  <a:lnTo>
                    <a:pt x="0" y="371475"/>
                  </a:lnTo>
                  <a:lnTo>
                    <a:pt x="0" y="390525"/>
                  </a:lnTo>
                  <a:lnTo>
                    <a:pt x="371475" y="390525"/>
                  </a:lnTo>
                  <a:lnTo>
                    <a:pt x="371475" y="762000"/>
                  </a:lnTo>
                  <a:lnTo>
                    <a:pt x="390525" y="762000"/>
                  </a:lnTo>
                  <a:lnTo>
                    <a:pt x="390525" y="390525"/>
                  </a:lnTo>
                  <a:lnTo>
                    <a:pt x="762000" y="390525"/>
                  </a:lnTo>
                  <a:lnTo>
                    <a:pt x="762000" y="371475"/>
                  </a:lnTo>
                  <a:lnTo>
                    <a:pt x="390525" y="371475"/>
                  </a:lnTo>
                  <a:lnTo>
                    <a:pt x="390525" y="0"/>
                  </a:lnTo>
                  <a:close/>
                </a:path>
              </a:pathLst>
            </a:custGeom>
            <a:solidFill>
              <a:srgbClr val="000000"/>
            </a:solidFill>
            <a:ln w="9525" cap="flat">
              <a:solidFill>
                <a:schemeClr val="tx1"/>
              </a:solidFill>
              <a:prstDash val="solid"/>
              <a:miter/>
            </a:ln>
          </p:spPr>
          <p:txBody>
            <a:bodyPr rtlCol="0" anchor="ctr"/>
            <a:lstStyle/>
            <a:p>
              <a:endParaRPr lang="en-GB" dirty="0"/>
            </a:p>
          </p:txBody>
        </p:sp>
      </p:grpSp>
      <p:sp>
        <p:nvSpPr>
          <p:cNvPr id="50" name="Abgerundetes Rechteck 2">
            <a:extLst>
              <a:ext uri="{FF2B5EF4-FFF2-40B4-BE49-F238E27FC236}">
                <a16:creationId xmlns:a16="http://schemas.microsoft.com/office/drawing/2014/main" id="{7DAF660C-2513-4A8B-7AD3-7F8B6CA0B704}"/>
              </a:ext>
            </a:extLst>
          </p:cNvPr>
          <p:cNvSpPr/>
          <p:nvPr/>
        </p:nvSpPr>
        <p:spPr>
          <a:xfrm>
            <a:off x="9236862" y="4176525"/>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800" dirty="0">
                <a:solidFill>
                  <a:schemeClr val="tx1"/>
                </a:solidFill>
                <a:latin typeface="+mn-ea"/>
              </a:rPr>
              <a:t>Mitbewohner</a:t>
            </a:r>
          </a:p>
          <a:p>
            <a:pPr algn="ctr"/>
            <a:r>
              <a:rPr lang="de-DE" sz="800" dirty="0">
                <a:solidFill>
                  <a:schemeClr val="tx1"/>
                </a:solidFill>
                <a:latin typeface="+mn-ea"/>
              </a:rPr>
              <a:t>schreiben</a:t>
            </a:r>
          </a:p>
        </p:txBody>
      </p:sp>
      <p:cxnSp>
        <p:nvCxnSpPr>
          <p:cNvPr id="60" name="Straight Arrow Connector 59">
            <a:extLst>
              <a:ext uri="{FF2B5EF4-FFF2-40B4-BE49-F238E27FC236}">
                <a16:creationId xmlns:a16="http://schemas.microsoft.com/office/drawing/2014/main" id="{9EF0EB12-894A-95A9-B66B-4CC5AD615C15}"/>
              </a:ext>
            </a:extLst>
          </p:cNvPr>
          <p:cNvCxnSpPr>
            <a:cxnSpLocks/>
            <a:stCxn id="18" idx="4"/>
            <a:endCxn id="15" idx="0"/>
          </p:cNvCxnSpPr>
          <p:nvPr/>
        </p:nvCxnSpPr>
        <p:spPr>
          <a:xfrm>
            <a:off x="4262819" y="4540201"/>
            <a:ext cx="4465" cy="589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D47BC8EC-D0E0-2EB1-3580-C3FCAEFD15DB}"/>
              </a:ext>
            </a:extLst>
          </p:cNvPr>
          <p:cNvCxnSpPr>
            <a:cxnSpLocks/>
            <a:stCxn id="15" idx="3"/>
            <a:endCxn id="27" idx="1"/>
          </p:cNvCxnSpPr>
          <p:nvPr/>
        </p:nvCxnSpPr>
        <p:spPr>
          <a:xfrm flipV="1">
            <a:off x="4694004" y="5325040"/>
            <a:ext cx="388960" cy="31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B8BDF7F-B66B-51D2-9ACA-F8A232A57A17}"/>
              </a:ext>
            </a:extLst>
          </p:cNvPr>
          <p:cNvCxnSpPr>
            <a:cxnSpLocks/>
            <a:stCxn id="27" idx="0"/>
            <a:endCxn id="19" idx="2"/>
          </p:cNvCxnSpPr>
          <p:nvPr/>
        </p:nvCxnSpPr>
        <p:spPr>
          <a:xfrm flipV="1">
            <a:off x="5261164" y="4633725"/>
            <a:ext cx="85591" cy="513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AC58077-B52D-D808-AE8B-2676F7461B95}"/>
              </a:ext>
            </a:extLst>
          </p:cNvPr>
          <p:cNvCxnSpPr>
            <a:cxnSpLocks/>
            <a:stCxn id="27" idx="3"/>
            <a:endCxn id="48" idx="1"/>
          </p:cNvCxnSpPr>
          <p:nvPr/>
        </p:nvCxnSpPr>
        <p:spPr>
          <a:xfrm>
            <a:off x="5439364" y="5325040"/>
            <a:ext cx="845774" cy="11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E8E2811-9A7C-3B17-CED9-A55758203BCE}"/>
              </a:ext>
            </a:extLst>
          </p:cNvPr>
          <p:cNvCxnSpPr>
            <a:cxnSpLocks/>
            <a:stCxn id="19" idx="3"/>
            <a:endCxn id="42" idx="1"/>
          </p:cNvCxnSpPr>
          <p:nvPr/>
        </p:nvCxnSpPr>
        <p:spPr>
          <a:xfrm>
            <a:off x="5776939" y="4405125"/>
            <a:ext cx="256215" cy="7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FFAF612-3F8F-A7EE-B1E8-02267AFB1433}"/>
              </a:ext>
            </a:extLst>
          </p:cNvPr>
          <p:cNvCxnSpPr>
            <a:cxnSpLocks/>
            <a:stCxn id="42" idx="2"/>
            <a:endCxn id="48" idx="0"/>
          </p:cNvCxnSpPr>
          <p:nvPr/>
        </p:nvCxnSpPr>
        <p:spPr>
          <a:xfrm>
            <a:off x="6463338" y="4641001"/>
            <a:ext cx="0" cy="517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34D3DFA-C3F5-45C0-AEB1-62F7240BDA2B}"/>
              </a:ext>
            </a:extLst>
          </p:cNvPr>
          <p:cNvCxnSpPr>
            <a:cxnSpLocks/>
            <a:stCxn id="45" idx="3"/>
            <a:endCxn id="44" idx="1"/>
          </p:cNvCxnSpPr>
          <p:nvPr/>
        </p:nvCxnSpPr>
        <p:spPr>
          <a:xfrm flipV="1">
            <a:off x="7810194" y="5325040"/>
            <a:ext cx="343219" cy="14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770D4C3-D0FB-D680-261D-E5F7744D928D}"/>
              </a:ext>
            </a:extLst>
          </p:cNvPr>
          <p:cNvCxnSpPr>
            <a:cxnSpLocks/>
            <a:stCxn id="48" idx="3"/>
            <a:endCxn id="45" idx="1"/>
          </p:cNvCxnSpPr>
          <p:nvPr/>
        </p:nvCxnSpPr>
        <p:spPr>
          <a:xfrm>
            <a:off x="6641538" y="5336523"/>
            <a:ext cx="308288" cy="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FE4C8E2-4F24-6E85-CAB2-63F92C6F190C}"/>
              </a:ext>
            </a:extLst>
          </p:cNvPr>
          <p:cNvCxnSpPr>
            <a:cxnSpLocks/>
            <a:stCxn id="44" idx="0"/>
            <a:endCxn id="46" idx="2"/>
          </p:cNvCxnSpPr>
          <p:nvPr/>
        </p:nvCxnSpPr>
        <p:spPr>
          <a:xfrm flipV="1">
            <a:off x="8583597" y="4626957"/>
            <a:ext cx="0" cy="469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59C398F-5275-4E4A-9599-789AB7D15A57}"/>
              </a:ext>
            </a:extLst>
          </p:cNvPr>
          <p:cNvCxnSpPr>
            <a:cxnSpLocks/>
            <a:stCxn id="46" idx="3"/>
            <a:endCxn id="50" idx="1"/>
          </p:cNvCxnSpPr>
          <p:nvPr/>
        </p:nvCxnSpPr>
        <p:spPr>
          <a:xfrm>
            <a:off x="9013781" y="4398357"/>
            <a:ext cx="223081" cy="6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Abgerundetes Rechteck 2">
            <a:extLst>
              <a:ext uri="{FF2B5EF4-FFF2-40B4-BE49-F238E27FC236}">
                <a16:creationId xmlns:a16="http://schemas.microsoft.com/office/drawing/2014/main" id="{5335E6E0-7F98-B018-4EFB-6021896D347B}"/>
              </a:ext>
            </a:extLst>
          </p:cNvPr>
          <p:cNvSpPr/>
          <p:nvPr/>
        </p:nvSpPr>
        <p:spPr>
          <a:xfrm>
            <a:off x="5082964" y="229410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900" dirty="0">
                <a:solidFill>
                  <a:schemeClr val="tx1"/>
                </a:solidFill>
                <a:latin typeface="+mn-ea"/>
              </a:rPr>
              <a:t>Nachricht lesen</a:t>
            </a:r>
          </a:p>
        </p:txBody>
      </p:sp>
      <p:grpSp>
        <p:nvGrpSpPr>
          <p:cNvPr id="99" name="Gruppieren 37">
            <a:extLst>
              <a:ext uri="{FF2B5EF4-FFF2-40B4-BE49-F238E27FC236}">
                <a16:creationId xmlns:a16="http://schemas.microsoft.com/office/drawing/2014/main" id="{973EC807-34CF-FC9B-EF70-C3187019CDCF}"/>
              </a:ext>
            </a:extLst>
          </p:cNvPr>
          <p:cNvGrpSpPr/>
          <p:nvPr/>
        </p:nvGrpSpPr>
        <p:grpSpPr>
          <a:xfrm>
            <a:off x="6329730" y="2341227"/>
            <a:ext cx="356400" cy="356400"/>
            <a:chOff x="6102170" y="2863994"/>
            <a:chExt cx="225025" cy="222483"/>
          </a:xfrm>
        </p:grpSpPr>
        <p:sp>
          <p:nvSpPr>
            <p:cNvPr id="100" name="Raute 38">
              <a:extLst>
                <a:ext uri="{FF2B5EF4-FFF2-40B4-BE49-F238E27FC236}">
                  <a16:creationId xmlns:a16="http://schemas.microsoft.com/office/drawing/2014/main" id="{88612BB9-79E8-8087-3A4C-77018A9E86BD}"/>
                </a:ext>
              </a:extLst>
            </p:cNvPr>
            <p:cNvSpPr/>
            <p:nvPr/>
          </p:nvSpPr>
          <p:spPr>
            <a:xfrm>
              <a:off x="6102170" y="2863994"/>
              <a:ext cx="225025" cy="222483"/>
            </a:xfrm>
            <a:prstGeom prst="diamond">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1" name="Grafik 38" descr="Hinzufügen Silhouette">
              <a:extLst>
                <a:ext uri="{FF2B5EF4-FFF2-40B4-BE49-F238E27FC236}">
                  <a16:creationId xmlns:a16="http://schemas.microsoft.com/office/drawing/2014/main" id="{FE784088-A6A0-8712-C7F5-6A2B24A16E8C}"/>
                </a:ext>
              </a:extLst>
            </p:cNvPr>
            <p:cNvSpPr/>
            <p:nvPr/>
          </p:nvSpPr>
          <p:spPr>
            <a:xfrm rot="2688311">
              <a:off x="6160682" y="2920227"/>
              <a:ext cx="108000" cy="108000"/>
            </a:xfrm>
            <a:custGeom>
              <a:avLst/>
              <a:gdLst>
                <a:gd name="connsiteX0" fmla="*/ 390525 w 762000"/>
                <a:gd name="connsiteY0" fmla="*/ 0 h 762000"/>
                <a:gd name="connsiteX1" fmla="*/ 371475 w 762000"/>
                <a:gd name="connsiteY1" fmla="*/ 0 h 762000"/>
                <a:gd name="connsiteX2" fmla="*/ 371475 w 762000"/>
                <a:gd name="connsiteY2" fmla="*/ 371475 h 762000"/>
                <a:gd name="connsiteX3" fmla="*/ 0 w 762000"/>
                <a:gd name="connsiteY3" fmla="*/ 371475 h 762000"/>
                <a:gd name="connsiteX4" fmla="*/ 0 w 762000"/>
                <a:gd name="connsiteY4" fmla="*/ 390525 h 762000"/>
                <a:gd name="connsiteX5" fmla="*/ 371475 w 762000"/>
                <a:gd name="connsiteY5" fmla="*/ 390525 h 762000"/>
                <a:gd name="connsiteX6" fmla="*/ 371475 w 762000"/>
                <a:gd name="connsiteY6" fmla="*/ 762000 h 762000"/>
                <a:gd name="connsiteX7" fmla="*/ 390525 w 762000"/>
                <a:gd name="connsiteY7" fmla="*/ 762000 h 762000"/>
                <a:gd name="connsiteX8" fmla="*/ 390525 w 762000"/>
                <a:gd name="connsiteY8" fmla="*/ 390525 h 762000"/>
                <a:gd name="connsiteX9" fmla="*/ 762000 w 762000"/>
                <a:gd name="connsiteY9" fmla="*/ 390525 h 762000"/>
                <a:gd name="connsiteX10" fmla="*/ 762000 w 762000"/>
                <a:gd name="connsiteY10" fmla="*/ 371475 h 762000"/>
                <a:gd name="connsiteX11" fmla="*/ 390525 w 762000"/>
                <a:gd name="connsiteY11" fmla="*/ 371475 h 762000"/>
                <a:gd name="connsiteX12" fmla="*/ 390525 w 762000"/>
                <a:gd name="connsiteY12"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2000" h="762000">
                  <a:moveTo>
                    <a:pt x="390525" y="0"/>
                  </a:moveTo>
                  <a:lnTo>
                    <a:pt x="371475" y="0"/>
                  </a:lnTo>
                  <a:lnTo>
                    <a:pt x="371475" y="371475"/>
                  </a:lnTo>
                  <a:lnTo>
                    <a:pt x="0" y="371475"/>
                  </a:lnTo>
                  <a:lnTo>
                    <a:pt x="0" y="390525"/>
                  </a:lnTo>
                  <a:lnTo>
                    <a:pt x="371475" y="390525"/>
                  </a:lnTo>
                  <a:lnTo>
                    <a:pt x="371475" y="762000"/>
                  </a:lnTo>
                  <a:lnTo>
                    <a:pt x="390525" y="762000"/>
                  </a:lnTo>
                  <a:lnTo>
                    <a:pt x="390525" y="390525"/>
                  </a:lnTo>
                  <a:lnTo>
                    <a:pt x="762000" y="390525"/>
                  </a:lnTo>
                  <a:lnTo>
                    <a:pt x="762000" y="371475"/>
                  </a:lnTo>
                  <a:lnTo>
                    <a:pt x="390525" y="371475"/>
                  </a:lnTo>
                  <a:lnTo>
                    <a:pt x="390525" y="0"/>
                  </a:lnTo>
                  <a:close/>
                </a:path>
              </a:pathLst>
            </a:custGeom>
            <a:solidFill>
              <a:srgbClr val="000000"/>
            </a:solidFill>
            <a:ln w="9525" cap="flat">
              <a:solidFill>
                <a:schemeClr val="tx1"/>
              </a:solidFill>
              <a:prstDash val="solid"/>
              <a:miter/>
            </a:ln>
          </p:spPr>
          <p:txBody>
            <a:bodyPr rtlCol="0" anchor="ctr"/>
            <a:lstStyle/>
            <a:p>
              <a:endParaRPr lang="en-GB" dirty="0"/>
            </a:p>
          </p:txBody>
        </p:sp>
      </p:grpSp>
      <p:sp>
        <p:nvSpPr>
          <p:cNvPr id="102" name="TextBox 101">
            <a:extLst>
              <a:ext uri="{FF2B5EF4-FFF2-40B4-BE49-F238E27FC236}">
                <a16:creationId xmlns:a16="http://schemas.microsoft.com/office/drawing/2014/main" id="{09EC9269-86BF-1B55-3348-DA02FD88A3B2}"/>
              </a:ext>
            </a:extLst>
          </p:cNvPr>
          <p:cNvSpPr txBox="1"/>
          <p:nvPr/>
        </p:nvSpPr>
        <p:spPr>
          <a:xfrm>
            <a:off x="6202162" y="2741490"/>
            <a:ext cx="631904" cy="261610"/>
          </a:xfrm>
          <a:prstGeom prst="rect">
            <a:avLst/>
          </a:prstGeom>
          <a:noFill/>
        </p:spPr>
        <p:txBody>
          <a:bodyPr wrap="none" rtlCol="0">
            <a:spAutoFit/>
          </a:bodyPr>
          <a:lstStyle/>
          <a:p>
            <a:r>
              <a:rPr lang="en-US" sz="1100" dirty="0" err="1">
                <a:latin typeface="Arial" panose="020B0604020202020204" pitchFamily="34" charset="0"/>
                <a:cs typeface="Arial" panose="020B0604020202020204" pitchFamily="34" charset="0"/>
              </a:rPr>
              <a:t>Bereit</a:t>
            </a:r>
            <a:r>
              <a:rPr lang="en-US" sz="1100" dirty="0">
                <a:latin typeface="Arial" panose="020B0604020202020204" pitchFamily="34" charset="0"/>
                <a:cs typeface="Arial" panose="020B0604020202020204" pitchFamily="34" charset="0"/>
              </a:rPr>
              <a:t>?</a:t>
            </a:r>
          </a:p>
        </p:txBody>
      </p:sp>
      <p:sp>
        <p:nvSpPr>
          <p:cNvPr id="103" name="Abgerundetes Rechteck 2">
            <a:extLst>
              <a:ext uri="{FF2B5EF4-FFF2-40B4-BE49-F238E27FC236}">
                <a16:creationId xmlns:a16="http://schemas.microsoft.com/office/drawing/2014/main" id="{0D06C5D1-1D6B-0F84-34F0-FED52F46E59F}"/>
              </a:ext>
            </a:extLst>
          </p:cNvPr>
          <p:cNvSpPr/>
          <p:nvPr/>
        </p:nvSpPr>
        <p:spPr>
          <a:xfrm>
            <a:off x="6077745" y="152378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900" dirty="0">
                <a:solidFill>
                  <a:schemeClr val="tx1"/>
                </a:solidFill>
                <a:latin typeface="+mn-ea"/>
              </a:rPr>
              <a:t>Anziehen</a:t>
            </a:r>
          </a:p>
        </p:txBody>
      </p:sp>
      <p:sp>
        <p:nvSpPr>
          <p:cNvPr id="104" name="Abgerundetes Rechteck 2">
            <a:extLst>
              <a:ext uri="{FF2B5EF4-FFF2-40B4-BE49-F238E27FC236}">
                <a16:creationId xmlns:a16="http://schemas.microsoft.com/office/drawing/2014/main" id="{B9A1E1F2-A050-F0BE-1869-CAC2AF5C608C}"/>
              </a:ext>
            </a:extLst>
          </p:cNvPr>
          <p:cNvSpPr/>
          <p:nvPr/>
        </p:nvSpPr>
        <p:spPr>
          <a:xfrm>
            <a:off x="7218234" y="152378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900" dirty="0">
                <a:solidFill>
                  <a:schemeClr val="tx1"/>
                </a:solidFill>
                <a:latin typeface="+mn-ea"/>
              </a:rPr>
              <a:t>Tasche packen</a:t>
            </a:r>
          </a:p>
        </p:txBody>
      </p:sp>
      <p:sp>
        <p:nvSpPr>
          <p:cNvPr id="105" name="Abgerundetes Rechteck 2">
            <a:extLst>
              <a:ext uri="{FF2B5EF4-FFF2-40B4-BE49-F238E27FC236}">
                <a16:creationId xmlns:a16="http://schemas.microsoft.com/office/drawing/2014/main" id="{7AE8A1D6-C48B-EFDC-E664-6B3348F48E00}"/>
              </a:ext>
            </a:extLst>
          </p:cNvPr>
          <p:cNvSpPr/>
          <p:nvPr/>
        </p:nvSpPr>
        <p:spPr>
          <a:xfrm>
            <a:off x="8409171" y="228008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de-DE" sz="900" dirty="0" err="1">
                <a:solidFill>
                  <a:schemeClr val="tx1"/>
                </a:solidFill>
                <a:latin typeface="+mn-ea"/>
              </a:rPr>
              <a:t>Pre</a:t>
            </a:r>
            <a:r>
              <a:rPr lang="de-DE" sz="900" dirty="0">
                <a:solidFill>
                  <a:schemeClr val="tx1"/>
                </a:solidFill>
                <a:latin typeface="+mn-ea"/>
              </a:rPr>
              <a:t>-Workout trinken</a:t>
            </a:r>
          </a:p>
        </p:txBody>
      </p:sp>
      <p:sp>
        <p:nvSpPr>
          <p:cNvPr id="106" name="Abgerundetes Rechteck 2">
            <a:extLst>
              <a:ext uri="{FF2B5EF4-FFF2-40B4-BE49-F238E27FC236}">
                <a16:creationId xmlns:a16="http://schemas.microsoft.com/office/drawing/2014/main" id="{EB3F0A4C-CF13-53D8-DF87-8278A8ACD947}"/>
              </a:ext>
            </a:extLst>
          </p:cNvPr>
          <p:cNvSpPr/>
          <p:nvPr/>
        </p:nvSpPr>
        <p:spPr>
          <a:xfrm>
            <a:off x="9699723" y="2280087"/>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900" dirty="0">
                <a:solidFill>
                  <a:schemeClr val="tx1"/>
                </a:solidFill>
                <a:latin typeface="+mn-ea"/>
              </a:rPr>
              <a:t>Antwort senden</a:t>
            </a:r>
          </a:p>
        </p:txBody>
      </p:sp>
      <p:cxnSp>
        <p:nvCxnSpPr>
          <p:cNvPr id="111" name="Straight Arrow Connector 110">
            <a:extLst>
              <a:ext uri="{FF2B5EF4-FFF2-40B4-BE49-F238E27FC236}">
                <a16:creationId xmlns:a16="http://schemas.microsoft.com/office/drawing/2014/main" id="{547ADD58-E6EF-36DC-2935-66FB76CB3FBC}"/>
              </a:ext>
            </a:extLst>
          </p:cNvPr>
          <p:cNvCxnSpPr>
            <a:cxnSpLocks/>
            <a:stCxn id="98" idx="3"/>
            <a:endCxn id="100" idx="1"/>
          </p:cNvCxnSpPr>
          <p:nvPr/>
        </p:nvCxnSpPr>
        <p:spPr>
          <a:xfrm flipV="1">
            <a:off x="5943332" y="2519427"/>
            <a:ext cx="386398" cy="3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246FECED-AFC9-FEFE-EDBD-118D96093C8A}"/>
              </a:ext>
            </a:extLst>
          </p:cNvPr>
          <p:cNvCxnSpPr>
            <a:cxnSpLocks/>
            <a:stCxn id="100" idx="0"/>
            <a:endCxn id="103" idx="2"/>
          </p:cNvCxnSpPr>
          <p:nvPr/>
        </p:nvCxnSpPr>
        <p:spPr>
          <a:xfrm flipH="1" flipV="1">
            <a:off x="6507929" y="1980987"/>
            <a:ext cx="1" cy="36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02DC104-1147-44E7-C837-8EC3F6666F5B}"/>
              </a:ext>
            </a:extLst>
          </p:cNvPr>
          <p:cNvCxnSpPr>
            <a:cxnSpLocks/>
            <a:stCxn id="103" idx="3"/>
            <a:endCxn id="104" idx="1"/>
          </p:cNvCxnSpPr>
          <p:nvPr/>
        </p:nvCxnSpPr>
        <p:spPr>
          <a:xfrm>
            <a:off x="6938113" y="1752387"/>
            <a:ext cx="2801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1B17683-9FA7-825E-7C69-343321B1ADF1}"/>
              </a:ext>
            </a:extLst>
          </p:cNvPr>
          <p:cNvCxnSpPr>
            <a:cxnSpLocks/>
            <a:stCxn id="104" idx="2"/>
            <a:endCxn id="215" idx="0"/>
          </p:cNvCxnSpPr>
          <p:nvPr/>
        </p:nvCxnSpPr>
        <p:spPr>
          <a:xfrm flipH="1">
            <a:off x="7643327" y="1980987"/>
            <a:ext cx="5091" cy="334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493C6467-E430-B73D-752A-69797070DCC5}"/>
              </a:ext>
            </a:extLst>
          </p:cNvPr>
          <p:cNvCxnSpPr>
            <a:cxnSpLocks/>
            <a:stCxn id="100" idx="3"/>
            <a:endCxn id="215" idx="1"/>
          </p:cNvCxnSpPr>
          <p:nvPr/>
        </p:nvCxnSpPr>
        <p:spPr>
          <a:xfrm flipV="1">
            <a:off x="6686130" y="2493844"/>
            <a:ext cx="778997" cy="2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7AE5F05B-F467-D50A-413F-E7633488584D}"/>
              </a:ext>
            </a:extLst>
          </p:cNvPr>
          <p:cNvCxnSpPr>
            <a:cxnSpLocks/>
            <a:stCxn id="105" idx="3"/>
            <a:endCxn id="106" idx="1"/>
          </p:cNvCxnSpPr>
          <p:nvPr/>
        </p:nvCxnSpPr>
        <p:spPr>
          <a:xfrm>
            <a:off x="9269539" y="2508687"/>
            <a:ext cx="4301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E437D3-CA9E-20DE-610C-F2B1AA4C3BC8}"/>
              </a:ext>
            </a:extLst>
          </p:cNvPr>
          <p:cNvCxnSpPr>
            <a:cxnSpLocks/>
            <a:stCxn id="50" idx="0"/>
          </p:cNvCxnSpPr>
          <p:nvPr/>
        </p:nvCxnSpPr>
        <p:spPr>
          <a:xfrm flipH="1" flipV="1">
            <a:off x="9667045" y="3348550"/>
            <a:ext cx="1" cy="827975"/>
          </a:xfrm>
          <a:prstGeom prst="line">
            <a:avLst/>
          </a:prstGeom>
          <a:ln cmpd="sng">
            <a:prstDash val="soli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9C913D0-66D3-09DE-40BC-D6FB34DCEC5B}"/>
              </a:ext>
            </a:extLst>
          </p:cNvPr>
          <p:cNvCxnSpPr>
            <a:cxnSpLocks/>
          </p:cNvCxnSpPr>
          <p:nvPr/>
        </p:nvCxnSpPr>
        <p:spPr>
          <a:xfrm flipH="1" flipV="1">
            <a:off x="5505470" y="3348550"/>
            <a:ext cx="4161575" cy="689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5CE230CB-AEF8-9798-C51F-E518657AEC4E}"/>
              </a:ext>
            </a:extLst>
          </p:cNvPr>
          <p:cNvCxnSpPr>
            <a:cxnSpLocks/>
            <a:endCxn id="98" idx="2"/>
          </p:cNvCxnSpPr>
          <p:nvPr/>
        </p:nvCxnSpPr>
        <p:spPr>
          <a:xfrm flipV="1">
            <a:off x="5505470" y="2751307"/>
            <a:ext cx="7678" cy="597243"/>
          </a:xfrm>
          <a:prstGeom prst="straightConnector1">
            <a:avLst/>
          </a:prstGeom>
          <a:ln>
            <a:prstDash val="solid"/>
            <a:tailEnd type="triangle"/>
          </a:ln>
        </p:spPr>
        <p:style>
          <a:lnRef idx="1">
            <a:schemeClr val="accent1"/>
          </a:lnRef>
          <a:fillRef idx="0">
            <a:schemeClr val="accent1"/>
          </a:fillRef>
          <a:effectRef idx="0">
            <a:schemeClr val="accent1"/>
          </a:effectRef>
          <a:fontRef idx="minor">
            <a:schemeClr val="tx1"/>
          </a:fontRef>
        </p:style>
      </p:cxnSp>
      <p:sp>
        <p:nvSpPr>
          <p:cNvPr id="152" name="Flussdiagramm: Verbinder 19">
            <a:extLst>
              <a:ext uri="{FF2B5EF4-FFF2-40B4-BE49-F238E27FC236}">
                <a16:creationId xmlns:a16="http://schemas.microsoft.com/office/drawing/2014/main" id="{5CEF575C-4771-D8EE-51F3-A581447CDC7A}"/>
              </a:ext>
            </a:extLst>
          </p:cNvPr>
          <p:cNvSpPr/>
          <p:nvPr/>
        </p:nvSpPr>
        <p:spPr>
          <a:xfrm>
            <a:off x="11084770" y="3827401"/>
            <a:ext cx="356400" cy="356400"/>
          </a:xfrm>
          <a:prstGeom prst="flowChartConnector">
            <a:avLst/>
          </a:prstGeom>
          <a:no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53" name="TextBox 152">
            <a:extLst>
              <a:ext uri="{FF2B5EF4-FFF2-40B4-BE49-F238E27FC236}">
                <a16:creationId xmlns:a16="http://schemas.microsoft.com/office/drawing/2014/main" id="{1065A88A-3E3B-4532-C241-560C3AC73035}"/>
              </a:ext>
            </a:extLst>
          </p:cNvPr>
          <p:cNvSpPr txBox="1"/>
          <p:nvPr/>
        </p:nvSpPr>
        <p:spPr>
          <a:xfrm>
            <a:off x="10740327" y="4231196"/>
            <a:ext cx="1255472" cy="261610"/>
          </a:xfrm>
          <a:prstGeom prst="rect">
            <a:avLst/>
          </a:prstGeom>
          <a:noFill/>
        </p:spPr>
        <p:txBody>
          <a:bodyPr wrap="none" rtlCol="0">
            <a:spAutoFit/>
          </a:bodyPr>
          <a:lstStyle/>
          <a:p>
            <a:r>
              <a:rPr lang="en-US" sz="1100" dirty="0" err="1"/>
              <a:t>Bereit</a:t>
            </a:r>
            <a:r>
              <a:rPr lang="en-US" sz="1100" dirty="0"/>
              <a:t> für das Gym</a:t>
            </a:r>
          </a:p>
        </p:txBody>
      </p:sp>
      <p:cxnSp>
        <p:nvCxnSpPr>
          <p:cNvPr id="154" name="Straight Arrow Connector 153">
            <a:extLst>
              <a:ext uri="{FF2B5EF4-FFF2-40B4-BE49-F238E27FC236}">
                <a16:creationId xmlns:a16="http://schemas.microsoft.com/office/drawing/2014/main" id="{A1214B28-0214-5511-49B4-21DC294A879E}"/>
              </a:ext>
            </a:extLst>
          </p:cNvPr>
          <p:cNvCxnSpPr>
            <a:cxnSpLocks/>
            <a:stCxn id="106" idx="3"/>
          </p:cNvCxnSpPr>
          <p:nvPr/>
        </p:nvCxnSpPr>
        <p:spPr>
          <a:xfrm>
            <a:off x="10560091" y="2508687"/>
            <a:ext cx="0" cy="2442692"/>
          </a:xfrm>
          <a:prstGeom prst="straightConnector1">
            <a:avLst/>
          </a:prstGeom>
          <a:ln>
            <a:prstDash val="solid"/>
            <a:tailEnd type="triangle"/>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7ECE844A-E5B8-5B22-F397-598F48EA79C8}"/>
              </a:ext>
            </a:extLst>
          </p:cNvPr>
          <p:cNvSpPr txBox="1"/>
          <p:nvPr/>
        </p:nvSpPr>
        <p:spPr>
          <a:xfrm>
            <a:off x="4992141" y="4865082"/>
            <a:ext cx="306494" cy="230832"/>
          </a:xfrm>
          <a:prstGeom prst="rect">
            <a:avLst/>
          </a:prstGeom>
          <a:noFill/>
        </p:spPr>
        <p:txBody>
          <a:bodyPr wrap="none" rtlCol="0">
            <a:spAutoFit/>
          </a:bodyPr>
          <a:lstStyle/>
          <a:p>
            <a:r>
              <a:rPr lang="en-US" sz="900" dirty="0">
                <a:latin typeface="+mn-ea"/>
              </a:rPr>
              <a:t>Ja</a:t>
            </a:r>
          </a:p>
        </p:txBody>
      </p:sp>
      <p:sp>
        <p:nvSpPr>
          <p:cNvPr id="199" name="TextBox 198">
            <a:extLst>
              <a:ext uri="{FF2B5EF4-FFF2-40B4-BE49-F238E27FC236}">
                <a16:creationId xmlns:a16="http://schemas.microsoft.com/office/drawing/2014/main" id="{FE0519E1-3220-49A6-0CD6-EA678DBE884C}"/>
              </a:ext>
            </a:extLst>
          </p:cNvPr>
          <p:cNvSpPr txBox="1"/>
          <p:nvPr/>
        </p:nvSpPr>
        <p:spPr>
          <a:xfrm>
            <a:off x="5360370" y="5128123"/>
            <a:ext cx="447558" cy="246221"/>
          </a:xfrm>
          <a:prstGeom prst="rect">
            <a:avLst/>
          </a:prstGeom>
          <a:noFill/>
        </p:spPr>
        <p:txBody>
          <a:bodyPr wrap="none" rtlCol="0">
            <a:spAutoFit/>
          </a:bodyPr>
          <a:lstStyle/>
          <a:p>
            <a:r>
              <a:rPr lang="en-US" sz="1000" dirty="0">
                <a:latin typeface="+mn-ea"/>
              </a:rPr>
              <a:t>Nein</a:t>
            </a:r>
          </a:p>
        </p:txBody>
      </p:sp>
      <p:sp>
        <p:nvSpPr>
          <p:cNvPr id="208" name="TextBox 207">
            <a:extLst>
              <a:ext uri="{FF2B5EF4-FFF2-40B4-BE49-F238E27FC236}">
                <a16:creationId xmlns:a16="http://schemas.microsoft.com/office/drawing/2014/main" id="{9AB2F003-1038-8BDB-94C2-0D3C69B2DADB}"/>
              </a:ext>
            </a:extLst>
          </p:cNvPr>
          <p:cNvSpPr txBox="1"/>
          <p:nvPr/>
        </p:nvSpPr>
        <p:spPr>
          <a:xfrm>
            <a:off x="6089792" y="2177904"/>
            <a:ext cx="428322" cy="246221"/>
          </a:xfrm>
          <a:prstGeom prst="rect">
            <a:avLst/>
          </a:prstGeom>
          <a:noFill/>
        </p:spPr>
        <p:txBody>
          <a:bodyPr wrap="none" rtlCol="0">
            <a:spAutoFit/>
          </a:bodyPr>
          <a:lstStyle/>
          <a:p>
            <a:r>
              <a:rPr lang="en-US" sz="1000" dirty="0"/>
              <a:t>Nein</a:t>
            </a:r>
          </a:p>
        </p:txBody>
      </p:sp>
      <p:sp>
        <p:nvSpPr>
          <p:cNvPr id="209" name="TextBox 208">
            <a:extLst>
              <a:ext uri="{FF2B5EF4-FFF2-40B4-BE49-F238E27FC236}">
                <a16:creationId xmlns:a16="http://schemas.microsoft.com/office/drawing/2014/main" id="{0580E2D7-A89D-8BE4-C7E1-E656BB91781A}"/>
              </a:ext>
            </a:extLst>
          </p:cNvPr>
          <p:cNvSpPr txBox="1"/>
          <p:nvPr/>
        </p:nvSpPr>
        <p:spPr>
          <a:xfrm>
            <a:off x="6596297" y="2303908"/>
            <a:ext cx="287258" cy="246221"/>
          </a:xfrm>
          <a:prstGeom prst="rect">
            <a:avLst/>
          </a:prstGeom>
          <a:noFill/>
        </p:spPr>
        <p:txBody>
          <a:bodyPr wrap="none" rtlCol="0">
            <a:spAutoFit/>
          </a:bodyPr>
          <a:lstStyle/>
          <a:p>
            <a:r>
              <a:rPr lang="en-US" sz="1000" dirty="0"/>
              <a:t>Ja</a:t>
            </a:r>
          </a:p>
        </p:txBody>
      </p:sp>
      <p:grpSp>
        <p:nvGrpSpPr>
          <p:cNvPr id="214" name="Gruppieren 37">
            <a:extLst>
              <a:ext uri="{FF2B5EF4-FFF2-40B4-BE49-F238E27FC236}">
                <a16:creationId xmlns:a16="http://schemas.microsoft.com/office/drawing/2014/main" id="{79485D3D-DB58-F80F-33B9-D702F144C438}"/>
              </a:ext>
            </a:extLst>
          </p:cNvPr>
          <p:cNvGrpSpPr/>
          <p:nvPr/>
        </p:nvGrpSpPr>
        <p:grpSpPr>
          <a:xfrm>
            <a:off x="7465127" y="2315644"/>
            <a:ext cx="356400" cy="356400"/>
            <a:chOff x="6102170" y="2863994"/>
            <a:chExt cx="225025" cy="222483"/>
          </a:xfrm>
        </p:grpSpPr>
        <p:sp>
          <p:nvSpPr>
            <p:cNvPr id="215" name="Raute 38">
              <a:extLst>
                <a:ext uri="{FF2B5EF4-FFF2-40B4-BE49-F238E27FC236}">
                  <a16:creationId xmlns:a16="http://schemas.microsoft.com/office/drawing/2014/main" id="{6B5810D8-3A12-10D0-F60E-69D9BC65E692}"/>
                </a:ext>
              </a:extLst>
            </p:cNvPr>
            <p:cNvSpPr/>
            <p:nvPr/>
          </p:nvSpPr>
          <p:spPr>
            <a:xfrm>
              <a:off x="6102170" y="2863994"/>
              <a:ext cx="225025" cy="222483"/>
            </a:xfrm>
            <a:prstGeom prst="diamond">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6" name="Grafik 38" descr="Hinzufügen Silhouette">
              <a:extLst>
                <a:ext uri="{FF2B5EF4-FFF2-40B4-BE49-F238E27FC236}">
                  <a16:creationId xmlns:a16="http://schemas.microsoft.com/office/drawing/2014/main" id="{CD311071-DB20-6455-F980-D8015E50A0A9}"/>
                </a:ext>
              </a:extLst>
            </p:cNvPr>
            <p:cNvSpPr/>
            <p:nvPr/>
          </p:nvSpPr>
          <p:spPr>
            <a:xfrm rot="2688311">
              <a:off x="6160682" y="2920227"/>
              <a:ext cx="108000" cy="108000"/>
            </a:xfrm>
            <a:custGeom>
              <a:avLst/>
              <a:gdLst>
                <a:gd name="connsiteX0" fmla="*/ 390525 w 762000"/>
                <a:gd name="connsiteY0" fmla="*/ 0 h 762000"/>
                <a:gd name="connsiteX1" fmla="*/ 371475 w 762000"/>
                <a:gd name="connsiteY1" fmla="*/ 0 h 762000"/>
                <a:gd name="connsiteX2" fmla="*/ 371475 w 762000"/>
                <a:gd name="connsiteY2" fmla="*/ 371475 h 762000"/>
                <a:gd name="connsiteX3" fmla="*/ 0 w 762000"/>
                <a:gd name="connsiteY3" fmla="*/ 371475 h 762000"/>
                <a:gd name="connsiteX4" fmla="*/ 0 w 762000"/>
                <a:gd name="connsiteY4" fmla="*/ 390525 h 762000"/>
                <a:gd name="connsiteX5" fmla="*/ 371475 w 762000"/>
                <a:gd name="connsiteY5" fmla="*/ 390525 h 762000"/>
                <a:gd name="connsiteX6" fmla="*/ 371475 w 762000"/>
                <a:gd name="connsiteY6" fmla="*/ 762000 h 762000"/>
                <a:gd name="connsiteX7" fmla="*/ 390525 w 762000"/>
                <a:gd name="connsiteY7" fmla="*/ 762000 h 762000"/>
                <a:gd name="connsiteX8" fmla="*/ 390525 w 762000"/>
                <a:gd name="connsiteY8" fmla="*/ 390525 h 762000"/>
                <a:gd name="connsiteX9" fmla="*/ 762000 w 762000"/>
                <a:gd name="connsiteY9" fmla="*/ 390525 h 762000"/>
                <a:gd name="connsiteX10" fmla="*/ 762000 w 762000"/>
                <a:gd name="connsiteY10" fmla="*/ 371475 h 762000"/>
                <a:gd name="connsiteX11" fmla="*/ 390525 w 762000"/>
                <a:gd name="connsiteY11" fmla="*/ 371475 h 762000"/>
                <a:gd name="connsiteX12" fmla="*/ 390525 w 762000"/>
                <a:gd name="connsiteY12"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2000" h="762000">
                  <a:moveTo>
                    <a:pt x="390525" y="0"/>
                  </a:moveTo>
                  <a:lnTo>
                    <a:pt x="371475" y="0"/>
                  </a:lnTo>
                  <a:lnTo>
                    <a:pt x="371475" y="371475"/>
                  </a:lnTo>
                  <a:lnTo>
                    <a:pt x="0" y="371475"/>
                  </a:lnTo>
                  <a:lnTo>
                    <a:pt x="0" y="390525"/>
                  </a:lnTo>
                  <a:lnTo>
                    <a:pt x="371475" y="390525"/>
                  </a:lnTo>
                  <a:lnTo>
                    <a:pt x="371475" y="762000"/>
                  </a:lnTo>
                  <a:lnTo>
                    <a:pt x="390525" y="762000"/>
                  </a:lnTo>
                  <a:lnTo>
                    <a:pt x="390525" y="390525"/>
                  </a:lnTo>
                  <a:lnTo>
                    <a:pt x="762000" y="390525"/>
                  </a:lnTo>
                  <a:lnTo>
                    <a:pt x="762000" y="371475"/>
                  </a:lnTo>
                  <a:lnTo>
                    <a:pt x="390525" y="371475"/>
                  </a:lnTo>
                  <a:lnTo>
                    <a:pt x="390525" y="0"/>
                  </a:lnTo>
                  <a:close/>
                </a:path>
              </a:pathLst>
            </a:custGeom>
            <a:solidFill>
              <a:srgbClr val="000000"/>
            </a:solidFill>
            <a:ln w="9525" cap="flat">
              <a:solidFill>
                <a:schemeClr val="tx1"/>
              </a:solidFill>
              <a:prstDash val="solid"/>
              <a:miter/>
            </a:ln>
          </p:spPr>
          <p:txBody>
            <a:bodyPr rtlCol="0" anchor="ctr"/>
            <a:lstStyle/>
            <a:p>
              <a:endParaRPr lang="en-GB" dirty="0"/>
            </a:p>
          </p:txBody>
        </p:sp>
      </p:grpSp>
      <p:cxnSp>
        <p:nvCxnSpPr>
          <p:cNvPr id="219" name="Straight Arrow Connector 218">
            <a:extLst>
              <a:ext uri="{FF2B5EF4-FFF2-40B4-BE49-F238E27FC236}">
                <a16:creationId xmlns:a16="http://schemas.microsoft.com/office/drawing/2014/main" id="{65A3C020-707B-26C0-302C-91497D507AF0}"/>
              </a:ext>
            </a:extLst>
          </p:cNvPr>
          <p:cNvCxnSpPr>
            <a:cxnSpLocks/>
            <a:stCxn id="215" idx="3"/>
            <a:endCxn id="105" idx="1"/>
          </p:cNvCxnSpPr>
          <p:nvPr/>
        </p:nvCxnSpPr>
        <p:spPr>
          <a:xfrm>
            <a:off x="7821527" y="2493844"/>
            <a:ext cx="587644" cy="14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8" name="Abgerundetes Rechteck 2">
            <a:extLst>
              <a:ext uri="{FF2B5EF4-FFF2-40B4-BE49-F238E27FC236}">
                <a16:creationId xmlns:a16="http://schemas.microsoft.com/office/drawing/2014/main" id="{73D4A1E6-D618-C1B6-98A8-C5D0814A6FAA}"/>
              </a:ext>
            </a:extLst>
          </p:cNvPr>
          <p:cNvSpPr/>
          <p:nvPr/>
        </p:nvSpPr>
        <p:spPr>
          <a:xfrm>
            <a:off x="10129907" y="4969180"/>
            <a:ext cx="860368"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de-DE" sz="800" dirty="0">
                <a:solidFill>
                  <a:schemeClr val="tx1"/>
                </a:solidFill>
                <a:latin typeface="+mn-ea"/>
              </a:rPr>
              <a:t>Unten treffen</a:t>
            </a:r>
          </a:p>
        </p:txBody>
      </p:sp>
      <p:cxnSp>
        <p:nvCxnSpPr>
          <p:cNvPr id="229" name="Straight Arrow Connector 228">
            <a:extLst>
              <a:ext uri="{FF2B5EF4-FFF2-40B4-BE49-F238E27FC236}">
                <a16:creationId xmlns:a16="http://schemas.microsoft.com/office/drawing/2014/main" id="{E7FEF902-3425-DE55-D843-6DB2CD77065F}"/>
              </a:ext>
            </a:extLst>
          </p:cNvPr>
          <p:cNvCxnSpPr>
            <a:cxnSpLocks/>
            <a:stCxn id="228" idx="3"/>
            <a:endCxn id="152" idx="4"/>
          </p:cNvCxnSpPr>
          <p:nvPr/>
        </p:nvCxnSpPr>
        <p:spPr>
          <a:xfrm flipV="1">
            <a:off x="10990275" y="4183801"/>
            <a:ext cx="272695" cy="1013979"/>
          </a:xfrm>
          <a:prstGeom prst="straightConnector1">
            <a:avLst/>
          </a:prstGeom>
          <a:ln>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87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DD3DB-42D7-4D64-B445-1CA380B8D48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45E0C437-3016-4CE4-A4C8-63710D2C6516}"/>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562EF406-C45A-41CE-B801-BB0129EE2629}"/>
              </a:ext>
            </a:extLst>
          </p:cNvPr>
          <p:cNvSpPr>
            <a:spLocks noGrp="1"/>
          </p:cNvSpPr>
          <p:nvPr>
            <p:ph type="sldNum" sz="quarter" idx="4"/>
          </p:nvPr>
        </p:nvSpPr>
        <p:spPr/>
        <p:txBody>
          <a:bodyPr/>
          <a:lstStyle/>
          <a:p>
            <a:pPr>
              <a:defRPr/>
            </a:pPr>
            <a:fld id="{B6F15528-21DE-4FAA-801E-634DDDAF4B2B}" type="slidenum">
              <a:rPr lang="de-DE" smtClean="0"/>
              <a:t>5</a:t>
            </a:fld>
            <a:endParaRPr lang="de-DE"/>
          </a:p>
        </p:txBody>
      </p:sp>
      <p:sp>
        <p:nvSpPr>
          <p:cNvPr id="7" name="Titel 6">
            <a:extLst>
              <a:ext uri="{FF2B5EF4-FFF2-40B4-BE49-F238E27FC236}">
                <a16:creationId xmlns:a16="http://schemas.microsoft.com/office/drawing/2014/main" id="{6110CB1A-79EA-43E4-B07E-257B21EBAC6E}"/>
              </a:ext>
            </a:extLst>
          </p:cNvPr>
          <p:cNvSpPr>
            <a:spLocks noGrp="1"/>
          </p:cNvSpPr>
          <p:nvPr>
            <p:ph type="title"/>
          </p:nvPr>
        </p:nvSpPr>
        <p:spPr>
          <a:xfrm>
            <a:off x="151155" y="535760"/>
            <a:ext cx="10515600" cy="1325033"/>
          </a:xfrm>
        </p:spPr>
        <p:txBody>
          <a:bodyPr/>
          <a:lstStyle/>
          <a:p>
            <a:r>
              <a:rPr lang="en-GB" dirty="0"/>
              <a:t>Aufgabe 1B</a:t>
            </a:r>
          </a:p>
        </p:txBody>
      </p:sp>
      <p:sp>
        <p:nvSpPr>
          <p:cNvPr id="10" name="Textfeld 9">
            <a:extLst>
              <a:ext uri="{FF2B5EF4-FFF2-40B4-BE49-F238E27FC236}">
                <a16:creationId xmlns:a16="http://schemas.microsoft.com/office/drawing/2014/main" id="{9CF93455-E584-4E90-9C1F-F02601CF11D3}"/>
              </a:ext>
            </a:extLst>
          </p:cNvPr>
          <p:cNvSpPr txBox="1"/>
          <p:nvPr/>
        </p:nvSpPr>
        <p:spPr>
          <a:xfrm>
            <a:off x="151155" y="1488555"/>
            <a:ext cx="7505491" cy="3559949"/>
          </a:xfrm>
          <a:prstGeom prst="rect">
            <a:avLst/>
          </a:prstGeom>
          <a:noFill/>
        </p:spPr>
        <p:txBody>
          <a:bodyPr wrap="square" rtlCol="0">
            <a:spAutoFit/>
          </a:bodyPr>
          <a:lstStyle/>
          <a:p>
            <a:pPr algn="just">
              <a:spcAft>
                <a:spcPts val="400"/>
              </a:spcAft>
            </a:pPr>
            <a:r>
              <a:rPr lang="de-DE" sz="1800" dirty="0">
                <a:effectLst/>
                <a:latin typeface="Arial" panose="020B0604020202020204" pitchFamily="34" charset="0"/>
                <a:ea typeface="Times New Roman" panose="02020603050405020304" pitchFamily="18" charset="0"/>
                <a:cs typeface="Times New Roman" panose="02020603050405020304" pitchFamily="18" charset="0"/>
              </a:rPr>
              <a:t>Wählen Sie einen </a:t>
            </a:r>
            <a:r>
              <a:rPr lang="de-DE" b="1" dirty="0">
                <a:latin typeface="Arial" panose="020B0604020202020204" pitchFamily="34" charset="0"/>
                <a:ea typeface="Times New Roman" panose="02020603050405020304" pitchFamily="18" charset="0"/>
                <a:cs typeface="Times New Roman" panose="02020603050405020304" pitchFamily="18" charset="0"/>
              </a:rPr>
              <a:t>weiteren</a:t>
            </a:r>
            <a:r>
              <a:rPr lang="de-DE" sz="1800" dirty="0">
                <a:effectLst/>
                <a:latin typeface="Arial" panose="020B0604020202020204" pitchFamily="34" charset="0"/>
                <a:ea typeface="Times New Roman" panose="02020603050405020304" pitchFamily="18" charset="0"/>
                <a:cs typeface="Times New Roman" panose="02020603050405020304" pitchFamily="18" charset="0"/>
              </a:rPr>
              <a:t> alltäglichen Prozess oder Ablauf Ihres eigenen Lebens und stellen Sie diesen mithilfe der Ereignisgesteuerten Prozesskette (EPK) dar. Sie können folgende Beispiele als Inspiration nutzen:</a:t>
            </a:r>
          </a:p>
          <a:p>
            <a:pPr algn="just">
              <a:spcAft>
                <a:spcPts val="400"/>
              </a:spcAft>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Beschreiben Sie Ihre Morgenroutine (vom Aufstehen bis zur ersten Vorlesung)</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Stellen Sie einen Teil einer Trainingseinheit in ihrem Sportverein dar</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Modellieren Sie die Ausführung eines Ihrer Hobbies (z.B. Zeichnen, Wandern, Musizieren, …)</a:t>
            </a:r>
          </a:p>
          <a:p>
            <a:pPr marL="342900" lvl="0" indent="-342900" algn="just">
              <a:spcAft>
                <a:spcPts val="400"/>
              </a:spcAft>
              <a:buFont typeface="Symbol" panose="05050102010706020507" pitchFamily="18" charset="2"/>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 </a:t>
            </a:r>
            <a:endParaRPr lang="de-DE" dirty="0">
              <a:latin typeface="Arial" panose="020B0604020202020204" pitchFamily="34" charset="0"/>
              <a:ea typeface="Times New Roman" panose="02020603050405020304" pitchFamily="18" charset="0"/>
              <a:cs typeface="Times New Roman" panose="02020603050405020304" pitchFamily="18" charset="0"/>
            </a:endParaRPr>
          </a:p>
          <a:p>
            <a:pPr lvl="0" algn="just">
              <a:spcAft>
                <a:spcPts val="400"/>
              </a:spcAft>
            </a:pPr>
            <a:r>
              <a:rPr lang="de-DE" sz="1400" dirty="0">
                <a:latin typeface="Arial" panose="020B0604020202020204" pitchFamily="34" charset="0"/>
                <a:ea typeface="Times New Roman" panose="02020603050405020304" pitchFamily="18" charset="0"/>
                <a:cs typeface="Times New Roman" panose="02020603050405020304" pitchFamily="18" charset="0"/>
              </a:rPr>
              <a:t>Der von Ihnen modellierte Prozess sollte mindestens 6 Ereignisse, 2 Funktionen und 2 Verknüpfungsoperatoren beinhalten. Als Orientierung können Sie die präsentierte Abbildung verwenden.</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6" name="Grafik 5">
            <a:extLst>
              <a:ext uri="{FF2B5EF4-FFF2-40B4-BE49-F238E27FC236}">
                <a16:creationId xmlns:a16="http://schemas.microsoft.com/office/drawing/2014/main" id="{020DA017-F6C4-4133-9C12-1890D2F9632D}"/>
              </a:ext>
            </a:extLst>
          </p:cNvPr>
          <p:cNvPicPr>
            <a:picLocks noChangeAspect="1"/>
          </p:cNvPicPr>
          <p:nvPr/>
        </p:nvPicPr>
        <p:blipFill>
          <a:blip r:embed="rId2"/>
          <a:stretch>
            <a:fillRect/>
          </a:stretch>
        </p:blipFill>
        <p:spPr>
          <a:xfrm>
            <a:off x="8051367" y="1127385"/>
            <a:ext cx="3214396" cy="5214984"/>
          </a:xfrm>
          <a:prstGeom prst="rect">
            <a:avLst/>
          </a:prstGeom>
        </p:spPr>
      </p:pic>
    </p:spTree>
    <p:extLst>
      <p:ext uri="{BB962C8B-B14F-4D97-AF65-F5344CB8AC3E}">
        <p14:creationId xmlns:p14="http://schemas.microsoft.com/office/powerpoint/2010/main" val="57362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hseck 1"/>
          <p:cNvSpPr/>
          <p:nvPr/>
        </p:nvSpPr>
        <p:spPr>
          <a:xfrm>
            <a:off x="2133951" y="1217771"/>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de-DE" dirty="0">
                <a:solidFill>
                  <a:schemeClr val="tx1"/>
                </a:solidFill>
              </a:rPr>
              <a:t>Backlog gefüllt</a:t>
            </a:r>
          </a:p>
        </p:txBody>
      </p:sp>
      <p:sp>
        <p:nvSpPr>
          <p:cNvPr id="3" name="Abgerundetes Rechteck 2"/>
          <p:cNvSpPr/>
          <p:nvPr/>
        </p:nvSpPr>
        <p:spPr>
          <a:xfrm>
            <a:off x="2712241" y="3277804"/>
            <a:ext cx="860368"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de-DE" sz="1100" dirty="0">
                <a:solidFill>
                  <a:schemeClr val="tx1"/>
                </a:solidFill>
              </a:rPr>
              <a:t>Aufgabe priorisieren</a:t>
            </a:r>
          </a:p>
        </p:txBody>
      </p:sp>
      <p:cxnSp>
        <p:nvCxnSpPr>
          <p:cNvPr id="36" name="Gerade Verbindung mit Pfeil 35"/>
          <p:cNvCxnSpPr>
            <a:cxnSpLocks/>
            <a:endCxn id="31" idx="0"/>
          </p:cNvCxnSpPr>
          <p:nvPr/>
        </p:nvCxnSpPr>
        <p:spPr>
          <a:xfrm>
            <a:off x="2637692" y="1666658"/>
            <a:ext cx="513046" cy="7411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0" name="Gruppieren 59"/>
          <p:cNvGrpSpPr/>
          <p:nvPr/>
        </p:nvGrpSpPr>
        <p:grpSpPr>
          <a:xfrm>
            <a:off x="325738" y="5252256"/>
            <a:ext cx="995447" cy="556953"/>
            <a:chOff x="250921" y="4736868"/>
            <a:chExt cx="995447" cy="556953"/>
          </a:xfrm>
        </p:grpSpPr>
        <p:sp>
          <p:nvSpPr>
            <p:cNvPr id="37" name="Ellipse 36"/>
            <p:cNvSpPr/>
            <p:nvPr/>
          </p:nvSpPr>
          <p:spPr>
            <a:xfrm>
              <a:off x="250921" y="4736868"/>
              <a:ext cx="995447" cy="55695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dirty="0">
                <a:solidFill>
                  <a:schemeClr val="tx1"/>
                </a:solidFill>
              </a:endParaRPr>
            </a:p>
          </p:txBody>
        </p:sp>
        <p:cxnSp>
          <p:nvCxnSpPr>
            <p:cNvPr id="39" name="Gerader Verbinder 38"/>
            <p:cNvCxnSpPr>
              <a:stCxn id="37" idx="1"/>
              <a:endCxn id="37" idx="3"/>
            </p:cNvCxnSpPr>
            <p:nvPr/>
          </p:nvCxnSpPr>
          <p:spPr>
            <a:xfrm>
              <a:off x="396701" y="4818432"/>
              <a:ext cx="0" cy="393825"/>
            </a:xfrm>
            <a:prstGeom prst="line">
              <a:avLst/>
            </a:prstGeom>
          </p:spPr>
          <p:style>
            <a:lnRef idx="1">
              <a:schemeClr val="dk1"/>
            </a:lnRef>
            <a:fillRef idx="0">
              <a:schemeClr val="dk1"/>
            </a:fillRef>
            <a:effectRef idx="0">
              <a:schemeClr val="dk1"/>
            </a:effectRef>
            <a:fontRef idx="minor">
              <a:schemeClr val="tx1"/>
            </a:fontRef>
          </p:style>
        </p:cxnSp>
      </p:grpSp>
      <p:grpSp>
        <p:nvGrpSpPr>
          <p:cNvPr id="56" name="Gruppieren 55"/>
          <p:cNvGrpSpPr/>
          <p:nvPr/>
        </p:nvGrpSpPr>
        <p:grpSpPr>
          <a:xfrm>
            <a:off x="2972014" y="2407807"/>
            <a:ext cx="357448" cy="357448"/>
            <a:chOff x="2752536" y="2200713"/>
            <a:chExt cx="357448" cy="357448"/>
          </a:xfrm>
        </p:grpSpPr>
        <p:sp>
          <p:nvSpPr>
            <p:cNvPr id="31" name="Ellipse 30"/>
            <p:cNvSpPr/>
            <p:nvPr/>
          </p:nvSpPr>
          <p:spPr>
            <a:xfrm>
              <a:off x="2752536" y="2200713"/>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a:solidFill>
                  <a:schemeClr val="tx1"/>
                </a:solidFill>
              </a:endParaRPr>
            </a:p>
          </p:txBody>
        </p:sp>
        <p:grpSp>
          <p:nvGrpSpPr>
            <p:cNvPr id="48" name="Gruppieren 47"/>
            <p:cNvGrpSpPr/>
            <p:nvPr/>
          </p:nvGrpSpPr>
          <p:grpSpPr>
            <a:xfrm>
              <a:off x="2835634" y="2260289"/>
              <a:ext cx="174626" cy="218005"/>
              <a:chOff x="2784706" y="2737357"/>
              <a:chExt cx="252754" cy="305101"/>
            </a:xfrm>
          </p:grpSpPr>
          <p:cxnSp>
            <p:nvCxnSpPr>
              <p:cNvPr id="49" name="Gerader Verbinder 48"/>
              <p:cNvCxnSpPr/>
              <p:nvPr/>
            </p:nvCxnSpPr>
            <p:spPr>
              <a:xfrm flipV="1">
                <a:off x="2784706" y="2737357"/>
                <a:ext cx="126377" cy="305101"/>
              </a:xfrm>
              <a:prstGeom prst="line">
                <a:avLst/>
              </a:prstGeom>
            </p:spPr>
            <p:style>
              <a:lnRef idx="1">
                <a:schemeClr val="dk1"/>
              </a:lnRef>
              <a:fillRef idx="0">
                <a:schemeClr val="dk1"/>
              </a:fillRef>
              <a:effectRef idx="0">
                <a:schemeClr val="dk1"/>
              </a:effectRef>
              <a:fontRef idx="minor">
                <a:schemeClr val="tx1"/>
              </a:fontRef>
            </p:style>
          </p:cxnSp>
          <p:cxnSp>
            <p:nvCxnSpPr>
              <p:cNvPr id="50" name="Gerader Verbinder 49"/>
              <p:cNvCxnSpPr/>
              <p:nvPr/>
            </p:nvCxnSpPr>
            <p:spPr>
              <a:xfrm>
                <a:off x="2911083" y="2737357"/>
                <a:ext cx="126377" cy="30510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57" name="Gruppieren 56"/>
          <p:cNvGrpSpPr/>
          <p:nvPr/>
        </p:nvGrpSpPr>
        <p:grpSpPr>
          <a:xfrm>
            <a:off x="644736" y="3183429"/>
            <a:ext cx="357448" cy="357448"/>
            <a:chOff x="2752536" y="2852160"/>
            <a:chExt cx="357448" cy="357448"/>
          </a:xfrm>
        </p:grpSpPr>
        <p:sp>
          <p:nvSpPr>
            <p:cNvPr id="32" name="Ellipse 31"/>
            <p:cNvSpPr/>
            <p:nvPr/>
          </p:nvSpPr>
          <p:spPr>
            <a:xfrm>
              <a:off x="2752536" y="2852160"/>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1" name="Gruppieren 50"/>
            <p:cNvGrpSpPr/>
            <p:nvPr/>
          </p:nvGrpSpPr>
          <p:grpSpPr>
            <a:xfrm rot="10800000">
              <a:off x="2835635" y="2930194"/>
              <a:ext cx="174626" cy="218005"/>
              <a:chOff x="2784706" y="2737357"/>
              <a:chExt cx="252754" cy="305101"/>
            </a:xfrm>
          </p:grpSpPr>
          <p:cxnSp>
            <p:nvCxnSpPr>
              <p:cNvPr id="52" name="Gerader Verbinder 51"/>
              <p:cNvCxnSpPr/>
              <p:nvPr/>
            </p:nvCxnSpPr>
            <p:spPr>
              <a:xfrm flipV="1">
                <a:off x="2784706" y="2737357"/>
                <a:ext cx="126377" cy="305101"/>
              </a:xfrm>
              <a:prstGeom prst="line">
                <a:avLst/>
              </a:prstGeom>
            </p:spPr>
            <p:style>
              <a:lnRef idx="1">
                <a:schemeClr val="dk1"/>
              </a:lnRef>
              <a:fillRef idx="0">
                <a:schemeClr val="dk1"/>
              </a:fillRef>
              <a:effectRef idx="0">
                <a:schemeClr val="dk1"/>
              </a:effectRef>
              <a:fontRef idx="minor">
                <a:schemeClr val="tx1"/>
              </a:fontRef>
            </p:style>
          </p:cxnSp>
          <p:cxnSp>
            <p:nvCxnSpPr>
              <p:cNvPr id="53" name="Gerader Verbinder 52"/>
              <p:cNvCxnSpPr/>
              <p:nvPr/>
            </p:nvCxnSpPr>
            <p:spPr>
              <a:xfrm>
                <a:off x="2911083" y="2737357"/>
                <a:ext cx="126377" cy="30510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55" name="Gruppieren 54"/>
          <p:cNvGrpSpPr/>
          <p:nvPr/>
        </p:nvGrpSpPr>
        <p:grpSpPr>
          <a:xfrm>
            <a:off x="5573358" y="3300744"/>
            <a:ext cx="522642" cy="357448"/>
            <a:chOff x="3165078" y="3320887"/>
            <a:chExt cx="522642" cy="357448"/>
          </a:xfrm>
        </p:grpSpPr>
        <p:sp>
          <p:nvSpPr>
            <p:cNvPr id="33" name="Ellipse 32"/>
            <p:cNvSpPr/>
            <p:nvPr/>
          </p:nvSpPr>
          <p:spPr>
            <a:xfrm>
              <a:off x="3247675" y="3320887"/>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400" dirty="0">
                <a:solidFill>
                  <a:schemeClr val="tx1"/>
                </a:solidFill>
              </a:endParaRPr>
            </a:p>
          </p:txBody>
        </p:sp>
        <p:sp>
          <p:nvSpPr>
            <p:cNvPr id="54" name="Textfeld 53"/>
            <p:cNvSpPr txBox="1"/>
            <p:nvPr/>
          </p:nvSpPr>
          <p:spPr>
            <a:xfrm>
              <a:off x="3165078" y="3361112"/>
              <a:ext cx="522642" cy="276999"/>
            </a:xfrm>
            <a:prstGeom prst="rect">
              <a:avLst/>
            </a:prstGeom>
            <a:noFill/>
          </p:spPr>
          <p:txBody>
            <a:bodyPr wrap="square" rtlCol="0">
              <a:spAutoFit/>
            </a:bodyPr>
            <a:lstStyle/>
            <a:p>
              <a:pPr algn="ctr"/>
              <a:r>
                <a:rPr lang="de-DE" sz="1200" dirty="0"/>
                <a:t>XOR</a:t>
              </a:r>
            </a:p>
          </p:txBody>
        </p:sp>
      </p:grpSp>
      <p:cxnSp>
        <p:nvCxnSpPr>
          <p:cNvPr id="67" name="Gerader Verbinder 66"/>
          <p:cNvCxnSpPr/>
          <p:nvPr/>
        </p:nvCxnSpPr>
        <p:spPr>
          <a:xfrm>
            <a:off x="1781971" y="0"/>
            <a:ext cx="0" cy="6858000"/>
          </a:xfrm>
          <a:prstGeom prst="line">
            <a:avLst/>
          </a:prstGeom>
        </p:spPr>
        <p:style>
          <a:lnRef idx="1">
            <a:schemeClr val="dk1"/>
          </a:lnRef>
          <a:fillRef idx="0">
            <a:schemeClr val="dk1"/>
          </a:fillRef>
          <a:effectRef idx="0">
            <a:schemeClr val="dk1"/>
          </a:effectRef>
          <a:fontRef idx="minor">
            <a:schemeClr val="tx1"/>
          </a:fontRef>
        </p:style>
      </p:cxnSp>
      <p:sp>
        <p:nvSpPr>
          <p:cNvPr id="68" name="Rechteck 67"/>
          <p:cNvSpPr/>
          <p:nvPr/>
        </p:nvSpPr>
        <p:spPr>
          <a:xfrm>
            <a:off x="1612669" y="985422"/>
            <a:ext cx="169302" cy="116097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de-DE" sz="1200" dirty="0">
                <a:solidFill>
                  <a:sysClr val="windowText" lastClr="000000"/>
                </a:solidFill>
              </a:rPr>
              <a:t>EPK</a:t>
            </a:r>
          </a:p>
        </p:txBody>
      </p:sp>
      <p:sp>
        <p:nvSpPr>
          <p:cNvPr id="4" name="Sechseck 1">
            <a:extLst>
              <a:ext uri="{FF2B5EF4-FFF2-40B4-BE49-F238E27FC236}">
                <a16:creationId xmlns:a16="http://schemas.microsoft.com/office/drawing/2014/main" id="{7B64C972-CBDB-03D2-BA7F-6D5AC64F18A3}"/>
              </a:ext>
            </a:extLst>
          </p:cNvPr>
          <p:cNvSpPr/>
          <p:nvPr/>
        </p:nvSpPr>
        <p:spPr>
          <a:xfrm>
            <a:off x="3329461" y="1217771"/>
            <a:ext cx="911523" cy="484591"/>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Wochenende begonnen</a:t>
            </a:r>
          </a:p>
        </p:txBody>
      </p:sp>
      <p:cxnSp>
        <p:nvCxnSpPr>
          <p:cNvPr id="7" name="Gerade Verbindung mit Pfeil 35">
            <a:extLst>
              <a:ext uri="{FF2B5EF4-FFF2-40B4-BE49-F238E27FC236}">
                <a16:creationId xmlns:a16="http://schemas.microsoft.com/office/drawing/2014/main" id="{98B8834A-84B9-3E57-CB5A-3973E5A54CBF}"/>
              </a:ext>
            </a:extLst>
          </p:cNvPr>
          <p:cNvCxnSpPr>
            <a:cxnSpLocks/>
            <a:endCxn id="31" idx="0"/>
          </p:cNvCxnSpPr>
          <p:nvPr/>
        </p:nvCxnSpPr>
        <p:spPr>
          <a:xfrm flipH="1">
            <a:off x="3150738" y="1702362"/>
            <a:ext cx="626437" cy="705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Gerade Verbindung mit Pfeil 35">
            <a:extLst>
              <a:ext uri="{FF2B5EF4-FFF2-40B4-BE49-F238E27FC236}">
                <a16:creationId xmlns:a16="http://schemas.microsoft.com/office/drawing/2014/main" id="{97273802-F483-99E2-EC44-827F0ED87F6B}"/>
              </a:ext>
            </a:extLst>
          </p:cNvPr>
          <p:cNvCxnSpPr>
            <a:cxnSpLocks/>
            <a:stCxn id="31" idx="4"/>
            <a:endCxn id="3" idx="0"/>
          </p:cNvCxnSpPr>
          <p:nvPr/>
        </p:nvCxnSpPr>
        <p:spPr>
          <a:xfrm flipH="1">
            <a:off x="3142425" y="2765255"/>
            <a:ext cx="8313" cy="5125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Sechseck 1">
            <a:extLst>
              <a:ext uri="{FF2B5EF4-FFF2-40B4-BE49-F238E27FC236}">
                <a16:creationId xmlns:a16="http://schemas.microsoft.com/office/drawing/2014/main" id="{5A6200D0-252F-4B8F-03A3-5F9E493130C7}"/>
              </a:ext>
            </a:extLst>
          </p:cNvPr>
          <p:cNvSpPr/>
          <p:nvPr/>
        </p:nvSpPr>
        <p:spPr>
          <a:xfrm>
            <a:off x="2694976" y="4324386"/>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Aufgabe wird bearbeitet</a:t>
            </a:r>
          </a:p>
        </p:txBody>
      </p:sp>
      <p:cxnSp>
        <p:nvCxnSpPr>
          <p:cNvPr id="16" name="Gerade Verbindung mit Pfeil 35">
            <a:extLst>
              <a:ext uri="{FF2B5EF4-FFF2-40B4-BE49-F238E27FC236}">
                <a16:creationId xmlns:a16="http://schemas.microsoft.com/office/drawing/2014/main" id="{0AA0D83F-3329-0BE2-BF36-3B5318A84771}"/>
              </a:ext>
            </a:extLst>
          </p:cNvPr>
          <p:cNvCxnSpPr>
            <a:cxnSpLocks/>
            <a:stCxn id="3" idx="2"/>
          </p:cNvCxnSpPr>
          <p:nvPr/>
        </p:nvCxnSpPr>
        <p:spPr>
          <a:xfrm>
            <a:off x="3142425" y="3735004"/>
            <a:ext cx="0" cy="5893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Abgerundetes Rechteck 2">
            <a:extLst>
              <a:ext uri="{FF2B5EF4-FFF2-40B4-BE49-F238E27FC236}">
                <a16:creationId xmlns:a16="http://schemas.microsoft.com/office/drawing/2014/main" id="{E6F898BD-54D2-137D-C627-511FF4D348C6}"/>
              </a:ext>
            </a:extLst>
          </p:cNvPr>
          <p:cNvSpPr/>
          <p:nvPr/>
        </p:nvSpPr>
        <p:spPr>
          <a:xfrm>
            <a:off x="2712241" y="5370968"/>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err="1">
                <a:solidFill>
                  <a:schemeClr val="tx1"/>
                </a:solidFill>
              </a:rPr>
              <a:t>Failing</a:t>
            </a:r>
            <a:r>
              <a:rPr lang="de-DE" sz="1100" dirty="0">
                <a:solidFill>
                  <a:schemeClr val="tx1"/>
                </a:solidFill>
              </a:rPr>
              <a:t> Test schreiben </a:t>
            </a:r>
          </a:p>
        </p:txBody>
      </p:sp>
      <p:cxnSp>
        <p:nvCxnSpPr>
          <p:cNvPr id="20" name="Gerade Verbindung mit Pfeil 35">
            <a:extLst>
              <a:ext uri="{FF2B5EF4-FFF2-40B4-BE49-F238E27FC236}">
                <a16:creationId xmlns:a16="http://schemas.microsoft.com/office/drawing/2014/main" id="{F3C2BCE5-7858-1AA7-9CBF-4216E445DB31}"/>
              </a:ext>
            </a:extLst>
          </p:cNvPr>
          <p:cNvCxnSpPr>
            <a:cxnSpLocks/>
            <a:endCxn id="19" idx="0"/>
          </p:cNvCxnSpPr>
          <p:nvPr/>
        </p:nvCxnSpPr>
        <p:spPr>
          <a:xfrm>
            <a:off x="3150738" y="4773273"/>
            <a:ext cx="17264" cy="5976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Sechseck 1">
            <a:extLst>
              <a:ext uri="{FF2B5EF4-FFF2-40B4-BE49-F238E27FC236}">
                <a16:creationId xmlns:a16="http://schemas.microsoft.com/office/drawing/2014/main" id="{9ED0C223-0163-B9BE-7C0F-703818E8191B}"/>
              </a:ext>
            </a:extLst>
          </p:cNvPr>
          <p:cNvSpPr/>
          <p:nvPr/>
        </p:nvSpPr>
        <p:spPr>
          <a:xfrm>
            <a:off x="4000926" y="5503201"/>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err="1">
                <a:solidFill>
                  <a:schemeClr val="tx1"/>
                </a:solidFill>
              </a:rPr>
              <a:t>Failing</a:t>
            </a:r>
            <a:r>
              <a:rPr lang="de-DE" dirty="0">
                <a:solidFill>
                  <a:schemeClr val="tx1"/>
                </a:solidFill>
              </a:rPr>
              <a:t> Test existiert</a:t>
            </a:r>
          </a:p>
        </p:txBody>
      </p:sp>
      <p:cxnSp>
        <p:nvCxnSpPr>
          <p:cNvPr id="30" name="Gerade Verbindung mit Pfeil 35">
            <a:extLst>
              <a:ext uri="{FF2B5EF4-FFF2-40B4-BE49-F238E27FC236}">
                <a16:creationId xmlns:a16="http://schemas.microsoft.com/office/drawing/2014/main" id="{AAC3FE93-3E29-5341-AF54-7C0BC48F8339}"/>
              </a:ext>
            </a:extLst>
          </p:cNvPr>
          <p:cNvCxnSpPr>
            <a:cxnSpLocks/>
            <a:stCxn id="19" idx="3"/>
            <a:endCxn id="29" idx="3"/>
          </p:cNvCxnSpPr>
          <p:nvPr/>
        </p:nvCxnSpPr>
        <p:spPr>
          <a:xfrm>
            <a:off x="3623763" y="5599568"/>
            <a:ext cx="377163" cy="1280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Abgerundetes Rechteck 2">
            <a:extLst>
              <a:ext uri="{FF2B5EF4-FFF2-40B4-BE49-F238E27FC236}">
                <a16:creationId xmlns:a16="http://schemas.microsoft.com/office/drawing/2014/main" id="{CA8F3C66-DBB7-2964-F240-362934024D25}"/>
              </a:ext>
            </a:extLst>
          </p:cNvPr>
          <p:cNvSpPr/>
          <p:nvPr/>
        </p:nvSpPr>
        <p:spPr>
          <a:xfrm>
            <a:off x="4016914" y="4324386"/>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r>
              <a:rPr lang="de-DE" sz="1100" dirty="0">
                <a:solidFill>
                  <a:schemeClr val="tx1"/>
                </a:solidFill>
              </a:rPr>
              <a:t>Prototyp Code schreiben</a:t>
            </a:r>
          </a:p>
        </p:txBody>
      </p:sp>
      <p:sp>
        <p:nvSpPr>
          <p:cNvPr id="40" name="Sechseck 1">
            <a:extLst>
              <a:ext uri="{FF2B5EF4-FFF2-40B4-BE49-F238E27FC236}">
                <a16:creationId xmlns:a16="http://schemas.microsoft.com/office/drawing/2014/main" id="{61D8F8F7-2461-8B75-3BA2-A6AA5C10CF18}"/>
              </a:ext>
            </a:extLst>
          </p:cNvPr>
          <p:cNvSpPr/>
          <p:nvPr/>
        </p:nvSpPr>
        <p:spPr>
          <a:xfrm>
            <a:off x="4016914" y="3282456"/>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Code Entwurf fertig</a:t>
            </a:r>
          </a:p>
        </p:txBody>
      </p:sp>
      <p:sp>
        <p:nvSpPr>
          <p:cNvPr id="41" name="Abgerundetes Rechteck 2">
            <a:extLst>
              <a:ext uri="{FF2B5EF4-FFF2-40B4-BE49-F238E27FC236}">
                <a16:creationId xmlns:a16="http://schemas.microsoft.com/office/drawing/2014/main" id="{161D3DBB-29D8-4A50-9800-A6F26FE1FB64}"/>
              </a:ext>
            </a:extLst>
          </p:cNvPr>
          <p:cNvSpPr/>
          <p:nvPr/>
        </p:nvSpPr>
        <p:spPr>
          <a:xfrm>
            <a:off x="4016914" y="2327574"/>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a:solidFill>
                  <a:schemeClr val="tx1"/>
                </a:solidFill>
              </a:rPr>
              <a:t>Tests ausführen</a:t>
            </a:r>
          </a:p>
        </p:txBody>
      </p:sp>
      <p:sp>
        <p:nvSpPr>
          <p:cNvPr id="43" name="Sechseck 1">
            <a:extLst>
              <a:ext uri="{FF2B5EF4-FFF2-40B4-BE49-F238E27FC236}">
                <a16:creationId xmlns:a16="http://schemas.microsoft.com/office/drawing/2014/main" id="{3CF7C823-3EE7-05A1-6EAE-33A2C104E57C}"/>
              </a:ext>
            </a:extLst>
          </p:cNvPr>
          <p:cNvSpPr/>
          <p:nvPr/>
        </p:nvSpPr>
        <p:spPr>
          <a:xfrm>
            <a:off x="5378917" y="4324385"/>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lstStyle/>
          <a:p>
            <a:pPr algn="ctr"/>
            <a:r>
              <a:rPr lang="de-DE" dirty="0">
                <a:solidFill>
                  <a:schemeClr val="tx1"/>
                </a:solidFill>
              </a:rPr>
              <a:t>Test fehlgeschlagen</a:t>
            </a:r>
          </a:p>
        </p:txBody>
      </p:sp>
      <p:cxnSp>
        <p:nvCxnSpPr>
          <p:cNvPr id="44" name="Gerade Verbindung mit Pfeil 35">
            <a:extLst>
              <a:ext uri="{FF2B5EF4-FFF2-40B4-BE49-F238E27FC236}">
                <a16:creationId xmlns:a16="http://schemas.microsoft.com/office/drawing/2014/main" id="{8E3CF36C-613C-C532-137D-47DB4E6B50EB}"/>
              </a:ext>
            </a:extLst>
          </p:cNvPr>
          <p:cNvCxnSpPr>
            <a:cxnSpLocks/>
          </p:cNvCxnSpPr>
          <p:nvPr/>
        </p:nvCxnSpPr>
        <p:spPr>
          <a:xfrm>
            <a:off x="5834678" y="3649972"/>
            <a:ext cx="0" cy="7146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Gerade Verbindung mit Pfeil 35">
            <a:extLst>
              <a:ext uri="{FF2B5EF4-FFF2-40B4-BE49-F238E27FC236}">
                <a16:creationId xmlns:a16="http://schemas.microsoft.com/office/drawing/2014/main" id="{79E5C83F-381C-730C-B724-2804C346677E}"/>
              </a:ext>
            </a:extLst>
          </p:cNvPr>
          <p:cNvCxnSpPr>
            <a:cxnSpLocks/>
            <a:endCxn id="35" idx="2"/>
          </p:cNvCxnSpPr>
          <p:nvPr/>
        </p:nvCxnSpPr>
        <p:spPr>
          <a:xfrm flipV="1">
            <a:off x="4464681" y="5264893"/>
            <a:ext cx="20878" cy="238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Gerade Verbindung mit Pfeil 35">
            <a:extLst>
              <a:ext uri="{FF2B5EF4-FFF2-40B4-BE49-F238E27FC236}">
                <a16:creationId xmlns:a16="http://schemas.microsoft.com/office/drawing/2014/main" id="{8EC03DCA-C4D1-DCC0-7D62-F84E6B7AE78A}"/>
              </a:ext>
            </a:extLst>
          </p:cNvPr>
          <p:cNvCxnSpPr>
            <a:cxnSpLocks/>
            <a:stCxn id="38" idx="0"/>
          </p:cNvCxnSpPr>
          <p:nvPr/>
        </p:nvCxnSpPr>
        <p:spPr>
          <a:xfrm flipV="1">
            <a:off x="4472675" y="3731343"/>
            <a:ext cx="0" cy="5930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Gerade Verbindung mit Pfeil 35">
            <a:extLst>
              <a:ext uri="{FF2B5EF4-FFF2-40B4-BE49-F238E27FC236}">
                <a16:creationId xmlns:a16="http://schemas.microsoft.com/office/drawing/2014/main" id="{81E84FCF-8BE6-07B3-F27D-C4E08FB0D3A2}"/>
              </a:ext>
            </a:extLst>
          </p:cNvPr>
          <p:cNvCxnSpPr>
            <a:cxnSpLocks/>
            <a:endCxn id="41" idx="2"/>
          </p:cNvCxnSpPr>
          <p:nvPr/>
        </p:nvCxnSpPr>
        <p:spPr>
          <a:xfrm flipV="1">
            <a:off x="4464681" y="2784774"/>
            <a:ext cx="7994" cy="476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Gerade Verbindung mit Pfeil 35">
            <a:extLst>
              <a:ext uri="{FF2B5EF4-FFF2-40B4-BE49-F238E27FC236}">
                <a16:creationId xmlns:a16="http://schemas.microsoft.com/office/drawing/2014/main" id="{5D505DD7-A2DE-1F58-4E66-EC2FC8FFB0FA}"/>
              </a:ext>
            </a:extLst>
          </p:cNvPr>
          <p:cNvCxnSpPr>
            <a:cxnSpLocks/>
            <a:stCxn id="41" idx="3"/>
            <a:endCxn id="33" idx="0"/>
          </p:cNvCxnSpPr>
          <p:nvPr/>
        </p:nvCxnSpPr>
        <p:spPr>
          <a:xfrm>
            <a:off x="4928436" y="2556174"/>
            <a:ext cx="906243" cy="7445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Gerade Verbindung mit Pfeil 35">
            <a:extLst>
              <a:ext uri="{FF2B5EF4-FFF2-40B4-BE49-F238E27FC236}">
                <a16:creationId xmlns:a16="http://schemas.microsoft.com/office/drawing/2014/main" id="{9D135D01-FE6D-FB9D-CC3B-BCF501F708C1}"/>
              </a:ext>
            </a:extLst>
          </p:cNvPr>
          <p:cNvCxnSpPr>
            <a:cxnSpLocks/>
            <a:endCxn id="84" idx="3"/>
          </p:cNvCxnSpPr>
          <p:nvPr/>
        </p:nvCxnSpPr>
        <p:spPr>
          <a:xfrm>
            <a:off x="5957668" y="3479468"/>
            <a:ext cx="729017" cy="13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Sechseck 1">
            <a:extLst>
              <a:ext uri="{FF2B5EF4-FFF2-40B4-BE49-F238E27FC236}">
                <a16:creationId xmlns:a16="http://schemas.microsoft.com/office/drawing/2014/main" id="{12690CBE-3FCD-FE73-082D-22690B37F70E}"/>
              </a:ext>
            </a:extLst>
          </p:cNvPr>
          <p:cNvSpPr/>
          <p:nvPr/>
        </p:nvSpPr>
        <p:spPr>
          <a:xfrm>
            <a:off x="6686685" y="3268492"/>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de-DE" dirty="0">
                <a:solidFill>
                  <a:schemeClr val="tx1"/>
                </a:solidFill>
              </a:rPr>
              <a:t>Tests bestanden</a:t>
            </a:r>
          </a:p>
        </p:txBody>
      </p:sp>
      <p:sp>
        <p:nvSpPr>
          <p:cNvPr id="86" name="Abgerundetes Rechteck 2">
            <a:extLst>
              <a:ext uri="{FF2B5EF4-FFF2-40B4-BE49-F238E27FC236}">
                <a16:creationId xmlns:a16="http://schemas.microsoft.com/office/drawing/2014/main" id="{461C9DDD-4261-9735-6171-D4072A7F0F14}"/>
              </a:ext>
            </a:extLst>
          </p:cNvPr>
          <p:cNvSpPr/>
          <p:nvPr/>
        </p:nvSpPr>
        <p:spPr>
          <a:xfrm>
            <a:off x="6734526" y="4320228"/>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a:solidFill>
                  <a:schemeClr val="tx1"/>
                </a:solidFill>
              </a:rPr>
              <a:t>Code aufräumen</a:t>
            </a:r>
          </a:p>
        </p:txBody>
      </p:sp>
      <p:cxnSp>
        <p:nvCxnSpPr>
          <p:cNvPr id="87" name="Gerade Verbindung mit Pfeil 35">
            <a:extLst>
              <a:ext uri="{FF2B5EF4-FFF2-40B4-BE49-F238E27FC236}">
                <a16:creationId xmlns:a16="http://schemas.microsoft.com/office/drawing/2014/main" id="{15BC0FAE-8FF9-BCA8-B96E-2B92890AEE58}"/>
              </a:ext>
            </a:extLst>
          </p:cNvPr>
          <p:cNvCxnSpPr>
            <a:cxnSpLocks/>
            <a:endCxn id="86" idx="0"/>
          </p:cNvCxnSpPr>
          <p:nvPr/>
        </p:nvCxnSpPr>
        <p:spPr>
          <a:xfrm>
            <a:off x="7142446" y="3731343"/>
            <a:ext cx="47841" cy="5888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Sechseck 1">
            <a:extLst>
              <a:ext uri="{FF2B5EF4-FFF2-40B4-BE49-F238E27FC236}">
                <a16:creationId xmlns:a16="http://schemas.microsoft.com/office/drawing/2014/main" id="{3D107BFA-EC92-6529-2625-25F6F8557A8B}"/>
              </a:ext>
            </a:extLst>
          </p:cNvPr>
          <p:cNvSpPr/>
          <p:nvPr/>
        </p:nvSpPr>
        <p:spPr>
          <a:xfrm>
            <a:off x="6734526" y="5306288"/>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Code ist aufgeräumt</a:t>
            </a:r>
          </a:p>
        </p:txBody>
      </p:sp>
      <p:cxnSp>
        <p:nvCxnSpPr>
          <p:cNvPr id="91" name="Gerade Verbindung mit Pfeil 35">
            <a:extLst>
              <a:ext uri="{FF2B5EF4-FFF2-40B4-BE49-F238E27FC236}">
                <a16:creationId xmlns:a16="http://schemas.microsoft.com/office/drawing/2014/main" id="{A9DD38DD-4CF2-8DAB-883F-53C8D96F94FA}"/>
              </a:ext>
            </a:extLst>
          </p:cNvPr>
          <p:cNvCxnSpPr>
            <a:cxnSpLocks/>
            <a:stCxn id="86" idx="2"/>
          </p:cNvCxnSpPr>
          <p:nvPr/>
        </p:nvCxnSpPr>
        <p:spPr>
          <a:xfrm>
            <a:off x="7190287" y="4777428"/>
            <a:ext cx="6394" cy="5563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4" name="Abgerundetes Rechteck 2">
            <a:extLst>
              <a:ext uri="{FF2B5EF4-FFF2-40B4-BE49-F238E27FC236}">
                <a16:creationId xmlns:a16="http://schemas.microsoft.com/office/drawing/2014/main" id="{AAABA157-984E-7DE9-570A-6ED2225547A2}"/>
              </a:ext>
            </a:extLst>
          </p:cNvPr>
          <p:cNvSpPr/>
          <p:nvPr/>
        </p:nvSpPr>
        <p:spPr>
          <a:xfrm>
            <a:off x="8102977" y="5333721"/>
            <a:ext cx="860368"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err="1">
                <a:solidFill>
                  <a:schemeClr val="tx1"/>
                </a:solidFill>
              </a:rPr>
              <a:t>Git</a:t>
            </a:r>
            <a:r>
              <a:rPr lang="de-DE" sz="1100" dirty="0">
                <a:solidFill>
                  <a:schemeClr val="tx1"/>
                </a:solidFill>
              </a:rPr>
              <a:t> </a:t>
            </a:r>
            <a:r>
              <a:rPr lang="de-DE" sz="1100" dirty="0" err="1">
                <a:solidFill>
                  <a:schemeClr val="tx1"/>
                </a:solidFill>
              </a:rPr>
              <a:t>commit</a:t>
            </a:r>
            <a:r>
              <a:rPr lang="de-DE" sz="1100" dirty="0">
                <a:solidFill>
                  <a:schemeClr val="tx1"/>
                </a:solidFill>
              </a:rPr>
              <a:t> und push</a:t>
            </a:r>
          </a:p>
        </p:txBody>
      </p:sp>
      <p:sp>
        <p:nvSpPr>
          <p:cNvPr id="95" name="Sechseck 1">
            <a:extLst>
              <a:ext uri="{FF2B5EF4-FFF2-40B4-BE49-F238E27FC236}">
                <a16:creationId xmlns:a16="http://schemas.microsoft.com/office/drawing/2014/main" id="{A2A50D4C-6AD0-A13D-5CEF-12B29CD38B2D}"/>
              </a:ext>
            </a:extLst>
          </p:cNvPr>
          <p:cNvSpPr/>
          <p:nvPr/>
        </p:nvSpPr>
        <p:spPr>
          <a:xfrm>
            <a:off x="9337518" y="5349789"/>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lstStyle/>
          <a:p>
            <a:pPr algn="ctr"/>
            <a:r>
              <a:rPr lang="de-DE" dirty="0">
                <a:solidFill>
                  <a:schemeClr val="tx1"/>
                </a:solidFill>
              </a:rPr>
              <a:t>Feature abgeschlossen im Repo</a:t>
            </a:r>
          </a:p>
        </p:txBody>
      </p:sp>
      <p:cxnSp>
        <p:nvCxnSpPr>
          <p:cNvPr id="96" name="Gerade Verbindung mit Pfeil 35">
            <a:extLst>
              <a:ext uri="{FF2B5EF4-FFF2-40B4-BE49-F238E27FC236}">
                <a16:creationId xmlns:a16="http://schemas.microsoft.com/office/drawing/2014/main" id="{30E8BFB2-AF8D-65A9-22CE-6F8DBDDEE15E}"/>
              </a:ext>
            </a:extLst>
          </p:cNvPr>
          <p:cNvCxnSpPr>
            <a:cxnSpLocks/>
            <a:stCxn id="90" idx="0"/>
            <a:endCxn id="94" idx="1"/>
          </p:cNvCxnSpPr>
          <p:nvPr/>
        </p:nvCxnSpPr>
        <p:spPr>
          <a:xfrm>
            <a:off x="7646049" y="5530732"/>
            <a:ext cx="456928" cy="315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Gerade Verbindung mit Pfeil 35">
            <a:extLst>
              <a:ext uri="{FF2B5EF4-FFF2-40B4-BE49-F238E27FC236}">
                <a16:creationId xmlns:a16="http://schemas.microsoft.com/office/drawing/2014/main" id="{34F48480-E10C-7D55-7EFD-DBA07C124F8F}"/>
              </a:ext>
            </a:extLst>
          </p:cNvPr>
          <p:cNvCxnSpPr>
            <a:cxnSpLocks/>
            <a:stCxn id="94" idx="3"/>
            <a:endCxn id="95" idx="3"/>
          </p:cNvCxnSpPr>
          <p:nvPr/>
        </p:nvCxnSpPr>
        <p:spPr>
          <a:xfrm>
            <a:off x="8963345" y="5562321"/>
            <a:ext cx="374173" cy="11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TextBox 102">
            <a:extLst>
              <a:ext uri="{FF2B5EF4-FFF2-40B4-BE49-F238E27FC236}">
                <a16:creationId xmlns:a16="http://schemas.microsoft.com/office/drawing/2014/main" id="{8C6204E4-CFE8-6F0E-A2E0-889F406AEBEA}"/>
              </a:ext>
            </a:extLst>
          </p:cNvPr>
          <p:cNvSpPr txBox="1"/>
          <p:nvPr/>
        </p:nvSpPr>
        <p:spPr>
          <a:xfrm>
            <a:off x="5378917" y="967265"/>
            <a:ext cx="3090672" cy="369332"/>
          </a:xfrm>
          <a:prstGeom prst="rect">
            <a:avLst/>
          </a:prstGeom>
          <a:noFill/>
        </p:spPr>
        <p:txBody>
          <a:bodyPr wrap="square" rtlCol="0">
            <a:spAutoFit/>
          </a:bodyPr>
          <a:lstStyle/>
          <a:p>
            <a:r>
              <a:rPr lang="en-US" dirty="0" err="1"/>
              <a:t>Wochenende</a:t>
            </a:r>
            <a:r>
              <a:rPr lang="en-US" dirty="0"/>
              <a:t> Coding Session</a:t>
            </a:r>
          </a:p>
        </p:txBody>
      </p:sp>
      <p:cxnSp>
        <p:nvCxnSpPr>
          <p:cNvPr id="6" name="Gerade Verbindung mit Pfeil 35">
            <a:extLst>
              <a:ext uri="{FF2B5EF4-FFF2-40B4-BE49-F238E27FC236}">
                <a16:creationId xmlns:a16="http://schemas.microsoft.com/office/drawing/2014/main" id="{4BDEA343-3665-E861-B9D9-AA83491AE096}"/>
              </a:ext>
            </a:extLst>
          </p:cNvPr>
          <p:cNvCxnSpPr>
            <a:cxnSpLocks/>
            <a:stCxn id="43" idx="2"/>
          </p:cNvCxnSpPr>
          <p:nvPr/>
        </p:nvCxnSpPr>
        <p:spPr>
          <a:xfrm flipH="1">
            <a:off x="4662735" y="4773272"/>
            <a:ext cx="828404" cy="3531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8" name="Gruppieren 54">
            <a:extLst>
              <a:ext uri="{FF2B5EF4-FFF2-40B4-BE49-F238E27FC236}">
                <a16:creationId xmlns:a16="http://schemas.microsoft.com/office/drawing/2014/main" id="{F65F1406-2104-7E6E-2EE2-A46453DBBFE5}"/>
              </a:ext>
            </a:extLst>
          </p:cNvPr>
          <p:cNvGrpSpPr/>
          <p:nvPr/>
        </p:nvGrpSpPr>
        <p:grpSpPr>
          <a:xfrm>
            <a:off x="4224238" y="4947669"/>
            <a:ext cx="522642" cy="357448"/>
            <a:chOff x="3165078" y="3320887"/>
            <a:chExt cx="522642" cy="357448"/>
          </a:xfrm>
        </p:grpSpPr>
        <p:sp>
          <p:nvSpPr>
            <p:cNvPr id="34" name="Ellipse 32">
              <a:extLst>
                <a:ext uri="{FF2B5EF4-FFF2-40B4-BE49-F238E27FC236}">
                  <a16:creationId xmlns:a16="http://schemas.microsoft.com/office/drawing/2014/main" id="{A462B343-FF44-E486-D6EA-785880C7E5FE}"/>
                </a:ext>
              </a:extLst>
            </p:cNvPr>
            <p:cNvSpPr/>
            <p:nvPr/>
          </p:nvSpPr>
          <p:spPr>
            <a:xfrm>
              <a:off x="3247675" y="3320887"/>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400" dirty="0">
                <a:solidFill>
                  <a:schemeClr val="tx1"/>
                </a:solidFill>
              </a:endParaRPr>
            </a:p>
          </p:txBody>
        </p:sp>
        <p:sp>
          <p:nvSpPr>
            <p:cNvPr id="35" name="Textfeld 53">
              <a:extLst>
                <a:ext uri="{FF2B5EF4-FFF2-40B4-BE49-F238E27FC236}">
                  <a16:creationId xmlns:a16="http://schemas.microsoft.com/office/drawing/2014/main" id="{E82D34AC-3A7D-1396-B219-AD7C21BFCDE1}"/>
                </a:ext>
              </a:extLst>
            </p:cNvPr>
            <p:cNvSpPr txBox="1"/>
            <p:nvPr/>
          </p:nvSpPr>
          <p:spPr>
            <a:xfrm>
              <a:off x="3165078" y="3361112"/>
              <a:ext cx="522642" cy="276999"/>
            </a:xfrm>
            <a:prstGeom prst="rect">
              <a:avLst/>
            </a:prstGeom>
            <a:noFill/>
          </p:spPr>
          <p:txBody>
            <a:bodyPr wrap="square" rtlCol="0">
              <a:spAutoFit/>
            </a:bodyPr>
            <a:lstStyle/>
            <a:p>
              <a:pPr algn="ctr"/>
              <a:r>
                <a:rPr lang="de-DE" sz="1200" dirty="0"/>
                <a:t>XOR</a:t>
              </a:r>
            </a:p>
          </p:txBody>
        </p:sp>
      </p:grpSp>
      <p:cxnSp>
        <p:nvCxnSpPr>
          <p:cNvPr id="58" name="Gerade Verbindung mit Pfeil 35">
            <a:extLst>
              <a:ext uri="{FF2B5EF4-FFF2-40B4-BE49-F238E27FC236}">
                <a16:creationId xmlns:a16="http://schemas.microsoft.com/office/drawing/2014/main" id="{4EBB92C6-E011-0D70-7EE3-9ED6C02A6D81}"/>
              </a:ext>
            </a:extLst>
          </p:cNvPr>
          <p:cNvCxnSpPr>
            <a:cxnSpLocks/>
            <a:stCxn id="35" idx="0"/>
            <a:endCxn id="38" idx="2"/>
          </p:cNvCxnSpPr>
          <p:nvPr/>
        </p:nvCxnSpPr>
        <p:spPr>
          <a:xfrm flipH="1" flipV="1">
            <a:off x="4472675" y="4781586"/>
            <a:ext cx="12884" cy="206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4989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DD3DB-42D7-4D64-B445-1CA380B8D48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45E0C437-3016-4CE4-A4C8-63710D2C6516}"/>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562EF406-C45A-41CE-B801-BB0129EE2629}"/>
              </a:ext>
            </a:extLst>
          </p:cNvPr>
          <p:cNvSpPr>
            <a:spLocks noGrp="1"/>
          </p:cNvSpPr>
          <p:nvPr>
            <p:ph type="sldNum" sz="quarter" idx="4"/>
          </p:nvPr>
        </p:nvSpPr>
        <p:spPr/>
        <p:txBody>
          <a:bodyPr/>
          <a:lstStyle/>
          <a:p>
            <a:pPr>
              <a:defRPr/>
            </a:pPr>
            <a:fld id="{B6F15528-21DE-4FAA-801E-634DDDAF4B2B}" type="slidenum">
              <a:rPr lang="de-DE" smtClean="0"/>
              <a:t>7</a:t>
            </a:fld>
            <a:endParaRPr lang="de-DE"/>
          </a:p>
        </p:txBody>
      </p:sp>
      <p:sp>
        <p:nvSpPr>
          <p:cNvPr id="7" name="Titel 6">
            <a:extLst>
              <a:ext uri="{FF2B5EF4-FFF2-40B4-BE49-F238E27FC236}">
                <a16:creationId xmlns:a16="http://schemas.microsoft.com/office/drawing/2014/main" id="{6110CB1A-79EA-43E4-B07E-257B21EBAC6E}"/>
              </a:ext>
            </a:extLst>
          </p:cNvPr>
          <p:cNvSpPr>
            <a:spLocks noGrp="1"/>
          </p:cNvSpPr>
          <p:nvPr>
            <p:ph type="title"/>
          </p:nvPr>
        </p:nvSpPr>
        <p:spPr>
          <a:xfrm>
            <a:off x="151155" y="535760"/>
            <a:ext cx="10515600" cy="1325033"/>
          </a:xfrm>
        </p:spPr>
        <p:txBody>
          <a:bodyPr/>
          <a:lstStyle/>
          <a:p>
            <a:r>
              <a:rPr lang="en-GB" dirty="0"/>
              <a:t>Aufgabe 2</a:t>
            </a:r>
          </a:p>
        </p:txBody>
      </p:sp>
      <p:sp>
        <p:nvSpPr>
          <p:cNvPr id="10" name="Textfeld 9">
            <a:extLst>
              <a:ext uri="{FF2B5EF4-FFF2-40B4-BE49-F238E27FC236}">
                <a16:creationId xmlns:a16="http://schemas.microsoft.com/office/drawing/2014/main" id="{9CF93455-E584-4E90-9C1F-F02601CF11D3}"/>
              </a:ext>
            </a:extLst>
          </p:cNvPr>
          <p:cNvSpPr txBox="1"/>
          <p:nvPr/>
        </p:nvSpPr>
        <p:spPr>
          <a:xfrm>
            <a:off x="342367" y="1472474"/>
            <a:ext cx="11286921" cy="1718419"/>
          </a:xfrm>
          <a:prstGeom prst="rect">
            <a:avLst/>
          </a:prstGeom>
          <a:noFill/>
        </p:spPr>
        <p:txBody>
          <a:bodyPr wrap="square" rtlCol="0">
            <a:spAutoFit/>
          </a:bodyPr>
          <a:lstStyle/>
          <a:p>
            <a:pPr algn="just">
              <a:spcAft>
                <a:spcPts val="400"/>
              </a:spcAft>
            </a:pPr>
            <a:r>
              <a:rPr lang="de-D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Führen Sie alle Elemente </a:t>
            </a:r>
            <a:r>
              <a:rPr lang="de-DE"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eines</a:t>
            </a:r>
            <a:r>
              <a:rPr lang="de-D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Ihrer Beispiele mit der allgemeinen Elementbezeichnung und der in Ihrem Beispiel verwendeten Bezeichnung auf und beschreiben Sie deren Funktionen. Nutzen Sie für die Bearbeitung dieser Aufgabe ihr Beispiel aus Aufgabe 1A </a:t>
            </a:r>
            <a:r>
              <a:rPr lang="de-DE"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oder </a:t>
            </a:r>
            <a:r>
              <a:rPr lang="de-D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1B und verwenden Sie eine Tabelle.</a:t>
            </a:r>
          </a:p>
          <a:p>
            <a:pPr algn="just">
              <a:lnSpc>
                <a:spcPct val="150000"/>
              </a:lnSpc>
              <a:spcAft>
                <a:spcPts val="400"/>
              </a:spcAft>
            </a:pPr>
            <a:r>
              <a:rPr lang="de-DE" dirty="0">
                <a:solidFill>
                  <a:srgbClr val="000000"/>
                </a:solidFill>
                <a:latin typeface="Arial" panose="020B0604020202020204" pitchFamily="34" charset="0"/>
                <a:ea typeface="Times New Roman" panose="02020603050405020304" pitchFamily="18" charset="0"/>
                <a:cs typeface="Arial" panose="020B0604020202020204" pitchFamily="34" charset="0"/>
              </a:rPr>
              <a:t>Das dargestellte Beispiel bezieht sich auf die BPMN Modellierung aus Aufgabe 1A.</a:t>
            </a: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GB" dirty="0"/>
          </a:p>
        </p:txBody>
      </p:sp>
      <p:graphicFrame>
        <p:nvGraphicFramePr>
          <p:cNvPr id="8" name="Tabelle 8">
            <a:extLst>
              <a:ext uri="{FF2B5EF4-FFF2-40B4-BE49-F238E27FC236}">
                <a16:creationId xmlns:a16="http://schemas.microsoft.com/office/drawing/2014/main" id="{8F5A2977-DC6E-4609-BF86-5980A67B5466}"/>
              </a:ext>
            </a:extLst>
          </p:cNvPr>
          <p:cNvGraphicFramePr>
            <a:graphicFrameLocks noGrp="1"/>
          </p:cNvGraphicFramePr>
          <p:nvPr>
            <p:extLst>
              <p:ext uri="{D42A27DB-BD31-4B8C-83A1-F6EECF244321}">
                <p14:modId xmlns:p14="http://schemas.microsoft.com/office/powerpoint/2010/main" val="2993766447"/>
              </p:ext>
            </p:extLst>
          </p:nvPr>
        </p:nvGraphicFramePr>
        <p:xfrm>
          <a:off x="409551" y="2909052"/>
          <a:ext cx="11152551" cy="3381587"/>
        </p:xfrm>
        <a:graphic>
          <a:graphicData uri="http://schemas.openxmlformats.org/drawingml/2006/table">
            <a:tbl>
              <a:tblPr firstRow="1" bandRow="1">
                <a:tableStyleId>{5940675A-B579-460E-94D1-54222C63F5DA}</a:tableStyleId>
              </a:tblPr>
              <a:tblGrid>
                <a:gridCol w="3717517">
                  <a:extLst>
                    <a:ext uri="{9D8B030D-6E8A-4147-A177-3AD203B41FA5}">
                      <a16:colId xmlns:a16="http://schemas.microsoft.com/office/drawing/2014/main" val="1801370924"/>
                    </a:ext>
                  </a:extLst>
                </a:gridCol>
                <a:gridCol w="3717517">
                  <a:extLst>
                    <a:ext uri="{9D8B030D-6E8A-4147-A177-3AD203B41FA5}">
                      <a16:colId xmlns:a16="http://schemas.microsoft.com/office/drawing/2014/main" val="1143515087"/>
                    </a:ext>
                  </a:extLst>
                </a:gridCol>
                <a:gridCol w="3717517">
                  <a:extLst>
                    <a:ext uri="{9D8B030D-6E8A-4147-A177-3AD203B41FA5}">
                      <a16:colId xmlns:a16="http://schemas.microsoft.com/office/drawing/2014/main" val="2568000211"/>
                    </a:ext>
                  </a:extLst>
                </a:gridCol>
              </a:tblGrid>
              <a:tr h="370840">
                <a:tc>
                  <a:txBody>
                    <a:bodyPr/>
                    <a:lstStyle/>
                    <a:p>
                      <a:pPr algn="ctr">
                        <a:lnSpc>
                          <a:spcPts val="1600"/>
                        </a:lnSpc>
                        <a:spcAft>
                          <a:spcPts val="400"/>
                        </a:spcAft>
                      </a:pPr>
                      <a:r>
                        <a:rPr lang="de-DE"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Allgemeine Elementbezeichnung </a:t>
                      </a: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ts val="1600"/>
                        </a:lnSpc>
                        <a:spcAft>
                          <a:spcPts val="400"/>
                        </a:spcAft>
                      </a:pPr>
                      <a:r>
                        <a:rPr lang="de-DE" sz="1800" b="1" dirty="0">
                          <a:effectLst/>
                          <a:latin typeface="Arial" panose="020B0604020202020204" pitchFamily="34" charset="0"/>
                          <a:ea typeface="Times New Roman" panose="02020603050405020304" pitchFamily="18" charset="0"/>
                          <a:cs typeface="Times New Roman" panose="02020603050405020304" pitchFamily="18" charset="0"/>
                        </a:rPr>
                        <a:t>Element in ihrem Beispiel</a:t>
                      </a:r>
                    </a:p>
                  </a:txBody>
                  <a:tcPr marL="68580" marR="68580" marT="0" marB="0" anchor="ctr"/>
                </a:tc>
                <a:tc>
                  <a:txBody>
                    <a:bodyPr/>
                    <a:lstStyle/>
                    <a:p>
                      <a:pPr algn="ctr">
                        <a:lnSpc>
                          <a:spcPts val="1600"/>
                        </a:lnSpc>
                        <a:spcAft>
                          <a:spcPts val="400"/>
                        </a:spcAft>
                      </a:pPr>
                      <a:r>
                        <a:rPr lang="de-DE"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Funktion</a:t>
                      </a: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03357783"/>
                  </a:ext>
                </a:extLst>
              </a:tr>
              <a:tr h="228600">
                <a:tc rowSpan="2">
                  <a:txBody>
                    <a:bodyPr/>
                    <a:lstStyle/>
                    <a:p>
                      <a:pPr algn="just">
                        <a:lnSpc>
                          <a:spcPts val="1600"/>
                        </a:lnSpc>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Event </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Feststellung: keine Kaffeebohnen sind übrig</a:t>
                      </a:r>
                    </a:p>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-&gt; Startevent</a:t>
                      </a:r>
                    </a:p>
                  </a:txBody>
                  <a:tcPr marL="68580" marR="68580" marT="0" marB="0" anchor="ctr"/>
                </a:tc>
                <a:tc>
                  <a:txBody>
                    <a:bodyPr/>
                    <a:lstStyle/>
                    <a:p>
                      <a:pPr algn="just">
                        <a:lnSpc>
                          <a:spcPts val="1600"/>
                        </a:lnSpc>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Die Feststellung über den Mangel an Kaffeebohnen löst den Prozess aus.</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4702147"/>
                  </a:ext>
                </a:extLst>
              </a:tr>
              <a:tr h="228600">
                <a:tc vMerge="1">
                  <a:txBody>
                    <a:bodyPr/>
                    <a:lstStyle/>
                    <a:p>
                      <a:endParaRPr lang="en-GB"/>
                    </a:p>
                  </a:txBody>
                  <a:tcP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Mangel behoben</a:t>
                      </a:r>
                    </a:p>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-&gt; </a:t>
                      </a:r>
                      <a:r>
                        <a:rPr lang="de-DE" sz="1400" dirty="0" err="1">
                          <a:effectLst/>
                          <a:latin typeface="Arial" panose="020B0604020202020204" pitchFamily="34" charset="0"/>
                          <a:ea typeface="Times New Roman" panose="02020603050405020304" pitchFamily="18" charset="0"/>
                          <a:cs typeface="Times New Roman" panose="02020603050405020304" pitchFamily="18" charset="0"/>
                        </a:rPr>
                        <a:t>Endevent</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Durch das Auffüllen der Kaffeebohnen wird der Prozess beendet.</a:t>
                      </a:r>
                    </a:p>
                  </a:txBody>
                  <a:tcPr marL="68580" marR="68580" marT="0" marB="0" anchor="ctr"/>
                </a:tc>
                <a:extLst>
                  <a:ext uri="{0D108BD9-81ED-4DB2-BD59-A6C34878D82A}">
                    <a16:rowId xmlns:a16="http://schemas.microsoft.com/office/drawing/2014/main" val="1060295363"/>
                  </a:ext>
                </a:extLst>
              </a:tr>
              <a:tr h="338667">
                <a:tc rowSpan="3">
                  <a:txBody>
                    <a:bodyPr/>
                    <a:lstStyle/>
                    <a:p>
                      <a:pPr algn="just">
                        <a:lnSpc>
                          <a:spcPts val="1600"/>
                        </a:lnSpc>
                        <a:spcAft>
                          <a:spcPts val="400"/>
                        </a:spcAft>
                      </a:pPr>
                      <a:r>
                        <a:rPr lang="de-DE" sz="1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Aktivität </a:t>
                      </a:r>
                      <a:endParaRPr lang="de-DE" sz="1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Mangel weiterleiten</a:t>
                      </a: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Nach Feststellung des Mangels wird diese Information an meinen Kollegen weitergeleitet.</a:t>
                      </a:r>
                    </a:p>
                  </a:txBody>
                  <a:tcPr marL="68580" marR="68580" marT="0" marB="0" anchor="ctr"/>
                </a:tc>
                <a:extLst>
                  <a:ext uri="{0D108BD9-81ED-4DB2-BD59-A6C34878D82A}">
                    <a16:rowId xmlns:a16="http://schemas.microsoft.com/office/drawing/2014/main" val="3198576957"/>
                  </a:ext>
                </a:extLst>
              </a:tr>
              <a:tr h="338666">
                <a:tc vMerge="1">
                  <a:txBody>
                    <a:bodyPr/>
                    <a:lstStyle/>
                    <a:p>
                      <a:endParaRPr lang="en-GB"/>
                    </a:p>
                  </a:txBody>
                  <a:tcP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Kaffeebohnen auswählen</a:t>
                      </a: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Mein Kollege wählt eine Sorte Bohnen, aus der im Handel erhältlichen Auswahl, aus.</a:t>
                      </a:r>
                    </a:p>
                  </a:txBody>
                  <a:tcPr marL="68580" marR="68580" marT="0" marB="0" anchor="ctr"/>
                </a:tc>
                <a:extLst>
                  <a:ext uri="{0D108BD9-81ED-4DB2-BD59-A6C34878D82A}">
                    <a16:rowId xmlns:a16="http://schemas.microsoft.com/office/drawing/2014/main" val="3491325257"/>
                  </a:ext>
                </a:extLst>
              </a:tr>
              <a:tr h="338667">
                <a:tc vMerge="1">
                  <a:txBody>
                    <a:bodyPr/>
                    <a:lstStyle/>
                    <a:p>
                      <a:endParaRPr lang="en-GB"/>
                    </a:p>
                  </a:txBody>
                  <a:tcP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Kaffeesorte prüfen</a:t>
                      </a: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a:t>
                      </a:r>
                    </a:p>
                  </a:txBody>
                  <a:tcPr marL="68580" marR="68580" marT="0" marB="0" anchor="ctr"/>
                </a:tc>
                <a:extLst>
                  <a:ext uri="{0D108BD9-81ED-4DB2-BD59-A6C34878D82A}">
                    <a16:rowId xmlns:a16="http://schemas.microsoft.com/office/drawing/2014/main" val="1957229307"/>
                  </a:ext>
                </a:extLst>
              </a:tr>
              <a:tr h="370840">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Pool</a:t>
                      </a:r>
                    </a:p>
                  </a:txBody>
                  <a:tcPr marL="68580" marR="68580" marT="0" marB="0" anchor="ctr"/>
                </a:tc>
                <a:tc>
                  <a:txBody>
                    <a:bodyPr/>
                    <a:lstStyle/>
                    <a:p>
                      <a:pPr algn="just">
                        <a:lnSpc>
                          <a:spcPts val="1600"/>
                        </a:lnSpc>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a:t>
                      </a:r>
                    </a:p>
                  </a:txBody>
                  <a:tcPr marL="68580" marR="68580" marT="0" marB="0" anchor="ctr"/>
                </a:tc>
                <a:tc>
                  <a:txBody>
                    <a:bodyPr/>
                    <a:lstStyle/>
                    <a:p>
                      <a:pPr algn="just">
                        <a:lnSpc>
                          <a:spcPts val="1600"/>
                        </a:lnSpc>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36900504"/>
                  </a:ext>
                </a:extLst>
              </a:tr>
              <a:tr h="370840">
                <a:tc>
                  <a:txBody>
                    <a:bodyPr/>
                    <a:lstStyle/>
                    <a:p>
                      <a:pPr marL="0" marR="0" lvl="0" indent="0" algn="just" defTabSz="914400" eaLnBrk="1" fontAlgn="auto" latinLnBrk="0" hangingPunct="1">
                        <a:lnSpc>
                          <a:spcPts val="1600"/>
                        </a:lnSpc>
                        <a:spcBef>
                          <a:spcPts val="0"/>
                        </a:spcBef>
                        <a:spcAft>
                          <a:spcPts val="400"/>
                        </a:spcAft>
                        <a:buClrTx/>
                        <a:buSzTx/>
                        <a:buFontTx/>
                        <a:buNone/>
                        <a:tabLst/>
                        <a:defRPr/>
                      </a:pPr>
                      <a:r>
                        <a:rPr lang="de-DE"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Swimlane</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ts val="1600"/>
                        </a:lnSpc>
                        <a:spcAft>
                          <a:spcPts val="400"/>
                        </a:spcAft>
                      </a:pP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ts val="1600"/>
                        </a:lnSpc>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56139033"/>
                  </a:ext>
                </a:extLst>
              </a:tr>
            </a:tbl>
          </a:graphicData>
        </a:graphic>
      </p:graphicFrame>
    </p:spTree>
    <p:extLst>
      <p:ext uri="{BB962C8B-B14F-4D97-AF65-F5344CB8AC3E}">
        <p14:creationId xmlns:p14="http://schemas.microsoft.com/office/powerpoint/2010/main" val="685988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8496-FE42-FFA2-396B-82574CB12F05}"/>
            </a:ext>
          </a:extLst>
        </p:cNvPr>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A9048AAE-24E8-663B-2965-97000686BED8}"/>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2D9C613B-3B5B-9B43-73C3-9F2D224939EC}"/>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EB5231AC-ECE5-349E-E438-0D9F91A7AAB9}"/>
              </a:ext>
            </a:extLst>
          </p:cNvPr>
          <p:cNvSpPr>
            <a:spLocks noGrp="1"/>
          </p:cNvSpPr>
          <p:nvPr>
            <p:ph type="sldNum" sz="quarter" idx="4"/>
          </p:nvPr>
        </p:nvSpPr>
        <p:spPr/>
        <p:txBody>
          <a:bodyPr/>
          <a:lstStyle/>
          <a:p>
            <a:pPr>
              <a:defRPr/>
            </a:pPr>
            <a:fld id="{B6F15528-21DE-4FAA-801E-634DDDAF4B2B}" type="slidenum">
              <a:rPr lang="de-DE" smtClean="0"/>
              <a:t>8</a:t>
            </a:fld>
            <a:endParaRPr lang="de-DE"/>
          </a:p>
        </p:txBody>
      </p:sp>
      <p:sp>
        <p:nvSpPr>
          <p:cNvPr id="7" name="Titel 6">
            <a:extLst>
              <a:ext uri="{FF2B5EF4-FFF2-40B4-BE49-F238E27FC236}">
                <a16:creationId xmlns:a16="http://schemas.microsoft.com/office/drawing/2014/main" id="{76E42371-3534-1323-D54D-B496044E36C6}"/>
              </a:ext>
            </a:extLst>
          </p:cNvPr>
          <p:cNvSpPr>
            <a:spLocks noGrp="1"/>
          </p:cNvSpPr>
          <p:nvPr>
            <p:ph type="title"/>
          </p:nvPr>
        </p:nvSpPr>
        <p:spPr>
          <a:xfrm>
            <a:off x="151155" y="535760"/>
            <a:ext cx="10515600" cy="1325033"/>
          </a:xfrm>
        </p:spPr>
        <p:txBody>
          <a:bodyPr/>
          <a:lstStyle/>
          <a:p>
            <a:r>
              <a:rPr lang="en-GB" dirty="0"/>
              <a:t>Aufgabe 2</a:t>
            </a:r>
          </a:p>
        </p:txBody>
      </p:sp>
      <p:graphicFrame>
        <p:nvGraphicFramePr>
          <p:cNvPr id="12" name="Table 11">
            <a:extLst>
              <a:ext uri="{FF2B5EF4-FFF2-40B4-BE49-F238E27FC236}">
                <a16:creationId xmlns:a16="http://schemas.microsoft.com/office/drawing/2014/main" id="{9435FA1E-B811-4F30-A3E7-AD4369126931}"/>
              </a:ext>
            </a:extLst>
          </p:cNvPr>
          <p:cNvGraphicFramePr>
            <a:graphicFrameLocks noGrp="1"/>
          </p:cNvGraphicFramePr>
          <p:nvPr>
            <p:extLst>
              <p:ext uri="{D42A27DB-BD31-4B8C-83A1-F6EECF244321}">
                <p14:modId xmlns:p14="http://schemas.microsoft.com/office/powerpoint/2010/main" val="3539368452"/>
              </p:ext>
            </p:extLst>
          </p:nvPr>
        </p:nvGraphicFramePr>
        <p:xfrm>
          <a:off x="514928" y="1727583"/>
          <a:ext cx="11164455" cy="4629342"/>
        </p:xfrm>
        <a:graphic>
          <a:graphicData uri="http://schemas.openxmlformats.org/drawingml/2006/table">
            <a:tbl>
              <a:tblPr firstRow="1" bandRow="1">
                <a:tableStyleId>{93296810-A885-4BE3-A3E7-6D5BEEA58F35}</a:tableStyleId>
              </a:tblPr>
              <a:tblGrid>
                <a:gridCol w="1469736">
                  <a:extLst>
                    <a:ext uri="{9D8B030D-6E8A-4147-A177-3AD203B41FA5}">
                      <a16:colId xmlns:a16="http://schemas.microsoft.com/office/drawing/2014/main" val="1655202974"/>
                    </a:ext>
                  </a:extLst>
                </a:gridCol>
                <a:gridCol w="2867891">
                  <a:extLst>
                    <a:ext uri="{9D8B030D-6E8A-4147-A177-3AD203B41FA5}">
                      <a16:colId xmlns:a16="http://schemas.microsoft.com/office/drawing/2014/main" val="1460114306"/>
                    </a:ext>
                  </a:extLst>
                </a:gridCol>
                <a:gridCol w="6826828">
                  <a:extLst>
                    <a:ext uri="{9D8B030D-6E8A-4147-A177-3AD203B41FA5}">
                      <a16:colId xmlns:a16="http://schemas.microsoft.com/office/drawing/2014/main" val="1076919251"/>
                    </a:ext>
                  </a:extLst>
                </a:gridCol>
              </a:tblGrid>
              <a:tr h="439266">
                <a:tc>
                  <a:txBody>
                    <a:bodyPr/>
                    <a:lstStyle/>
                    <a:p>
                      <a:r>
                        <a:rPr lang="en-US" dirty="0" err="1"/>
                        <a:t>Bezeichnung</a:t>
                      </a:r>
                      <a:endParaRPr lang="en-US" dirty="0"/>
                    </a:p>
                  </a:txBody>
                  <a:tcPr/>
                </a:tc>
                <a:tc>
                  <a:txBody>
                    <a:bodyPr/>
                    <a:lstStyle/>
                    <a:p>
                      <a:r>
                        <a:rPr lang="en-US" dirty="0"/>
                        <a:t>Element</a:t>
                      </a:r>
                    </a:p>
                  </a:txBody>
                  <a:tcPr/>
                </a:tc>
                <a:tc>
                  <a:txBody>
                    <a:bodyPr/>
                    <a:lstStyle/>
                    <a:p>
                      <a:r>
                        <a:rPr lang="en-US" dirty="0" err="1"/>
                        <a:t>Funktion</a:t>
                      </a:r>
                      <a:endParaRPr lang="en-US" dirty="0"/>
                    </a:p>
                  </a:txBody>
                  <a:tcPr/>
                </a:tc>
                <a:extLst>
                  <a:ext uri="{0D108BD9-81ED-4DB2-BD59-A6C34878D82A}">
                    <a16:rowId xmlns:a16="http://schemas.microsoft.com/office/drawing/2014/main" val="3784753359"/>
                  </a:ext>
                </a:extLst>
              </a:tr>
              <a:tr h="439266">
                <a:tc>
                  <a:txBody>
                    <a:bodyPr/>
                    <a:lstStyle/>
                    <a:p>
                      <a:r>
                        <a:rPr lang="en-US" dirty="0" err="1"/>
                        <a:t>Ereignis</a:t>
                      </a:r>
                      <a:endParaRPr lang="en-US" dirty="0"/>
                    </a:p>
                  </a:txBody>
                  <a:tcPr/>
                </a:tc>
                <a:tc>
                  <a:txBody>
                    <a:bodyPr/>
                    <a:lstStyle/>
                    <a:p>
                      <a:r>
                        <a:rPr lang="en-US" dirty="0"/>
                        <a:t>Backlog </a:t>
                      </a:r>
                      <a:r>
                        <a:rPr lang="en-US" dirty="0" err="1"/>
                        <a:t>gefüllt</a:t>
                      </a:r>
                      <a:endParaRPr lang="en-US" dirty="0"/>
                    </a:p>
                  </a:txBody>
                  <a:tcPr/>
                </a:tc>
                <a:tc rowSpan="2">
                  <a:txBody>
                    <a:bodyPr/>
                    <a:lstStyle/>
                    <a:p>
                      <a:r>
                        <a:rPr lang="en-US" dirty="0" err="1"/>
                        <a:t>Diese</a:t>
                      </a:r>
                      <a:r>
                        <a:rPr lang="en-US" dirty="0"/>
                        <a:t> </a:t>
                      </a:r>
                      <a:r>
                        <a:rPr lang="en-US" dirty="0" err="1"/>
                        <a:t>beiden</a:t>
                      </a:r>
                      <a:r>
                        <a:rPr lang="en-US" dirty="0"/>
                        <a:t> </a:t>
                      </a:r>
                      <a:r>
                        <a:rPr lang="en-US" dirty="0" err="1"/>
                        <a:t>Ereignisse</a:t>
                      </a:r>
                      <a:r>
                        <a:rPr lang="en-US" dirty="0"/>
                        <a:t> </a:t>
                      </a:r>
                      <a:r>
                        <a:rPr lang="en-US" dirty="0" err="1"/>
                        <a:t>bilden</a:t>
                      </a:r>
                      <a:r>
                        <a:rPr lang="en-US" dirty="0"/>
                        <a:t> die </a:t>
                      </a:r>
                      <a:r>
                        <a:rPr lang="en-US" dirty="0" err="1"/>
                        <a:t>Startbedingung</a:t>
                      </a:r>
                      <a:r>
                        <a:rPr lang="en-US" dirty="0"/>
                        <a:t> für den </a:t>
                      </a:r>
                      <a:r>
                        <a:rPr lang="en-US" dirty="0" err="1"/>
                        <a:t>Prozess</a:t>
                      </a:r>
                      <a:r>
                        <a:rPr lang="en-US" dirty="0"/>
                        <a:t>. Erst </a:t>
                      </a:r>
                      <a:r>
                        <a:rPr lang="en-US" dirty="0" err="1"/>
                        <a:t>wenn</a:t>
                      </a:r>
                      <a:r>
                        <a:rPr lang="en-US" dirty="0"/>
                        <a:t> das Backlog </a:t>
                      </a:r>
                      <a:r>
                        <a:rPr lang="en-US" dirty="0" err="1"/>
                        <a:t>mit</a:t>
                      </a:r>
                      <a:r>
                        <a:rPr lang="en-US" dirty="0"/>
                        <a:t> </a:t>
                      </a:r>
                      <a:r>
                        <a:rPr lang="en-US" dirty="0" err="1"/>
                        <a:t>Aufgaben</a:t>
                      </a:r>
                      <a:r>
                        <a:rPr lang="en-US" dirty="0"/>
                        <a:t> </a:t>
                      </a:r>
                      <a:r>
                        <a:rPr lang="en-US" dirty="0" err="1"/>
                        <a:t>gefüllt</a:t>
                      </a:r>
                      <a:r>
                        <a:rPr lang="en-US" dirty="0"/>
                        <a:t> </a:t>
                      </a:r>
                      <a:r>
                        <a:rPr lang="en-US" dirty="0" err="1"/>
                        <a:t>ist</a:t>
                      </a:r>
                      <a:r>
                        <a:rPr lang="en-US" dirty="0"/>
                        <a:t> und das </a:t>
                      </a:r>
                      <a:r>
                        <a:rPr lang="en-US" dirty="0" err="1"/>
                        <a:t>Wochenende</a:t>
                      </a:r>
                      <a:r>
                        <a:rPr lang="en-US" dirty="0"/>
                        <a:t> </a:t>
                      </a:r>
                      <a:r>
                        <a:rPr lang="en-US" dirty="0" err="1"/>
                        <a:t>begonnen</a:t>
                      </a:r>
                      <a:r>
                        <a:rPr lang="en-US" dirty="0"/>
                        <a:t> hat </a:t>
                      </a:r>
                      <a:r>
                        <a:rPr lang="en-US" dirty="0" err="1"/>
                        <a:t>beginnt</a:t>
                      </a:r>
                      <a:r>
                        <a:rPr lang="en-US" dirty="0"/>
                        <a:t> der </a:t>
                      </a:r>
                      <a:r>
                        <a:rPr lang="en-US" dirty="0" err="1"/>
                        <a:t>Prozess</a:t>
                      </a:r>
                      <a:r>
                        <a:rPr lang="en-US" dirty="0"/>
                        <a:t>.</a:t>
                      </a:r>
                    </a:p>
                  </a:txBody>
                  <a:tcPr/>
                </a:tc>
                <a:extLst>
                  <a:ext uri="{0D108BD9-81ED-4DB2-BD59-A6C34878D82A}">
                    <a16:rowId xmlns:a16="http://schemas.microsoft.com/office/drawing/2014/main" val="2752757250"/>
                  </a:ext>
                </a:extLst>
              </a:tr>
              <a:tr h="439266">
                <a:tc>
                  <a:txBody>
                    <a:bodyPr/>
                    <a:lstStyle/>
                    <a:p>
                      <a:endParaRPr lang="en-US"/>
                    </a:p>
                  </a:txBody>
                  <a:tcPr/>
                </a:tc>
                <a:tc>
                  <a:txBody>
                    <a:bodyPr/>
                    <a:lstStyle/>
                    <a:p>
                      <a:r>
                        <a:rPr lang="en-US" dirty="0" err="1"/>
                        <a:t>Wochenende</a:t>
                      </a:r>
                      <a:r>
                        <a:rPr lang="en-US" dirty="0"/>
                        <a:t> </a:t>
                      </a:r>
                      <a:r>
                        <a:rPr lang="en-US" dirty="0" err="1"/>
                        <a:t>begonnen</a:t>
                      </a:r>
                      <a:endParaRPr lang="en-US" dirty="0"/>
                    </a:p>
                  </a:txBody>
                  <a:tcPr/>
                </a:tc>
                <a:tc vMerge="1">
                  <a:txBody>
                    <a:bodyPr/>
                    <a:lstStyle/>
                    <a:p>
                      <a:endParaRPr lang="en-US" dirty="0"/>
                    </a:p>
                  </a:txBody>
                  <a:tcPr/>
                </a:tc>
                <a:extLst>
                  <a:ext uri="{0D108BD9-81ED-4DB2-BD59-A6C34878D82A}">
                    <a16:rowId xmlns:a16="http://schemas.microsoft.com/office/drawing/2014/main" val="3799643538"/>
                  </a:ext>
                </a:extLst>
              </a:tr>
              <a:tr h="439266">
                <a:tc>
                  <a:txBody>
                    <a:bodyPr/>
                    <a:lstStyle/>
                    <a:p>
                      <a:endParaRPr lang="en-US"/>
                    </a:p>
                  </a:txBody>
                  <a:tcPr/>
                </a:tc>
                <a:tc>
                  <a:txBody>
                    <a:bodyPr/>
                    <a:lstStyle/>
                    <a:p>
                      <a:r>
                        <a:rPr lang="en-US" dirty="0"/>
                        <a:t>Aufgabe </a:t>
                      </a:r>
                      <a:r>
                        <a:rPr lang="en-US" dirty="0" err="1"/>
                        <a:t>wird</a:t>
                      </a:r>
                      <a:r>
                        <a:rPr lang="en-US" dirty="0"/>
                        <a:t> </a:t>
                      </a:r>
                      <a:r>
                        <a:rPr lang="en-US" dirty="0" err="1"/>
                        <a:t>bearbeitet</a:t>
                      </a:r>
                      <a:endParaRPr lang="en-US" dirty="0"/>
                    </a:p>
                  </a:txBody>
                  <a:tcPr/>
                </a:tc>
                <a:tc rowSpan="6">
                  <a:txBody>
                    <a:bodyPr/>
                    <a:lstStyle/>
                    <a:p>
                      <a:pPr marL="0" indent="0">
                        <a:buFont typeface="+mj-lt"/>
                        <a:buNone/>
                      </a:pPr>
                      <a:r>
                        <a:rPr lang="en-US" dirty="0"/>
                        <a:t>Das </a:t>
                      </a:r>
                      <a:r>
                        <a:rPr lang="en-US" dirty="0" err="1"/>
                        <a:t>sind</a:t>
                      </a:r>
                      <a:r>
                        <a:rPr lang="en-US" dirty="0"/>
                        <a:t> </a:t>
                      </a:r>
                      <a:r>
                        <a:rPr lang="en-US" dirty="0" err="1"/>
                        <a:t>Zwischenereignisse</a:t>
                      </a:r>
                      <a:r>
                        <a:rPr lang="en-US" dirty="0"/>
                        <a:t>, </a:t>
                      </a:r>
                      <a:r>
                        <a:rPr lang="en-US" dirty="0" err="1"/>
                        <a:t>welche</a:t>
                      </a:r>
                      <a:r>
                        <a:rPr lang="en-US" dirty="0"/>
                        <a:t> den </a:t>
                      </a:r>
                      <a:r>
                        <a:rPr lang="en-US" dirty="0" err="1"/>
                        <a:t>aktuellen</a:t>
                      </a:r>
                      <a:r>
                        <a:rPr lang="en-US" dirty="0"/>
                        <a:t> Status </a:t>
                      </a:r>
                      <a:r>
                        <a:rPr lang="en-US" dirty="0" err="1"/>
                        <a:t>nach</a:t>
                      </a:r>
                      <a:r>
                        <a:rPr lang="en-US" dirty="0"/>
                        <a:t> </a:t>
                      </a:r>
                      <a:r>
                        <a:rPr lang="en-US" dirty="0" err="1"/>
                        <a:t>einer</a:t>
                      </a:r>
                      <a:r>
                        <a:rPr lang="en-US" dirty="0"/>
                        <a:t> </a:t>
                      </a:r>
                      <a:r>
                        <a:rPr lang="en-US" dirty="0" err="1"/>
                        <a:t>Funktion</a:t>
                      </a:r>
                      <a:r>
                        <a:rPr lang="en-US" dirty="0"/>
                        <a:t> </a:t>
                      </a:r>
                      <a:r>
                        <a:rPr lang="en-US" dirty="0" err="1"/>
                        <a:t>dokumentieren</a:t>
                      </a:r>
                      <a:r>
                        <a:rPr lang="en-US" dirty="0"/>
                        <a:t> und die </a:t>
                      </a:r>
                      <a:r>
                        <a:rPr lang="en-US" dirty="0" err="1"/>
                        <a:t>nächste</a:t>
                      </a:r>
                      <a:r>
                        <a:rPr lang="en-US" dirty="0"/>
                        <a:t> </a:t>
                      </a:r>
                      <a:r>
                        <a:rPr lang="en-US" dirty="0" err="1"/>
                        <a:t>Funktion</a:t>
                      </a:r>
                      <a:r>
                        <a:rPr lang="en-US" dirty="0"/>
                        <a:t> </a:t>
                      </a:r>
                      <a:r>
                        <a:rPr lang="en-US" dirty="0" err="1"/>
                        <a:t>oder</a:t>
                      </a:r>
                      <a:r>
                        <a:rPr lang="en-US" dirty="0"/>
                        <a:t> </a:t>
                      </a:r>
                      <a:r>
                        <a:rPr lang="en-US" dirty="0" err="1"/>
                        <a:t>eine</a:t>
                      </a:r>
                      <a:r>
                        <a:rPr lang="en-US" dirty="0"/>
                        <a:t> </a:t>
                      </a:r>
                      <a:r>
                        <a:rPr lang="en-US" dirty="0" err="1"/>
                        <a:t>Entscheidung</a:t>
                      </a:r>
                      <a:r>
                        <a:rPr lang="en-US" dirty="0"/>
                        <a:t> </a:t>
                      </a:r>
                      <a:r>
                        <a:rPr lang="en-US" dirty="0" err="1"/>
                        <a:t>auslösen</a:t>
                      </a:r>
                      <a:r>
                        <a:rPr lang="en-US" dirty="0"/>
                        <a:t> </a:t>
                      </a:r>
                      <a:r>
                        <a:rPr lang="en-US" dirty="0" err="1"/>
                        <a:t>können</a:t>
                      </a:r>
                      <a:r>
                        <a:rPr lang="en-US" dirty="0"/>
                        <a:t>.</a:t>
                      </a:r>
                    </a:p>
                  </a:txBody>
                  <a:tcPr/>
                </a:tc>
                <a:extLst>
                  <a:ext uri="{0D108BD9-81ED-4DB2-BD59-A6C34878D82A}">
                    <a16:rowId xmlns:a16="http://schemas.microsoft.com/office/drawing/2014/main" val="2829232988"/>
                  </a:ext>
                </a:extLst>
              </a:tr>
              <a:tr h="439266">
                <a:tc>
                  <a:txBody>
                    <a:bodyPr/>
                    <a:lstStyle/>
                    <a:p>
                      <a:endParaRPr lang="en-US"/>
                    </a:p>
                  </a:txBody>
                  <a:tcPr/>
                </a:tc>
                <a:tc>
                  <a:txBody>
                    <a:bodyPr/>
                    <a:lstStyle/>
                    <a:p>
                      <a:r>
                        <a:rPr lang="en-US" dirty="0"/>
                        <a:t>Code </a:t>
                      </a:r>
                      <a:r>
                        <a:rPr lang="en-US" dirty="0" err="1"/>
                        <a:t>Entwurf</a:t>
                      </a:r>
                      <a:r>
                        <a:rPr lang="en-US" dirty="0"/>
                        <a:t> </a:t>
                      </a:r>
                      <a:r>
                        <a:rPr lang="en-US" dirty="0" err="1"/>
                        <a:t>fertig</a:t>
                      </a:r>
                      <a:endParaRPr lang="en-US" dirty="0"/>
                    </a:p>
                  </a:txBody>
                  <a:tcPr/>
                </a:tc>
                <a:tc vMerge="1">
                  <a:txBody>
                    <a:bodyPr/>
                    <a:lstStyle/>
                    <a:p>
                      <a:endParaRPr lang="en-US" dirty="0"/>
                    </a:p>
                  </a:txBody>
                  <a:tcPr/>
                </a:tc>
                <a:extLst>
                  <a:ext uri="{0D108BD9-81ED-4DB2-BD59-A6C34878D82A}">
                    <a16:rowId xmlns:a16="http://schemas.microsoft.com/office/drawing/2014/main" val="2653661224"/>
                  </a:ext>
                </a:extLst>
              </a:tr>
              <a:tr h="439266">
                <a:tc>
                  <a:txBody>
                    <a:bodyPr/>
                    <a:lstStyle/>
                    <a:p>
                      <a:endParaRPr lang="en-US"/>
                    </a:p>
                  </a:txBody>
                  <a:tcPr/>
                </a:tc>
                <a:tc>
                  <a:txBody>
                    <a:bodyPr/>
                    <a:lstStyle/>
                    <a:p>
                      <a:r>
                        <a:rPr lang="en-US" dirty="0"/>
                        <a:t>Failing Test </a:t>
                      </a:r>
                      <a:r>
                        <a:rPr lang="en-US" dirty="0" err="1"/>
                        <a:t>existiert</a:t>
                      </a:r>
                      <a:endParaRPr lang="en-US" dirty="0"/>
                    </a:p>
                  </a:txBody>
                  <a:tcPr/>
                </a:tc>
                <a:tc vMerge="1">
                  <a:txBody>
                    <a:bodyPr/>
                    <a:lstStyle/>
                    <a:p>
                      <a:endParaRPr lang="en-US" dirty="0"/>
                    </a:p>
                  </a:txBody>
                  <a:tcPr/>
                </a:tc>
                <a:extLst>
                  <a:ext uri="{0D108BD9-81ED-4DB2-BD59-A6C34878D82A}">
                    <a16:rowId xmlns:a16="http://schemas.microsoft.com/office/drawing/2014/main" val="2677236516"/>
                  </a:ext>
                </a:extLst>
              </a:tr>
              <a:tr h="439266">
                <a:tc>
                  <a:txBody>
                    <a:bodyPr/>
                    <a:lstStyle/>
                    <a:p>
                      <a:endParaRPr lang="en-US"/>
                    </a:p>
                  </a:txBody>
                  <a:tcPr/>
                </a:tc>
                <a:tc>
                  <a:txBody>
                    <a:bodyPr/>
                    <a:lstStyle/>
                    <a:p>
                      <a:r>
                        <a:rPr lang="en-US" dirty="0"/>
                        <a:t>Test </a:t>
                      </a:r>
                      <a:r>
                        <a:rPr lang="en-US" dirty="0" err="1"/>
                        <a:t>fehlgeschlagen</a:t>
                      </a:r>
                      <a:endParaRPr lang="en-US" dirty="0"/>
                    </a:p>
                  </a:txBody>
                  <a:tcPr/>
                </a:tc>
                <a:tc vMerge="1">
                  <a:txBody>
                    <a:bodyPr/>
                    <a:lstStyle/>
                    <a:p>
                      <a:endParaRPr lang="en-US" dirty="0"/>
                    </a:p>
                  </a:txBody>
                  <a:tcPr/>
                </a:tc>
                <a:extLst>
                  <a:ext uri="{0D108BD9-81ED-4DB2-BD59-A6C34878D82A}">
                    <a16:rowId xmlns:a16="http://schemas.microsoft.com/office/drawing/2014/main" val="956676377"/>
                  </a:ext>
                </a:extLst>
              </a:tr>
              <a:tr h="439266">
                <a:tc>
                  <a:txBody>
                    <a:bodyPr/>
                    <a:lstStyle/>
                    <a:p>
                      <a:endParaRPr lang="en-US"/>
                    </a:p>
                  </a:txBody>
                  <a:tcPr/>
                </a:tc>
                <a:tc>
                  <a:txBody>
                    <a:bodyPr/>
                    <a:lstStyle/>
                    <a:p>
                      <a:r>
                        <a:rPr lang="en-US" dirty="0"/>
                        <a:t>Test </a:t>
                      </a:r>
                      <a:r>
                        <a:rPr lang="en-US" dirty="0" err="1"/>
                        <a:t>bestanden</a:t>
                      </a:r>
                      <a:endParaRPr lang="en-US" dirty="0"/>
                    </a:p>
                  </a:txBody>
                  <a:tcPr/>
                </a:tc>
                <a:tc vMerge="1">
                  <a:txBody>
                    <a:bodyPr/>
                    <a:lstStyle/>
                    <a:p>
                      <a:endParaRPr lang="en-US" dirty="0"/>
                    </a:p>
                  </a:txBody>
                  <a:tcPr/>
                </a:tc>
                <a:extLst>
                  <a:ext uri="{0D108BD9-81ED-4DB2-BD59-A6C34878D82A}">
                    <a16:rowId xmlns:a16="http://schemas.microsoft.com/office/drawing/2014/main" val="2171951096"/>
                  </a:ext>
                </a:extLst>
              </a:tr>
              <a:tr h="439266">
                <a:tc>
                  <a:txBody>
                    <a:bodyPr/>
                    <a:lstStyle/>
                    <a:p>
                      <a:endParaRPr lang="en-US"/>
                    </a:p>
                  </a:txBody>
                  <a:tcPr/>
                </a:tc>
                <a:tc>
                  <a:txBody>
                    <a:bodyPr/>
                    <a:lstStyle/>
                    <a:p>
                      <a:r>
                        <a:rPr lang="en-US" dirty="0"/>
                        <a:t>Code </a:t>
                      </a:r>
                      <a:r>
                        <a:rPr lang="en-US" dirty="0" err="1"/>
                        <a:t>ist</a:t>
                      </a:r>
                      <a:r>
                        <a:rPr lang="en-US" dirty="0"/>
                        <a:t> </a:t>
                      </a:r>
                      <a:r>
                        <a:rPr lang="en-US" dirty="0" err="1"/>
                        <a:t>aufgeräumt</a:t>
                      </a:r>
                      <a:endParaRPr lang="en-US" dirty="0"/>
                    </a:p>
                  </a:txBody>
                  <a:tcPr/>
                </a:tc>
                <a:tc vMerge="1">
                  <a:txBody>
                    <a:bodyPr/>
                    <a:lstStyle/>
                    <a:p>
                      <a:endParaRPr lang="en-US" dirty="0"/>
                    </a:p>
                  </a:txBody>
                  <a:tcPr/>
                </a:tc>
                <a:extLst>
                  <a:ext uri="{0D108BD9-81ED-4DB2-BD59-A6C34878D82A}">
                    <a16:rowId xmlns:a16="http://schemas.microsoft.com/office/drawing/2014/main" val="408239813"/>
                  </a:ext>
                </a:extLst>
              </a:tr>
              <a:tr h="439266">
                <a:tc>
                  <a:txBody>
                    <a:bodyPr/>
                    <a:lstStyle/>
                    <a:p>
                      <a:endParaRPr lang="en-US"/>
                    </a:p>
                  </a:txBody>
                  <a:tcPr/>
                </a:tc>
                <a:tc>
                  <a:txBody>
                    <a:bodyPr/>
                    <a:lstStyle/>
                    <a:p>
                      <a:r>
                        <a:rPr lang="en-US" dirty="0"/>
                        <a:t>Feature </a:t>
                      </a:r>
                      <a:r>
                        <a:rPr lang="en-US" dirty="0" err="1"/>
                        <a:t>abgeschlossen</a:t>
                      </a:r>
                      <a:r>
                        <a:rPr lang="en-US" dirty="0"/>
                        <a:t> </a:t>
                      </a:r>
                      <a:r>
                        <a:rPr lang="en-US" dirty="0" err="1"/>
                        <a:t>im</a:t>
                      </a:r>
                      <a:r>
                        <a:rPr lang="en-US" dirty="0"/>
                        <a:t> Repo</a:t>
                      </a:r>
                    </a:p>
                  </a:txBody>
                  <a:tcPr/>
                </a:tc>
                <a:tc>
                  <a:txBody>
                    <a:bodyPr/>
                    <a:lstStyle/>
                    <a:p>
                      <a:r>
                        <a:rPr lang="en-US" dirty="0" err="1"/>
                        <a:t>Sobald</a:t>
                      </a:r>
                      <a:r>
                        <a:rPr lang="en-US" dirty="0"/>
                        <a:t> das Feature </a:t>
                      </a:r>
                      <a:r>
                        <a:rPr lang="en-US" dirty="0" err="1"/>
                        <a:t>abgeschlossen</a:t>
                      </a:r>
                      <a:r>
                        <a:rPr lang="en-US" dirty="0"/>
                        <a:t> </a:t>
                      </a:r>
                      <a:r>
                        <a:rPr lang="en-US" dirty="0" err="1"/>
                        <a:t>im</a:t>
                      </a:r>
                      <a:r>
                        <a:rPr lang="en-US" dirty="0"/>
                        <a:t> Repository </a:t>
                      </a:r>
                      <a:r>
                        <a:rPr lang="en-US" dirty="0" err="1"/>
                        <a:t>abgespeichert</a:t>
                      </a:r>
                      <a:r>
                        <a:rPr lang="en-US" dirty="0"/>
                        <a:t> </a:t>
                      </a:r>
                      <a:r>
                        <a:rPr lang="en-US" dirty="0" err="1"/>
                        <a:t>wurde</a:t>
                      </a:r>
                      <a:r>
                        <a:rPr lang="en-US" dirty="0"/>
                        <a:t>, </a:t>
                      </a:r>
                      <a:r>
                        <a:rPr lang="en-US" dirty="0" err="1"/>
                        <a:t>ist</a:t>
                      </a:r>
                      <a:r>
                        <a:rPr lang="en-US" dirty="0"/>
                        <a:t> der </a:t>
                      </a:r>
                      <a:r>
                        <a:rPr lang="en-US" dirty="0" err="1"/>
                        <a:t>Prozess</a:t>
                      </a:r>
                      <a:r>
                        <a:rPr lang="en-US" dirty="0"/>
                        <a:t> </a:t>
                      </a:r>
                      <a:r>
                        <a:rPr lang="en-US" dirty="0" err="1"/>
                        <a:t>beendet</a:t>
                      </a:r>
                      <a:r>
                        <a:rPr lang="en-US" dirty="0"/>
                        <a:t>.</a:t>
                      </a:r>
                    </a:p>
                  </a:txBody>
                  <a:tcPr/>
                </a:tc>
                <a:extLst>
                  <a:ext uri="{0D108BD9-81ED-4DB2-BD59-A6C34878D82A}">
                    <a16:rowId xmlns:a16="http://schemas.microsoft.com/office/drawing/2014/main" val="2463799100"/>
                  </a:ext>
                </a:extLst>
              </a:tr>
            </a:tbl>
          </a:graphicData>
        </a:graphic>
      </p:graphicFrame>
    </p:spTree>
    <p:extLst>
      <p:ext uri="{BB962C8B-B14F-4D97-AF65-F5344CB8AC3E}">
        <p14:creationId xmlns:p14="http://schemas.microsoft.com/office/powerpoint/2010/main" val="1338634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346BA-EF41-CB0E-0649-1DA1E63E124B}"/>
            </a:ext>
          </a:extLst>
        </p:cNvPr>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8B430-A91E-1C1A-89ED-B255D9C22953}"/>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D8AD926B-4A2F-805D-B417-532315A7177E}"/>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3FE80DD0-B70A-6799-9D7C-F4378986BD1A}"/>
              </a:ext>
            </a:extLst>
          </p:cNvPr>
          <p:cNvSpPr>
            <a:spLocks noGrp="1"/>
          </p:cNvSpPr>
          <p:nvPr>
            <p:ph type="sldNum" sz="quarter" idx="4"/>
          </p:nvPr>
        </p:nvSpPr>
        <p:spPr/>
        <p:txBody>
          <a:bodyPr/>
          <a:lstStyle/>
          <a:p>
            <a:pPr>
              <a:defRPr/>
            </a:pPr>
            <a:fld id="{B6F15528-21DE-4FAA-801E-634DDDAF4B2B}" type="slidenum">
              <a:rPr lang="de-DE" smtClean="0"/>
              <a:t>9</a:t>
            </a:fld>
            <a:endParaRPr lang="de-DE"/>
          </a:p>
        </p:txBody>
      </p:sp>
      <p:sp>
        <p:nvSpPr>
          <p:cNvPr id="7" name="Titel 6">
            <a:extLst>
              <a:ext uri="{FF2B5EF4-FFF2-40B4-BE49-F238E27FC236}">
                <a16:creationId xmlns:a16="http://schemas.microsoft.com/office/drawing/2014/main" id="{C93E46F6-6DCF-60A8-4DC8-EAF5B2FED19C}"/>
              </a:ext>
            </a:extLst>
          </p:cNvPr>
          <p:cNvSpPr>
            <a:spLocks noGrp="1"/>
          </p:cNvSpPr>
          <p:nvPr>
            <p:ph type="title"/>
          </p:nvPr>
        </p:nvSpPr>
        <p:spPr>
          <a:xfrm>
            <a:off x="151155" y="535760"/>
            <a:ext cx="10515600" cy="1325033"/>
          </a:xfrm>
        </p:spPr>
        <p:txBody>
          <a:bodyPr/>
          <a:lstStyle/>
          <a:p>
            <a:r>
              <a:rPr lang="en-GB" dirty="0"/>
              <a:t>Aufgabe 2</a:t>
            </a:r>
          </a:p>
        </p:txBody>
      </p:sp>
      <p:graphicFrame>
        <p:nvGraphicFramePr>
          <p:cNvPr id="2" name="Table 1">
            <a:extLst>
              <a:ext uri="{FF2B5EF4-FFF2-40B4-BE49-F238E27FC236}">
                <a16:creationId xmlns:a16="http://schemas.microsoft.com/office/drawing/2014/main" id="{03084180-28C4-3DFD-089B-310F7E896DC8}"/>
              </a:ext>
            </a:extLst>
          </p:cNvPr>
          <p:cNvGraphicFramePr>
            <a:graphicFrameLocks noGrp="1"/>
          </p:cNvGraphicFramePr>
          <p:nvPr>
            <p:extLst>
              <p:ext uri="{D42A27DB-BD31-4B8C-83A1-F6EECF244321}">
                <p14:modId xmlns:p14="http://schemas.microsoft.com/office/powerpoint/2010/main" val="261159400"/>
              </p:ext>
            </p:extLst>
          </p:nvPr>
        </p:nvGraphicFramePr>
        <p:xfrm>
          <a:off x="330459" y="1468705"/>
          <a:ext cx="11531082" cy="5203034"/>
        </p:xfrm>
        <a:graphic>
          <a:graphicData uri="http://schemas.openxmlformats.org/drawingml/2006/table">
            <a:tbl>
              <a:tblPr firstRow="1" bandRow="1">
                <a:tableStyleId>{21E4AEA4-8DFA-4A89-87EB-49C32662AFE0}</a:tableStyleId>
              </a:tblPr>
              <a:tblGrid>
                <a:gridCol w="1511300">
                  <a:extLst>
                    <a:ext uri="{9D8B030D-6E8A-4147-A177-3AD203B41FA5}">
                      <a16:colId xmlns:a16="http://schemas.microsoft.com/office/drawing/2014/main" val="3563188493"/>
                    </a:ext>
                  </a:extLst>
                </a:gridCol>
                <a:gridCol w="2587336">
                  <a:extLst>
                    <a:ext uri="{9D8B030D-6E8A-4147-A177-3AD203B41FA5}">
                      <a16:colId xmlns:a16="http://schemas.microsoft.com/office/drawing/2014/main" val="1531918750"/>
                    </a:ext>
                  </a:extLst>
                </a:gridCol>
                <a:gridCol w="7432446">
                  <a:extLst>
                    <a:ext uri="{9D8B030D-6E8A-4147-A177-3AD203B41FA5}">
                      <a16:colId xmlns:a16="http://schemas.microsoft.com/office/drawing/2014/main" val="1123832124"/>
                    </a:ext>
                  </a:extLst>
                </a:gridCol>
              </a:tblGrid>
              <a:tr h="429782">
                <a:tc>
                  <a:txBody>
                    <a:bodyPr/>
                    <a:lstStyle/>
                    <a:p>
                      <a:r>
                        <a:rPr lang="en-US" dirty="0" err="1"/>
                        <a:t>Bezeichnung</a:t>
                      </a:r>
                      <a:endParaRPr lang="en-US" dirty="0"/>
                    </a:p>
                  </a:txBody>
                  <a:tcPr/>
                </a:tc>
                <a:tc>
                  <a:txBody>
                    <a:bodyPr/>
                    <a:lstStyle/>
                    <a:p>
                      <a:r>
                        <a:rPr lang="en-US" dirty="0"/>
                        <a:t>Element</a:t>
                      </a:r>
                    </a:p>
                  </a:txBody>
                  <a:tcPr/>
                </a:tc>
                <a:tc>
                  <a:txBody>
                    <a:bodyPr/>
                    <a:lstStyle/>
                    <a:p>
                      <a:r>
                        <a:rPr lang="en-US" dirty="0" err="1"/>
                        <a:t>Funktion</a:t>
                      </a:r>
                      <a:endParaRPr lang="en-US" dirty="0"/>
                    </a:p>
                  </a:txBody>
                  <a:tcPr/>
                </a:tc>
                <a:extLst>
                  <a:ext uri="{0D108BD9-81ED-4DB2-BD59-A6C34878D82A}">
                    <a16:rowId xmlns:a16="http://schemas.microsoft.com/office/drawing/2014/main" val="2496116780"/>
                  </a:ext>
                </a:extLst>
              </a:tr>
              <a:tr h="429782">
                <a:tc>
                  <a:txBody>
                    <a:bodyPr/>
                    <a:lstStyle/>
                    <a:p>
                      <a:r>
                        <a:rPr lang="en-US" dirty="0" err="1"/>
                        <a:t>Funktion</a:t>
                      </a:r>
                      <a:endParaRPr lang="en-US" dirty="0"/>
                    </a:p>
                  </a:txBody>
                  <a:tcPr/>
                </a:tc>
                <a:tc>
                  <a:txBody>
                    <a:bodyPr/>
                    <a:lstStyle/>
                    <a:p>
                      <a:r>
                        <a:rPr lang="en-US" dirty="0"/>
                        <a:t>Aufgabe </a:t>
                      </a:r>
                      <a:r>
                        <a:rPr lang="en-US" dirty="0" err="1"/>
                        <a:t>priorisieren</a:t>
                      </a:r>
                      <a:endParaRPr lang="en-US" dirty="0"/>
                    </a:p>
                  </a:txBody>
                  <a:tcPr/>
                </a:tc>
                <a:tc>
                  <a:txBody>
                    <a:bodyPr/>
                    <a:lstStyle/>
                    <a:p>
                      <a:r>
                        <a:rPr lang="en-US" dirty="0"/>
                        <a:t>Hier </a:t>
                      </a:r>
                      <a:r>
                        <a:rPr lang="en-US" dirty="0" err="1"/>
                        <a:t>wird</a:t>
                      </a:r>
                      <a:r>
                        <a:rPr lang="en-US" dirty="0"/>
                        <a:t> </a:t>
                      </a:r>
                      <a:r>
                        <a:rPr lang="en-US" dirty="0" err="1"/>
                        <a:t>entschieden</a:t>
                      </a:r>
                      <a:r>
                        <a:rPr lang="en-US" dirty="0"/>
                        <a:t> </a:t>
                      </a:r>
                      <a:r>
                        <a:rPr lang="en-US" dirty="0" err="1"/>
                        <a:t>welche</a:t>
                      </a:r>
                      <a:r>
                        <a:rPr lang="en-US" dirty="0"/>
                        <a:t> Aufgabe </a:t>
                      </a:r>
                      <a:r>
                        <a:rPr lang="en-US" dirty="0" err="1"/>
                        <a:t>aus</a:t>
                      </a:r>
                      <a:r>
                        <a:rPr lang="en-US" dirty="0"/>
                        <a:t> dem Backlog </a:t>
                      </a:r>
                      <a:r>
                        <a:rPr lang="en-US" dirty="0" err="1"/>
                        <a:t>gewählt</a:t>
                      </a:r>
                      <a:r>
                        <a:rPr lang="en-US" dirty="0"/>
                        <a:t> </a:t>
                      </a:r>
                      <a:r>
                        <a:rPr lang="en-US" dirty="0" err="1"/>
                        <a:t>wird</a:t>
                      </a:r>
                      <a:r>
                        <a:rPr lang="en-US" dirty="0"/>
                        <a:t>.</a:t>
                      </a:r>
                    </a:p>
                  </a:txBody>
                  <a:tcPr/>
                </a:tc>
                <a:extLst>
                  <a:ext uri="{0D108BD9-81ED-4DB2-BD59-A6C34878D82A}">
                    <a16:rowId xmlns:a16="http://schemas.microsoft.com/office/drawing/2014/main" val="14296518"/>
                  </a:ext>
                </a:extLst>
              </a:tr>
              <a:tr h="623669">
                <a:tc>
                  <a:txBody>
                    <a:bodyPr/>
                    <a:lstStyle/>
                    <a:p>
                      <a:endParaRPr lang="en-US"/>
                    </a:p>
                  </a:txBody>
                  <a:tcPr/>
                </a:tc>
                <a:tc>
                  <a:txBody>
                    <a:bodyPr/>
                    <a:lstStyle/>
                    <a:p>
                      <a:r>
                        <a:rPr lang="en-US" dirty="0"/>
                        <a:t>Failing Test </a:t>
                      </a:r>
                      <a:r>
                        <a:rPr lang="en-US" dirty="0" err="1"/>
                        <a:t>schreiben</a:t>
                      </a:r>
                      <a:endParaRPr lang="en-US" dirty="0"/>
                    </a:p>
                  </a:txBody>
                  <a:tcPr/>
                </a:tc>
                <a:tc>
                  <a:txBody>
                    <a:bodyPr/>
                    <a:lstStyle/>
                    <a:p>
                      <a:r>
                        <a:rPr lang="en-US" dirty="0"/>
                        <a:t>Start des </a:t>
                      </a:r>
                      <a:r>
                        <a:rPr lang="en-US" dirty="0" err="1"/>
                        <a:t>Entwicklungszyklus</a:t>
                      </a:r>
                      <a:r>
                        <a:rPr lang="en-US" dirty="0"/>
                        <a:t> </a:t>
                      </a:r>
                      <a:r>
                        <a:rPr lang="en-US" dirty="0" err="1"/>
                        <a:t>nach</a:t>
                      </a:r>
                      <a:r>
                        <a:rPr lang="en-US" dirty="0"/>
                        <a:t> TDD-</a:t>
                      </a:r>
                      <a:r>
                        <a:rPr lang="en-US" dirty="0" err="1"/>
                        <a:t>Prinzip</a:t>
                      </a:r>
                      <a:r>
                        <a:rPr lang="en-US" dirty="0"/>
                        <a:t>. Ein Test </a:t>
                      </a:r>
                      <a:r>
                        <a:rPr lang="en-US" dirty="0" err="1"/>
                        <a:t>wird</a:t>
                      </a:r>
                      <a:r>
                        <a:rPr lang="en-US" dirty="0"/>
                        <a:t> </a:t>
                      </a:r>
                      <a:r>
                        <a:rPr lang="en-US" dirty="0" err="1"/>
                        <a:t>geschrieben</a:t>
                      </a:r>
                      <a:r>
                        <a:rPr lang="en-US" dirty="0"/>
                        <a:t>, der </a:t>
                      </a:r>
                      <a:r>
                        <a:rPr lang="en-US" dirty="0" err="1"/>
                        <a:t>fehlschlagen</a:t>
                      </a:r>
                      <a:r>
                        <a:rPr lang="en-US" dirty="0"/>
                        <a:t> </a:t>
                      </a:r>
                      <a:r>
                        <a:rPr lang="en-US" dirty="0" err="1"/>
                        <a:t>soll</a:t>
                      </a:r>
                      <a:r>
                        <a:rPr lang="en-US" dirty="0"/>
                        <a:t>.</a:t>
                      </a:r>
                    </a:p>
                  </a:txBody>
                  <a:tcPr/>
                </a:tc>
                <a:extLst>
                  <a:ext uri="{0D108BD9-81ED-4DB2-BD59-A6C34878D82A}">
                    <a16:rowId xmlns:a16="http://schemas.microsoft.com/office/drawing/2014/main" val="145028260"/>
                  </a:ext>
                </a:extLst>
              </a:tr>
              <a:tr h="429782">
                <a:tc>
                  <a:txBody>
                    <a:bodyPr/>
                    <a:lstStyle/>
                    <a:p>
                      <a:endParaRPr lang="en-US"/>
                    </a:p>
                  </a:txBody>
                  <a:tcPr/>
                </a:tc>
                <a:tc>
                  <a:txBody>
                    <a:bodyPr/>
                    <a:lstStyle/>
                    <a:p>
                      <a:r>
                        <a:rPr lang="en-US" dirty="0" err="1"/>
                        <a:t>Prototyp</a:t>
                      </a:r>
                      <a:r>
                        <a:rPr lang="en-US" dirty="0"/>
                        <a:t> Code </a:t>
                      </a:r>
                      <a:r>
                        <a:rPr lang="en-US" dirty="0" err="1"/>
                        <a:t>schreiben</a:t>
                      </a:r>
                      <a:endParaRPr lang="en-US" dirty="0"/>
                    </a:p>
                  </a:txBody>
                  <a:tcPr/>
                </a:tc>
                <a:tc>
                  <a:txBody>
                    <a:bodyPr/>
                    <a:lstStyle/>
                    <a:p>
                      <a:r>
                        <a:rPr lang="en-US" dirty="0"/>
                        <a:t>Die </a:t>
                      </a:r>
                      <a:r>
                        <a:rPr lang="en-US" dirty="0" err="1"/>
                        <a:t>Programmierung</a:t>
                      </a:r>
                      <a:r>
                        <a:rPr lang="en-US" dirty="0"/>
                        <a:t> der </a:t>
                      </a:r>
                      <a:r>
                        <a:rPr lang="en-US" dirty="0" err="1"/>
                        <a:t>Lösung</a:t>
                      </a:r>
                      <a:r>
                        <a:rPr lang="en-US" dirty="0"/>
                        <a:t>, um den Test </a:t>
                      </a:r>
                      <a:r>
                        <a:rPr lang="en-US" dirty="0" err="1"/>
                        <a:t>zu</a:t>
                      </a:r>
                      <a:r>
                        <a:rPr lang="en-US" dirty="0"/>
                        <a:t> </a:t>
                      </a:r>
                      <a:r>
                        <a:rPr lang="en-US" dirty="0" err="1"/>
                        <a:t>bestehen</a:t>
                      </a:r>
                      <a:r>
                        <a:rPr lang="en-US" dirty="0"/>
                        <a:t>.</a:t>
                      </a:r>
                    </a:p>
                  </a:txBody>
                  <a:tcPr/>
                </a:tc>
                <a:extLst>
                  <a:ext uri="{0D108BD9-81ED-4DB2-BD59-A6C34878D82A}">
                    <a16:rowId xmlns:a16="http://schemas.microsoft.com/office/drawing/2014/main" val="1214339143"/>
                  </a:ext>
                </a:extLst>
              </a:tr>
              <a:tr h="429782">
                <a:tc>
                  <a:txBody>
                    <a:bodyPr/>
                    <a:lstStyle/>
                    <a:p>
                      <a:endParaRPr lang="en-US"/>
                    </a:p>
                  </a:txBody>
                  <a:tcPr/>
                </a:tc>
                <a:tc>
                  <a:txBody>
                    <a:bodyPr/>
                    <a:lstStyle/>
                    <a:p>
                      <a:r>
                        <a:rPr lang="en-US" dirty="0"/>
                        <a:t>Tests </a:t>
                      </a:r>
                      <a:r>
                        <a:rPr lang="en-US" dirty="0" err="1"/>
                        <a:t>ausführen</a:t>
                      </a:r>
                      <a:endParaRPr lang="en-US" dirty="0"/>
                    </a:p>
                  </a:txBody>
                  <a:tcPr/>
                </a:tc>
                <a:tc>
                  <a:txBody>
                    <a:bodyPr/>
                    <a:lstStyle/>
                    <a:p>
                      <a:r>
                        <a:rPr lang="en-US" dirty="0" err="1"/>
                        <a:t>Ausführen</a:t>
                      </a:r>
                      <a:r>
                        <a:rPr lang="en-US" dirty="0"/>
                        <a:t> des </a:t>
                      </a:r>
                      <a:r>
                        <a:rPr lang="en-US" dirty="0" err="1"/>
                        <a:t>geschriebenen</a:t>
                      </a:r>
                      <a:r>
                        <a:rPr lang="en-US" dirty="0"/>
                        <a:t> Tests.</a:t>
                      </a:r>
                    </a:p>
                  </a:txBody>
                  <a:tcPr/>
                </a:tc>
                <a:extLst>
                  <a:ext uri="{0D108BD9-81ED-4DB2-BD59-A6C34878D82A}">
                    <a16:rowId xmlns:a16="http://schemas.microsoft.com/office/drawing/2014/main" val="3856104032"/>
                  </a:ext>
                </a:extLst>
              </a:tr>
              <a:tr h="429782">
                <a:tc>
                  <a:txBody>
                    <a:bodyPr/>
                    <a:lstStyle/>
                    <a:p>
                      <a:endParaRPr lang="en-US"/>
                    </a:p>
                  </a:txBody>
                  <a:tcPr/>
                </a:tc>
                <a:tc>
                  <a:txBody>
                    <a:bodyPr/>
                    <a:lstStyle/>
                    <a:p>
                      <a:r>
                        <a:rPr lang="en-US" dirty="0"/>
                        <a:t>Code </a:t>
                      </a:r>
                      <a:r>
                        <a:rPr lang="en-US" dirty="0" err="1"/>
                        <a:t>aufräumen</a:t>
                      </a:r>
                      <a:endParaRPr lang="en-US" dirty="0"/>
                    </a:p>
                  </a:txBody>
                  <a:tcPr/>
                </a:tc>
                <a:tc>
                  <a:txBody>
                    <a:bodyPr/>
                    <a:lstStyle/>
                    <a:p>
                      <a:r>
                        <a:rPr lang="en-US" dirty="0"/>
                        <a:t>Refactoring des Codes </a:t>
                      </a:r>
                      <a:r>
                        <a:rPr lang="en-US" dirty="0" err="1"/>
                        <a:t>nach</a:t>
                      </a:r>
                      <a:r>
                        <a:rPr lang="en-US" dirty="0"/>
                        <a:t> </a:t>
                      </a:r>
                      <a:r>
                        <a:rPr lang="en-US" dirty="0" err="1"/>
                        <a:t>erfolgreichem</a:t>
                      </a:r>
                      <a:r>
                        <a:rPr lang="en-US" dirty="0"/>
                        <a:t> Test, um die </a:t>
                      </a:r>
                      <a:r>
                        <a:rPr lang="en-US" dirty="0" err="1"/>
                        <a:t>Qualität</a:t>
                      </a:r>
                      <a:r>
                        <a:rPr lang="en-US" dirty="0"/>
                        <a:t> </a:t>
                      </a:r>
                      <a:r>
                        <a:rPr lang="en-US" dirty="0" err="1"/>
                        <a:t>zu</a:t>
                      </a:r>
                      <a:r>
                        <a:rPr lang="en-US" dirty="0"/>
                        <a:t> </a:t>
                      </a:r>
                      <a:r>
                        <a:rPr lang="en-US" dirty="0" err="1"/>
                        <a:t>sichern</a:t>
                      </a:r>
                      <a:r>
                        <a:rPr lang="en-US" dirty="0"/>
                        <a:t>.</a:t>
                      </a:r>
                    </a:p>
                  </a:txBody>
                  <a:tcPr/>
                </a:tc>
                <a:extLst>
                  <a:ext uri="{0D108BD9-81ED-4DB2-BD59-A6C34878D82A}">
                    <a16:rowId xmlns:a16="http://schemas.microsoft.com/office/drawing/2014/main" val="4129722258"/>
                  </a:ext>
                </a:extLst>
              </a:tr>
              <a:tr h="429782">
                <a:tc>
                  <a:txBody>
                    <a:bodyPr/>
                    <a:lstStyle/>
                    <a:p>
                      <a:endParaRPr lang="en-US"/>
                    </a:p>
                  </a:txBody>
                  <a:tcPr/>
                </a:tc>
                <a:tc>
                  <a:txBody>
                    <a:bodyPr/>
                    <a:lstStyle/>
                    <a:p>
                      <a:r>
                        <a:rPr lang="en-US" dirty="0"/>
                        <a:t>Git commit und push</a:t>
                      </a:r>
                    </a:p>
                  </a:txBody>
                  <a:tcPr/>
                </a:tc>
                <a:tc>
                  <a:txBody>
                    <a:bodyPr/>
                    <a:lstStyle/>
                    <a:p>
                      <a:r>
                        <a:rPr lang="en-US" dirty="0" err="1"/>
                        <a:t>Speichern</a:t>
                      </a:r>
                      <a:r>
                        <a:rPr lang="en-US" dirty="0"/>
                        <a:t> und </a:t>
                      </a:r>
                      <a:r>
                        <a:rPr lang="en-US" dirty="0" err="1"/>
                        <a:t>Hochladen</a:t>
                      </a:r>
                      <a:r>
                        <a:rPr lang="en-US" dirty="0"/>
                        <a:t> des Codes in das Repository.</a:t>
                      </a:r>
                    </a:p>
                  </a:txBody>
                  <a:tcPr/>
                </a:tc>
                <a:extLst>
                  <a:ext uri="{0D108BD9-81ED-4DB2-BD59-A6C34878D82A}">
                    <a16:rowId xmlns:a16="http://schemas.microsoft.com/office/drawing/2014/main" val="3408790302"/>
                  </a:ext>
                </a:extLst>
              </a:tr>
              <a:tr h="429782">
                <a:tc>
                  <a:txBody>
                    <a:bodyPr/>
                    <a:lstStyle/>
                    <a:p>
                      <a:r>
                        <a:rPr lang="en-US" dirty="0" err="1"/>
                        <a:t>Konnektor</a:t>
                      </a:r>
                      <a:endParaRPr lang="en-US" dirty="0"/>
                    </a:p>
                  </a:txBody>
                  <a:tcPr/>
                </a:tc>
                <a:tc>
                  <a:txBody>
                    <a:bodyPr/>
                    <a:lstStyle/>
                    <a:p>
                      <a:r>
                        <a:rPr lang="en-US" dirty="0"/>
                        <a:t>UND-Operator</a:t>
                      </a:r>
                    </a:p>
                  </a:txBody>
                  <a:tcPr/>
                </a:tc>
                <a:tc>
                  <a:txBody>
                    <a:bodyPr/>
                    <a:lstStyle/>
                    <a:p>
                      <a:r>
                        <a:rPr lang="en-US" dirty="0" err="1"/>
                        <a:t>Verknüpfung</a:t>
                      </a:r>
                      <a:r>
                        <a:rPr lang="en-US" dirty="0"/>
                        <a:t> von </a:t>
                      </a:r>
                      <a:r>
                        <a:rPr lang="en-US" dirty="0" err="1"/>
                        <a:t>Ereignissen</a:t>
                      </a:r>
                      <a:r>
                        <a:rPr lang="en-US" dirty="0"/>
                        <a:t>. Alle </a:t>
                      </a:r>
                      <a:r>
                        <a:rPr lang="en-US" dirty="0" err="1"/>
                        <a:t>Ereignisse</a:t>
                      </a:r>
                      <a:r>
                        <a:rPr lang="en-US" dirty="0"/>
                        <a:t> </a:t>
                      </a:r>
                      <a:r>
                        <a:rPr lang="en-US" dirty="0" err="1"/>
                        <a:t>müssen</a:t>
                      </a:r>
                      <a:r>
                        <a:rPr lang="en-US" dirty="0"/>
                        <a:t> </a:t>
                      </a:r>
                      <a:r>
                        <a:rPr lang="en-US" dirty="0" err="1"/>
                        <a:t>eintreffen</a:t>
                      </a:r>
                      <a:r>
                        <a:rPr lang="en-US" dirty="0"/>
                        <a:t>.</a:t>
                      </a:r>
                    </a:p>
                  </a:txBody>
                  <a:tcPr/>
                </a:tc>
                <a:extLst>
                  <a:ext uri="{0D108BD9-81ED-4DB2-BD59-A6C34878D82A}">
                    <a16:rowId xmlns:a16="http://schemas.microsoft.com/office/drawing/2014/main" val="1194026770"/>
                  </a:ext>
                </a:extLst>
              </a:tr>
              <a:tr h="890955">
                <a:tc>
                  <a:txBody>
                    <a:bodyPr/>
                    <a:lstStyle/>
                    <a:p>
                      <a:endParaRPr lang="en-US"/>
                    </a:p>
                  </a:txBody>
                  <a:tcPr/>
                </a:tc>
                <a:tc>
                  <a:txBody>
                    <a:bodyPr/>
                    <a:lstStyle/>
                    <a:p>
                      <a:r>
                        <a:rPr lang="en-US" dirty="0"/>
                        <a:t>XOR-Operator</a:t>
                      </a:r>
                    </a:p>
                  </a:txBody>
                  <a:tcPr/>
                </a:tc>
                <a:tc>
                  <a:txBody>
                    <a:bodyPr/>
                    <a:lstStyle/>
                    <a:p>
                      <a:r>
                        <a:rPr lang="en-US" dirty="0" err="1"/>
                        <a:t>Entscheidungspunkt</a:t>
                      </a:r>
                      <a:r>
                        <a:rPr lang="en-US" dirty="0"/>
                        <a:t> </a:t>
                      </a:r>
                      <a:r>
                        <a:rPr lang="en-US" dirty="0" err="1"/>
                        <a:t>nach</a:t>
                      </a:r>
                      <a:r>
                        <a:rPr lang="en-US" dirty="0"/>
                        <a:t> dem Testen. </a:t>
                      </a:r>
                      <a:r>
                        <a:rPr lang="en-US" dirty="0" err="1"/>
                        <a:t>Entweder</a:t>
                      </a:r>
                      <a:r>
                        <a:rPr lang="en-US" dirty="0"/>
                        <a:t> der Test </a:t>
                      </a:r>
                      <a:r>
                        <a:rPr lang="en-US" dirty="0" err="1"/>
                        <a:t>ist</a:t>
                      </a:r>
                      <a:r>
                        <a:rPr lang="en-US" dirty="0"/>
                        <a:t> </a:t>
                      </a:r>
                      <a:r>
                        <a:rPr lang="en-US" dirty="0" err="1"/>
                        <a:t>erfolgreich</a:t>
                      </a:r>
                      <a:r>
                        <a:rPr lang="en-US" dirty="0"/>
                        <a:t> </a:t>
                      </a:r>
                      <a:r>
                        <a:rPr lang="en-US" dirty="0" err="1"/>
                        <a:t>durchgelaufen</a:t>
                      </a:r>
                      <a:r>
                        <a:rPr lang="en-US" dirty="0"/>
                        <a:t> und </a:t>
                      </a:r>
                      <a:r>
                        <a:rPr lang="en-US" dirty="0" err="1"/>
                        <a:t>wir</a:t>
                      </a:r>
                      <a:r>
                        <a:rPr lang="en-US" dirty="0"/>
                        <a:t> </a:t>
                      </a:r>
                      <a:r>
                        <a:rPr lang="en-US" dirty="0" err="1"/>
                        <a:t>gehen</a:t>
                      </a:r>
                      <a:r>
                        <a:rPr lang="en-US" dirty="0"/>
                        <a:t> </a:t>
                      </a:r>
                      <a:r>
                        <a:rPr lang="en-US" dirty="0" err="1"/>
                        <a:t>zum</a:t>
                      </a:r>
                      <a:r>
                        <a:rPr lang="en-US" dirty="0"/>
                        <a:t> Refactoring </a:t>
                      </a:r>
                      <a:r>
                        <a:rPr lang="en-US" dirty="0" err="1"/>
                        <a:t>oder</a:t>
                      </a:r>
                      <a:r>
                        <a:rPr lang="en-US" dirty="0"/>
                        <a:t> der Test </a:t>
                      </a:r>
                      <a:r>
                        <a:rPr lang="en-US" dirty="0" err="1"/>
                        <a:t>ist</a:t>
                      </a:r>
                      <a:r>
                        <a:rPr lang="en-US" dirty="0"/>
                        <a:t> </a:t>
                      </a:r>
                      <a:r>
                        <a:rPr lang="en-US" dirty="0" err="1"/>
                        <a:t>fehlgeschlagen</a:t>
                      </a:r>
                      <a:r>
                        <a:rPr lang="en-US" dirty="0"/>
                        <a:t> und </a:t>
                      </a:r>
                      <a:r>
                        <a:rPr lang="en-US" dirty="0" err="1"/>
                        <a:t>wir</a:t>
                      </a:r>
                      <a:r>
                        <a:rPr lang="en-US" dirty="0"/>
                        <a:t> </a:t>
                      </a:r>
                      <a:r>
                        <a:rPr lang="en-US" dirty="0" err="1"/>
                        <a:t>springen</a:t>
                      </a:r>
                      <a:r>
                        <a:rPr lang="en-US" dirty="0"/>
                        <a:t> </a:t>
                      </a:r>
                      <a:r>
                        <a:rPr lang="en-US" dirty="0" err="1"/>
                        <a:t>zurück</a:t>
                      </a:r>
                      <a:r>
                        <a:rPr lang="en-US" dirty="0"/>
                        <a:t> </a:t>
                      </a:r>
                      <a:r>
                        <a:rPr lang="en-US" dirty="0" err="1"/>
                        <a:t>zum</a:t>
                      </a:r>
                      <a:r>
                        <a:rPr lang="en-US" dirty="0"/>
                        <a:t> </a:t>
                      </a:r>
                      <a:r>
                        <a:rPr lang="en-US" dirty="0" err="1"/>
                        <a:t>Prototyp</a:t>
                      </a:r>
                      <a:r>
                        <a:rPr lang="en-US" dirty="0"/>
                        <a:t> Code </a:t>
                      </a:r>
                      <a:r>
                        <a:rPr lang="en-US" dirty="0" err="1"/>
                        <a:t>schreiben</a:t>
                      </a:r>
                      <a:endParaRPr lang="en-US" dirty="0"/>
                    </a:p>
                  </a:txBody>
                  <a:tcPr/>
                </a:tc>
                <a:extLst>
                  <a:ext uri="{0D108BD9-81ED-4DB2-BD59-A6C34878D82A}">
                    <a16:rowId xmlns:a16="http://schemas.microsoft.com/office/drawing/2014/main" val="2779131505"/>
                  </a:ext>
                </a:extLst>
              </a:tr>
              <a:tr h="429782">
                <a:tc>
                  <a:txBody>
                    <a:bodyPr/>
                    <a:lstStyle/>
                    <a:p>
                      <a:r>
                        <a:rPr lang="en-US" dirty="0" err="1"/>
                        <a:t>Kontrollfluss</a:t>
                      </a:r>
                      <a:endParaRPr lang="en-US" dirty="0"/>
                    </a:p>
                  </a:txBody>
                  <a:tcPr/>
                </a:tc>
                <a:tc>
                  <a:txBody>
                    <a:bodyPr/>
                    <a:lstStyle/>
                    <a:p>
                      <a:r>
                        <a:rPr lang="en-US" dirty="0" err="1"/>
                        <a:t>Pfeile</a:t>
                      </a:r>
                      <a:endParaRPr lang="en-US" dirty="0"/>
                    </a:p>
                  </a:txBody>
                  <a:tcPr/>
                </a:tc>
                <a:tc>
                  <a:txBody>
                    <a:bodyPr/>
                    <a:lstStyle/>
                    <a:p>
                      <a:r>
                        <a:rPr lang="en-US" dirty="0" err="1"/>
                        <a:t>Verbinden</a:t>
                      </a:r>
                      <a:r>
                        <a:rPr lang="en-US" dirty="0"/>
                        <a:t> die </a:t>
                      </a:r>
                      <a:r>
                        <a:rPr lang="en-US" dirty="0" err="1"/>
                        <a:t>eigentlichen</a:t>
                      </a:r>
                      <a:r>
                        <a:rPr lang="en-US" dirty="0"/>
                        <a:t> </a:t>
                      </a:r>
                      <a:r>
                        <a:rPr lang="en-US" dirty="0" err="1"/>
                        <a:t>Bestandteile</a:t>
                      </a:r>
                      <a:r>
                        <a:rPr lang="en-US" dirty="0"/>
                        <a:t> des </a:t>
                      </a:r>
                      <a:r>
                        <a:rPr lang="en-US" dirty="0" err="1"/>
                        <a:t>Prozesses</a:t>
                      </a:r>
                      <a:r>
                        <a:rPr lang="en-US" dirty="0"/>
                        <a:t> (</a:t>
                      </a:r>
                      <a:r>
                        <a:rPr lang="en-US" dirty="0" err="1"/>
                        <a:t>Funktionen</a:t>
                      </a:r>
                      <a:r>
                        <a:rPr lang="en-US" dirty="0"/>
                        <a:t>, </a:t>
                      </a:r>
                      <a:r>
                        <a:rPr lang="en-US" dirty="0" err="1"/>
                        <a:t>Ereignisse</a:t>
                      </a:r>
                      <a:r>
                        <a:rPr lang="en-US" dirty="0"/>
                        <a:t> und </a:t>
                      </a:r>
                      <a:r>
                        <a:rPr lang="en-US" dirty="0" err="1"/>
                        <a:t>Konnektoren</a:t>
                      </a:r>
                      <a:r>
                        <a:rPr lang="en-US" dirty="0"/>
                        <a:t>)</a:t>
                      </a:r>
                    </a:p>
                  </a:txBody>
                  <a:tcPr/>
                </a:tc>
                <a:extLst>
                  <a:ext uri="{0D108BD9-81ED-4DB2-BD59-A6C34878D82A}">
                    <a16:rowId xmlns:a16="http://schemas.microsoft.com/office/drawing/2014/main" val="2190739000"/>
                  </a:ext>
                </a:extLst>
              </a:tr>
            </a:tbl>
          </a:graphicData>
        </a:graphic>
      </p:graphicFrame>
    </p:spTree>
    <p:extLst>
      <p:ext uri="{BB962C8B-B14F-4D97-AF65-F5344CB8AC3E}">
        <p14:creationId xmlns:p14="http://schemas.microsoft.com/office/powerpoint/2010/main" val="300531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DD3DB-42D7-4D64-B445-1CA380B8D48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45E0C437-3016-4CE4-A4C8-63710D2C6516}"/>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562EF406-C45A-41CE-B801-BB0129EE2629}"/>
              </a:ext>
            </a:extLst>
          </p:cNvPr>
          <p:cNvSpPr>
            <a:spLocks noGrp="1"/>
          </p:cNvSpPr>
          <p:nvPr>
            <p:ph type="sldNum" sz="quarter" idx="4"/>
          </p:nvPr>
        </p:nvSpPr>
        <p:spPr/>
        <p:txBody>
          <a:bodyPr/>
          <a:lstStyle/>
          <a:p>
            <a:pPr>
              <a:defRPr/>
            </a:pPr>
            <a:fld id="{B6F15528-21DE-4FAA-801E-634DDDAF4B2B}" type="slidenum">
              <a:rPr lang="de-DE" smtClean="0"/>
              <a:t>10</a:t>
            </a:fld>
            <a:endParaRPr lang="de-DE"/>
          </a:p>
        </p:txBody>
      </p:sp>
      <p:sp>
        <p:nvSpPr>
          <p:cNvPr id="7" name="Titel 6">
            <a:extLst>
              <a:ext uri="{FF2B5EF4-FFF2-40B4-BE49-F238E27FC236}">
                <a16:creationId xmlns:a16="http://schemas.microsoft.com/office/drawing/2014/main" id="{6110CB1A-79EA-43E4-B07E-257B21EBAC6E}"/>
              </a:ext>
            </a:extLst>
          </p:cNvPr>
          <p:cNvSpPr>
            <a:spLocks noGrp="1"/>
          </p:cNvSpPr>
          <p:nvPr>
            <p:ph type="title"/>
          </p:nvPr>
        </p:nvSpPr>
        <p:spPr>
          <a:xfrm>
            <a:off x="151155" y="491371"/>
            <a:ext cx="10515600" cy="1325033"/>
          </a:xfrm>
        </p:spPr>
        <p:txBody>
          <a:bodyPr/>
          <a:lstStyle/>
          <a:p>
            <a:r>
              <a:rPr lang="en-GB" dirty="0"/>
              <a:t>Aufgabe 3</a:t>
            </a:r>
          </a:p>
        </p:txBody>
      </p:sp>
      <p:sp>
        <p:nvSpPr>
          <p:cNvPr id="10" name="Textfeld 9">
            <a:extLst>
              <a:ext uri="{FF2B5EF4-FFF2-40B4-BE49-F238E27FC236}">
                <a16:creationId xmlns:a16="http://schemas.microsoft.com/office/drawing/2014/main" id="{9CF93455-E584-4E90-9C1F-F02601CF11D3}"/>
              </a:ext>
            </a:extLst>
          </p:cNvPr>
          <p:cNvSpPr txBox="1"/>
          <p:nvPr/>
        </p:nvSpPr>
        <p:spPr>
          <a:xfrm>
            <a:off x="151155" y="1398392"/>
            <a:ext cx="11540736" cy="4647426"/>
          </a:xfrm>
          <a:prstGeom prst="rect">
            <a:avLst/>
          </a:prstGeom>
          <a:noFill/>
        </p:spPr>
        <p:txBody>
          <a:bodyPr wrap="square" rtlCol="0">
            <a:spAutoFit/>
          </a:bodyPr>
          <a:lstStyle/>
          <a:p>
            <a:pPr marL="342900" indent="-342900">
              <a:spcAft>
                <a:spcPts val="400"/>
              </a:spcAft>
              <a:buAutoNum type="alphaUcParenR"/>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Betrachten Sie I</a:t>
            </a:r>
            <a:r>
              <a:rPr lang="de-DE" dirty="0">
                <a:solidFill>
                  <a:srgbClr val="000000"/>
                </a:solidFill>
                <a:latin typeface="Arial" panose="020B0604020202020204" pitchFamily="34" charset="0"/>
                <a:ea typeface="Times New Roman" panose="02020603050405020304" pitchFamily="18" charset="0"/>
                <a:cs typeface="Arial" panose="020B0604020202020204" pitchFamily="34" charset="0"/>
              </a:rPr>
              <a:t>hren</a:t>
            </a: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Prozess aus Aufgabe 1A </a:t>
            </a:r>
            <a:r>
              <a:rPr lang="de-DE"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oder </a:t>
            </a: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1B, w</a:t>
            </a:r>
            <a:r>
              <a:rPr lang="de-DE" dirty="0">
                <a:effectLst/>
                <a:latin typeface="Arial" panose="020B0604020202020204" pitchFamily="34" charset="0"/>
                <a:ea typeface="Times New Roman" panose="02020603050405020304" pitchFamily="18" charset="0"/>
                <a:cs typeface="Times New Roman" panose="02020603050405020304" pitchFamily="18" charset="0"/>
              </a:rPr>
              <a:t>elche Prozessschritte könnten aus Ihrer Sicht optimiert werden und wie würden Sie dies tun? Überlegen Sie beispielsweise, ob überflüssige und doppelte Prozessschritte vorliegen oder eine Neuanordnung der Aktivitäten zu einer Zeiteinsparung durch Wegzeiten führen könnte. Sammeln Sie Ihre Ergebnisse in Form von 2-4 Sätzen.</a:t>
            </a:r>
          </a:p>
          <a:p>
            <a:pPr marL="342900" indent="-342900">
              <a:spcAft>
                <a:spcPts val="400"/>
              </a:spcAft>
              <a:buAutoNum type="alphaUcParenR"/>
            </a:pPr>
            <a:endParaRPr lang="de-DE" dirty="0">
              <a:latin typeface="Arial" panose="020B0604020202020204" pitchFamily="34" charset="0"/>
              <a:ea typeface="Times New Roman" panose="02020603050405020304" pitchFamily="18" charset="0"/>
              <a:cs typeface="Times New Roman" panose="02020603050405020304" pitchFamily="18" charset="0"/>
            </a:endParaRPr>
          </a:p>
          <a:p>
            <a:pPr marL="342900" indent="-342900">
              <a:spcAft>
                <a:spcPts val="400"/>
              </a:spcAft>
              <a:buFontTx/>
              <a:buAutoNum type="alphaUcParenR"/>
            </a:pPr>
            <a:r>
              <a:rPr lang="de-DE" dirty="0">
                <a:latin typeface="Arial" panose="020B0604020202020204" pitchFamily="34" charset="0"/>
                <a:ea typeface="Times New Roman" panose="02020603050405020304" pitchFamily="18" charset="0"/>
                <a:cs typeface="Times New Roman" panose="02020603050405020304" pitchFamily="18" charset="0"/>
              </a:rPr>
              <a:t>Modellieren Sie auf Basis ihrer Ergebnisse aus Aufgabe 3A einen optimierten Prozess. Verwenden Sie dafür BPMN oder EPK, entsprechend dem Modell, welches Sie als Grundlage für die Bearbeitung von Aufgabe 3A verwendet haben.</a:t>
            </a:r>
          </a:p>
          <a:p>
            <a:pPr marL="342900" indent="-342900">
              <a:spcAft>
                <a:spcPts val="400"/>
              </a:spcAft>
              <a:buFontTx/>
              <a:buAutoNum type="alphaUcParenR"/>
            </a:pPr>
            <a:endParaRPr lang="de-DE" sz="1600" dirty="0">
              <a:effectLst/>
              <a:latin typeface="Arial" panose="020B0604020202020204" pitchFamily="34" charset="0"/>
              <a:ea typeface="Times New Roman" panose="02020603050405020304" pitchFamily="18" charset="0"/>
              <a:cs typeface="Times New Roman" panose="02020603050405020304" pitchFamily="18" charset="0"/>
            </a:endParaRPr>
          </a:p>
          <a:p>
            <a:pPr lvl="1">
              <a:spcAft>
                <a:spcPts val="400"/>
              </a:spcAft>
            </a:pPr>
            <a:endParaRPr lang="de-DE" sz="160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800100" lvl="1" indent="-342900">
              <a:spcAft>
                <a:spcPts val="400"/>
              </a:spcAft>
              <a:buFont typeface="Arial" panose="020B0604020202020204" pitchFamily="34" charset="0"/>
              <a:buChar char="•"/>
            </a:pPr>
            <a:endParaRPr lang="de-D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800100" lvl="1" indent="-342900">
              <a:spcAft>
                <a:spcPts val="400"/>
              </a:spcAft>
              <a:buFont typeface="Arial" panose="020B0604020202020204" pitchFamily="34" charset="0"/>
              <a:buChar char="•"/>
            </a:pPr>
            <a:endPar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342900" indent="-342900">
              <a:spcAft>
                <a:spcPts val="400"/>
              </a:spcAft>
              <a:buFontTx/>
              <a:buAutoNum type="alphaUcParenR"/>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a:spcAft>
                <a:spcPts val="400"/>
              </a:spcAft>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70795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2879E-2442-95B9-2CB3-2009B9EA52DE}"/>
            </a:ext>
          </a:extLst>
        </p:cNvPr>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4FB65656-0FE7-5D76-2AFA-C7B0FCB5D308}"/>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B1B733F5-488B-FDB8-ABBB-AF9F4934BF8A}"/>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806E1D36-A35E-6870-CF25-CF72B3C26A52}"/>
              </a:ext>
            </a:extLst>
          </p:cNvPr>
          <p:cNvSpPr>
            <a:spLocks noGrp="1"/>
          </p:cNvSpPr>
          <p:nvPr>
            <p:ph type="sldNum" sz="quarter" idx="4"/>
          </p:nvPr>
        </p:nvSpPr>
        <p:spPr/>
        <p:txBody>
          <a:bodyPr/>
          <a:lstStyle/>
          <a:p>
            <a:pPr>
              <a:defRPr/>
            </a:pPr>
            <a:fld id="{B6F15528-21DE-4FAA-801E-634DDDAF4B2B}" type="slidenum">
              <a:rPr lang="de-DE" smtClean="0"/>
              <a:t>11</a:t>
            </a:fld>
            <a:endParaRPr lang="de-DE"/>
          </a:p>
        </p:txBody>
      </p:sp>
      <p:sp>
        <p:nvSpPr>
          <p:cNvPr id="7" name="Titel 6">
            <a:extLst>
              <a:ext uri="{FF2B5EF4-FFF2-40B4-BE49-F238E27FC236}">
                <a16:creationId xmlns:a16="http://schemas.microsoft.com/office/drawing/2014/main" id="{426359CD-FF64-658A-4324-B98C4EF2916C}"/>
              </a:ext>
            </a:extLst>
          </p:cNvPr>
          <p:cNvSpPr>
            <a:spLocks noGrp="1"/>
          </p:cNvSpPr>
          <p:nvPr>
            <p:ph type="title"/>
          </p:nvPr>
        </p:nvSpPr>
        <p:spPr>
          <a:xfrm>
            <a:off x="151155" y="491371"/>
            <a:ext cx="10515600" cy="1325033"/>
          </a:xfrm>
        </p:spPr>
        <p:txBody>
          <a:bodyPr/>
          <a:lstStyle/>
          <a:p>
            <a:r>
              <a:rPr lang="en-GB" dirty="0"/>
              <a:t>Aufgabe 3</a:t>
            </a:r>
          </a:p>
        </p:txBody>
      </p:sp>
      <p:sp>
        <p:nvSpPr>
          <p:cNvPr id="10" name="Textfeld 9">
            <a:extLst>
              <a:ext uri="{FF2B5EF4-FFF2-40B4-BE49-F238E27FC236}">
                <a16:creationId xmlns:a16="http://schemas.microsoft.com/office/drawing/2014/main" id="{16BBADDC-103A-4098-4F7F-3E4C1A15BB42}"/>
              </a:ext>
            </a:extLst>
          </p:cNvPr>
          <p:cNvSpPr txBox="1"/>
          <p:nvPr/>
        </p:nvSpPr>
        <p:spPr>
          <a:xfrm>
            <a:off x="151155" y="1398392"/>
            <a:ext cx="11540736" cy="2718693"/>
          </a:xfrm>
          <a:prstGeom prst="rect">
            <a:avLst/>
          </a:prstGeom>
          <a:noFill/>
        </p:spPr>
        <p:txBody>
          <a:bodyPr wrap="square" rtlCol="0">
            <a:spAutoFit/>
          </a:bodyPr>
          <a:lstStyle/>
          <a:p>
            <a:pPr marL="342900" indent="-342900">
              <a:spcAft>
                <a:spcPts val="400"/>
              </a:spcAft>
              <a:buAutoNum type="alphaUcParenR"/>
            </a:pPr>
            <a:r>
              <a:rPr lang="de-DE" sz="1600" dirty="0">
                <a:latin typeface="Arial" panose="020B0604020202020204" pitchFamily="34" charset="0"/>
                <a:ea typeface="Times New Roman" panose="02020603050405020304" pitchFamily="18" charset="0"/>
                <a:cs typeface="Times New Roman" panose="02020603050405020304" pitchFamily="18" charset="0"/>
              </a:rPr>
              <a:t>Nach längerer Überlegung zu Optimierungspotenzial für 1B, bin ich zu dem Entschluss gekommen, dass die Priorisierung der Aufgaben durch effiziente Aufbereitung des Backlogs schon vor dem Wochenende passieren sollte, damit die Zeit für das Implementieren der Features nicht für die eigentliche Planung verschwendet wird. Dadurch könnte eine Funktion und ein Ereignis eingespart werden</a:t>
            </a:r>
            <a:r>
              <a:rPr lang="de-DE" sz="1600">
                <a:latin typeface="Arial" panose="020B0604020202020204" pitchFamily="34" charset="0"/>
                <a:ea typeface="Times New Roman" panose="02020603050405020304" pitchFamily="18" charset="0"/>
                <a:cs typeface="Times New Roman" panose="02020603050405020304" pitchFamily="18" charset="0"/>
              </a:rPr>
              <a:t>. </a:t>
            </a:r>
            <a:endParaRPr lang="de-DE" sz="160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800100" lvl="1" indent="-342900">
              <a:spcAft>
                <a:spcPts val="400"/>
              </a:spcAft>
              <a:buFont typeface="Arial" panose="020B0604020202020204" pitchFamily="34" charset="0"/>
              <a:buChar char="•"/>
            </a:pPr>
            <a:endParaRPr lang="de-D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800100" lvl="1" indent="-342900">
              <a:spcAft>
                <a:spcPts val="400"/>
              </a:spcAft>
              <a:buFont typeface="Arial" panose="020B0604020202020204" pitchFamily="34" charset="0"/>
              <a:buChar char="•"/>
            </a:pPr>
            <a:endPar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342900" indent="-342900">
              <a:spcAft>
                <a:spcPts val="400"/>
              </a:spcAft>
              <a:buFontTx/>
              <a:buAutoNum type="alphaUcParenR"/>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a:spcAft>
                <a:spcPts val="400"/>
              </a:spcAft>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627491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hseck 1"/>
          <p:cNvSpPr/>
          <p:nvPr/>
        </p:nvSpPr>
        <p:spPr>
          <a:xfrm>
            <a:off x="436918" y="1217771"/>
            <a:ext cx="773084"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endParaRPr lang="de-DE" dirty="0">
              <a:solidFill>
                <a:schemeClr val="tx1"/>
              </a:solidFill>
            </a:endParaRPr>
          </a:p>
        </p:txBody>
      </p:sp>
      <p:sp>
        <p:nvSpPr>
          <p:cNvPr id="3" name="Abgerundetes Rechteck 2"/>
          <p:cNvSpPr/>
          <p:nvPr/>
        </p:nvSpPr>
        <p:spPr>
          <a:xfrm>
            <a:off x="406768" y="2010105"/>
            <a:ext cx="860368"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1100" dirty="0">
              <a:solidFill>
                <a:schemeClr val="tx1"/>
              </a:solidFill>
            </a:endParaRPr>
          </a:p>
        </p:txBody>
      </p:sp>
      <p:cxnSp>
        <p:nvCxnSpPr>
          <p:cNvPr id="36" name="Gerade Verbindung mit Pfeil 35"/>
          <p:cNvCxnSpPr/>
          <p:nvPr/>
        </p:nvCxnSpPr>
        <p:spPr>
          <a:xfrm>
            <a:off x="355372" y="4779817"/>
            <a:ext cx="9361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0" name="Gruppieren 59"/>
          <p:cNvGrpSpPr/>
          <p:nvPr/>
        </p:nvGrpSpPr>
        <p:grpSpPr>
          <a:xfrm>
            <a:off x="325738" y="5252256"/>
            <a:ext cx="995447" cy="556953"/>
            <a:chOff x="250921" y="4736868"/>
            <a:chExt cx="995447" cy="556953"/>
          </a:xfrm>
        </p:grpSpPr>
        <p:sp>
          <p:nvSpPr>
            <p:cNvPr id="37" name="Ellipse 36"/>
            <p:cNvSpPr/>
            <p:nvPr/>
          </p:nvSpPr>
          <p:spPr>
            <a:xfrm>
              <a:off x="250921" y="4736868"/>
              <a:ext cx="995447" cy="55695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dirty="0">
                <a:solidFill>
                  <a:schemeClr val="tx1"/>
                </a:solidFill>
              </a:endParaRPr>
            </a:p>
          </p:txBody>
        </p:sp>
        <p:cxnSp>
          <p:nvCxnSpPr>
            <p:cNvPr id="39" name="Gerader Verbinder 38"/>
            <p:cNvCxnSpPr>
              <a:stCxn id="37" idx="1"/>
              <a:endCxn id="37" idx="3"/>
            </p:cNvCxnSpPr>
            <p:nvPr/>
          </p:nvCxnSpPr>
          <p:spPr>
            <a:xfrm>
              <a:off x="396701" y="4818432"/>
              <a:ext cx="0" cy="393825"/>
            </a:xfrm>
            <a:prstGeom prst="line">
              <a:avLst/>
            </a:prstGeom>
          </p:spPr>
          <p:style>
            <a:lnRef idx="1">
              <a:schemeClr val="dk1"/>
            </a:lnRef>
            <a:fillRef idx="0">
              <a:schemeClr val="dk1"/>
            </a:fillRef>
            <a:effectRef idx="0">
              <a:schemeClr val="dk1"/>
            </a:effectRef>
            <a:fontRef idx="minor">
              <a:schemeClr val="tx1"/>
            </a:fontRef>
          </p:style>
        </p:cxnSp>
      </p:grpSp>
      <p:grpSp>
        <p:nvGrpSpPr>
          <p:cNvPr id="56" name="Gruppieren 55"/>
          <p:cNvGrpSpPr/>
          <p:nvPr/>
        </p:nvGrpSpPr>
        <p:grpSpPr>
          <a:xfrm>
            <a:off x="644736" y="2604754"/>
            <a:ext cx="357448" cy="357448"/>
            <a:chOff x="2752536" y="2200713"/>
            <a:chExt cx="357448" cy="357448"/>
          </a:xfrm>
        </p:grpSpPr>
        <p:sp>
          <p:nvSpPr>
            <p:cNvPr id="31" name="Ellipse 30"/>
            <p:cNvSpPr/>
            <p:nvPr/>
          </p:nvSpPr>
          <p:spPr>
            <a:xfrm>
              <a:off x="2752536" y="2200713"/>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a:solidFill>
                  <a:schemeClr val="tx1"/>
                </a:solidFill>
              </a:endParaRPr>
            </a:p>
          </p:txBody>
        </p:sp>
        <p:grpSp>
          <p:nvGrpSpPr>
            <p:cNvPr id="48" name="Gruppieren 47"/>
            <p:cNvGrpSpPr/>
            <p:nvPr/>
          </p:nvGrpSpPr>
          <p:grpSpPr>
            <a:xfrm>
              <a:off x="2835634" y="2260289"/>
              <a:ext cx="174626" cy="218005"/>
              <a:chOff x="2784706" y="2737357"/>
              <a:chExt cx="252754" cy="305101"/>
            </a:xfrm>
          </p:grpSpPr>
          <p:cxnSp>
            <p:nvCxnSpPr>
              <p:cNvPr id="49" name="Gerader Verbinder 48"/>
              <p:cNvCxnSpPr/>
              <p:nvPr/>
            </p:nvCxnSpPr>
            <p:spPr>
              <a:xfrm flipV="1">
                <a:off x="2784706" y="2737357"/>
                <a:ext cx="126377" cy="305101"/>
              </a:xfrm>
              <a:prstGeom prst="line">
                <a:avLst/>
              </a:prstGeom>
            </p:spPr>
            <p:style>
              <a:lnRef idx="1">
                <a:schemeClr val="dk1"/>
              </a:lnRef>
              <a:fillRef idx="0">
                <a:schemeClr val="dk1"/>
              </a:fillRef>
              <a:effectRef idx="0">
                <a:schemeClr val="dk1"/>
              </a:effectRef>
              <a:fontRef idx="minor">
                <a:schemeClr val="tx1"/>
              </a:fontRef>
            </p:style>
          </p:cxnSp>
          <p:cxnSp>
            <p:nvCxnSpPr>
              <p:cNvPr id="50" name="Gerader Verbinder 49"/>
              <p:cNvCxnSpPr/>
              <p:nvPr/>
            </p:nvCxnSpPr>
            <p:spPr>
              <a:xfrm>
                <a:off x="2911083" y="2737357"/>
                <a:ext cx="126377" cy="30510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57" name="Gruppieren 56"/>
          <p:cNvGrpSpPr/>
          <p:nvPr/>
        </p:nvGrpSpPr>
        <p:grpSpPr>
          <a:xfrm>
            <a:off x="644736" y="3183429"/>
            <a:ext cx="357448" cy="357448"/>
            <a:chOff x="2752536" y="2852160"/>
            <a:chExt cx="357448" cy="357448"/>
          </a:xfrm>
        </p:grpSpPr>
        <p:sp>
          <p:nvSpPr>
            <p:cNvPr id="32" name="Ellipse 31"/>
            <p:cNvSpPr/>
            <p:nvPr/>
          </p:nvSpPr>
          <p:spPr>
            <a:xfrm>
              <a:off x="2752536" y="2852160"/>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1" name="Gruppieren 50"/>
            <p:cNvGrpSpPr/>
            <p:nvPr/>
          </p:nvGrpSpPr>
          <p:grpSpPr>
            <a:xfrm rot="10800000">
              <a:off x="2835635" y="2930194"/>
              <a:ext cx="174626" cy="218005"/>
              <a:chOff x="2784706" y="2737357"/>
              <a:chExt cx="252754" cy="305101"/>
            </a:xfrm>
          </p:grpSpPr>
          <p:cxnSp>
            <p:nvCxnSpPr>
              <p:cNvPr id="52" name="Gerader Verbinder 51"/>
              <p:cNvCxnSpPr/>
              <p:nvPr/>
            </p:nvCxnSpPr>
            <p:spPr>
              <a:xfrm flipV="1">
                <a:off x="2784706" y="2737357"/>
                <a:ext cx="126377" cy="305101"/>
              </a:xfrm>
              <a:prstGeom prst="line">
                <a:avLst/>
              </a:prstGeom>
            </p:spPr>
            <p:style>
              <a:lnRef idx="1">
                <a:schemeClr val="dk1"/>
              </a:lnRef>
              <a:fillRef idx="0">
                <a:schemeClr val="dk1"/>
              </a:fillRef>
              <a:effectRef idx="0">
                <a:schemeClr val="dk1"/>
              </a:effectRef>
              <a:fontRef idx="minor">
                <a:schemeClr val="tx1"/>
              </a:fontRef>
            </p:style>
          </p:cxnSp>
          <p:cxnSp>
            <p:nvCxnSpPr>
              <p:cNvPr id="53" name="Gerader Verbinder 52"/>
              <p:cNvCxnSpPr/>
              <p:nvPr/>
            </p:nvCxnSpPr>
            <p:spPr>
              <a:xfrm>
                <a:off x="2911083" y="2737357"/>
                <a:ext cx="126377" cy="30510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55" name="Gruppieren 54"/>
          <p:cNvGrpSpPr/>
          <p:nvPr/>
        </p:nvGrpSpPr>
        <p:grpSpPr>
          <a:xfrm>
            <a:off x="562139" y="3894703"/>
            <a:ext cx="522642" cy="357448"/>
            <a:chOff x="3165078" y="3320887"/>
            <a:chExt cx="522642" cy="357448"/>
          </a:xfrm>
        </p:grpSpPr>
        <p:sp>
          <p:nvSpPr>
            <p:cNvPr id="33" name="Ellipse 32"/>
            <p:cNvSpPr/>
            <p:nvPr/>
          </p:nvSpPr>
          <p:spPr>
            <a:xfrm>
              <a:off x="3247675" y="3320887"/>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400" dirty="0">
                <a:solidFill>
                  <a:schemeClr val="tx1"/>
                </a:solidFill>
              </a:endParaRPr>
            </a:p>
          </p:txBody>
        </p:sp>
        <p:sp>
          <p:nvSpPr>
            <p:cNvPr id="54" name="Textfeld 53"/>
            <p:cNvSpPr txBox="1"/>
            <p:nvPr/>
          </p:nvSpPr>
          <p:spPr>
            <a:xfrm>
              <a:off x="3165078" y="3361112"/>
              <a:ext cx="522642" cy="276999"/>
            </a:xfrm>
            <a:prstGeom prst="rect">
              <a:avLst/>
            </a:prstGeom>
            <a:noFill/>
          </p:spPr>
          <p:txBody>
            <a:bodyPr wrap="square" rtlCol="0">
              <a:spAutoFit/>
            </a:bodyPr>
            <a:lstStyle/>
            <a:p>
              <a:pPr algn="ctr"/>
              <a:r>
                <a:rPr lang="de-DE" sz="1200" dirty="0"/>
                <a:t>XOR</a:t>
              </a:r>
            </a:p>
          </p:txBody>
        </p:sp>
      </p:grpSp>
      <p:cxnSp>
        <p:nvCxnSpPr>
          <p:cNvPr id="67" name="Gerader Verbinder 66"/>
          <p:cNvCxnSpPr/>
          <p:nvPr/>
        </p:nvCxnSpPr>
        <p:spPr>
          <a:xfrm>
            <a:off x="1781971" y="0"/>
            <a:ext cx="0" cy="6858000"/>
          </a:xfrm>
          <a:prstGeom prst="line">
            <a:avLst/>
          </a:prstGeom>
        </p:spPr>
        <p:style>
          <a:lnRef idx="1">
            <a:schemeClr val="dk1"/>
          </a:lnRef>
          <a:fillRef idx="0">
            <a:schemeClr val="dk1"/>
          </a:fillRef>
          <a:effectRef idx="0">
            <a:schemeClr val="dk1"/>
          </a:effectRef>
          <a:fontRef idx="minor">
            <a:schemeClr val="tx1"/>
          </a:fontRef>
        </p:style>
      </p:cxnSp>
      <p:sp>
        <p:nvSpPr>
          <p:cNvPr id="68" name="Rechteck 67"/>
          <p:cNvSpPr/>
          <p:nvPr/>
        </p:nvSpPr>
        <p:spPr>
          <a:xfrm>
            <a:off x="1612669" y="985422"/>
            <a:ext cx="169302" cy="116097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de-DE" sz="1200" dirty="0">
                <a:solidFill>
                  <a:sysClr val="windowText" lastClr="000000"/>
                </a:solidFill>
              </a:rPr>
              <a:t>EPK</a:t>
            </a:r>
          </a:p>
        </p:txBody>
      </p:sp>
      <p:sp>
        <p:nvSpPr>
          <p:cNvPr id="4" name="Sechseck 1">
            <a:extLst>
              <a:ext uri="{FF2B5EF4-FFF2-40B4-BE49-F238E27FC236}">
                <a16:creationId xmlns:a16="http://schemas.microsoft.com/office/drawing/2014/main" id="{26F40FEF-C55B-ED16-6DED-FD2E850C010A}"/>
              </a:ext>
            </a:extLst>
          </p:cNvPr>
          <p:cNvSpPr/>
          <p:nvPr/>
        </p:nvSpPr>
        <p:spPr>
          <a:xfrm>
            <a:off x="2133951" y="1217771"/>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de-DE" dirty="0">
                <a:solidFill>
                  <a:schemeClr val="tx1"/>
                </a:solidFill>
              </a:rPr>
              <a:t>Backlog priorisiert</a:t>
            </a:r>
          </a:p>
        </p:txBody>
      </p:sp>
      <p:cxnSp>
        <p:nvCxnSpPr>
          <p:cNvPr id="6" name="Gerade Verbindung mit Pfeil 35">
            <a:extLst>
              <a:ext uri="{FF2B5EF4-FFF2-40B4-BE49-F238E27FC236}">
                <a16:creationId xmlns:a16="http://schemas.microsoft.com/office/drawing/2014/main" id="{830E3DA8-4CD5-C7EA-27FA-3D84FFCF3E1B}"/>
              </a:ext>
            </a:extLst>
          </p:cNvPr>
          <p:cNvCxnSpPr>
            <a:cxnSpLocks/>
            <a:endCxn id="8" idx="0"/>
          </p:cNvCxnSpPr>
          <p:nvPr/>
        </p:nvCxnSpPr>
        <p:spPr>
          <a:xfrm>
            <a:off x="2637692" y="1666658"/>
            <a:ext cx="513046" cy="7411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 name="Gruppieren 55">
            <a:extLst>
              <a:ext uri="{FF2B5EF4-FFF2-40B4-BE49-F238E27FC236}">
                <a16:creationId xmlns:a16="http://schemas.microsoft.com/office/drawing/2014/main" id="{64EB0242-1AC2-A8CB-CE40-E4DF19A78D1E}"/>
              </a:ext>
            </a:extLst>
          </p:cNvPr>
          <p:cNvGrpSpPr/>
          <p:nvPr/>
        </p:nvGrpSpPr>
        <p:grpSpPr>
          <a:xfrm>
            <a:off x="2972014" y="2407807"/>
            <a:ext cx="357448" cy="357448"/>
            <a:chOff x="2752536" y="2200713"/>
            <a:chExt cx="357448" cy="357448"/>
          </a:xfrm>
        </p:grpSpPr>
        <p:sp>
          <p:nvSpPr>
            <p:cNvPr id="8" name="Ellipse 30">
              <a:extLst>
                <a:ext uri="{FF2B5EF4-FFF2-40B4-BE49-F238E27FC236}">
                  <a16:creationId xmlns:a16="http://schemas.microsoft.com/office/drawing/2014/main" id="{5856F032-83CA-5DCD-FF06-9E58C67B2124}"/>
                </a:ext>
              </a:extLst>
            </p:cNvPr>
            <p:cNvSpPr/>
            <p:nvPr/>
          </p:nvSpPr>
          <p:spPr>
            <a:xfrm>
              <a:off x="2752536" y="2200713"/>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dirty="0">
                <a:solidFill>
                  <a:schemeClr val="tx1"/>
                </a:solidFill>
              </a:endParaRPr>
            </a:p>
          </p:txBody>
        </p:sp>
        <p:grpSp>
          <p:nvGrpSpPr>
            <p:cNvPr id="9" name="Gruppieren 47">
              <a:extLst>
                <a:ext uri="{FF2B5EF4-FFF2-40B4-BE49-F238E27FC236}">
                  <a16:creationId xmlns:a16="http://schemas.microsoft.com/office/drawing/2014/main" id="{32CC4922-B6BE-C670-46A7-5E4236BD23A9}"/>
                </a:ext>
              </a:extLst>
            </p:cNvPr>
            <p:cNvGrpSpPr/>
            <p:nvPr/>
          </p:nvGrpSpPr>
          <p:grpSpPr>
            <a:xfrm>
              <a:off x="2835634" y="2260289"/>
              <a:ext cx="174626" cy="218005"/>
              <a:chOff x="2784706" y="2737357"/>
              <a:chExt cx="252754" cy="305101"/>
            </a:xfrm>
          </p:grpSpPr>
          <p:cxnSp>
            <p:nvCxnSpPr>
              <p:cNvPr id="10" name="Gerader Verbinder 48">
                <a:extLst>
                  <a:ext uri="{FF2B5EF4-FFF2-40B4-BE49-F238E27FC236}">
                    <a16:creationId xmlns:a16="http://schemas.microsoft.com/office/drawing/2014/main" id="{5B5DC07B-9B94-C5DD-2E8E-039CE2EF6243}"/>
                  </a:ext>
                </a:extLst>
              </p:cNvPr>
              <p:cNvCxnSpPr/>
              <p:nvPr/>
            </p:nvCxnSpPr>
            <p:spPr>
              <a:xfrm flipV="1">
                <a:off x="2784706" y="2737357"/>
                <a:ext cx="126377" cy="305101"/>
              </a:xfrm>
              <a:prstGeom prst="line">
                <a:avLst/>
              </a:prstGeom>
            </p:spPr>
            <p:style>
              <a:lnRef idx="1">
                <a:schemeClr val="dk1"/>
              </a:lnRef>
              <a:fillRef idx="0">
                <a:schemeClr val="dk1"/>
              </a:fillRef>
              <a:effectRef idx="0">
                <a:schemeClr val="dk1"/>
              </a:effectRef>
              <a:fontRef idx="minor">
                <a:schemeClr val="tx1"/>
              </a:fontRef>
            </p:style>
          </p:cxnSp>
          <p:cxnSp>
            <p:nvCxnSpPr>
              <p:cNvPr id="11" name="Gerader Verbinder 49">
                <a:extLst>
                  <a:ext uri="{FF2B5EF4-FFF2-40B4-BE49-F238E27FC236}">
                    <a16:creationId xmlns:a16="http://schemas.microsoft.com/office/drawing/2014/main" id="{79E0E670-DB55-8CDE-BCAF-5808B1D979C6}"/>
                  </a:ext>
                </a:extLst>
              </p:cNvPr>
              <p:cNvCxnSpPr/>
              <p:nvPr/>
            </p:nvCxnSpPr>
            <p:spPr>
              <a:xfrm>
                <a:off x="2911083" y="2737357"/>
                <a:ext cx="126377" cy="30510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12" name="Gruppieren 54">
            <a:extLst>
              <a:ext uri="{FF2B5EF4-FFF2-40B4-BE49-F238E27FC236}">
                <a16:creationId xmlns:a16="http://schemas.microsoft.com/office/drawing/2014/main" id="{49526DDB-E888-C4DD-87DB-2693C3969F0B}"/>
              </a:ext>
            </a:extLst>
          </p:cNvPr>
          <p:cNvGrpSpPr/>
          <p:nvPr/>
        </p:nvGrpSpPr>
        <p:grpSpPr>
          <a:xfrm>
            <a:off x="5573358" y="3300744"/>
            <a:ext cx="522642" cy="357448"/>
            <a:chOff x="3165078" y="3320887"/>
            <a:chExt cx="522642" cy="357448"/>
          </a:xfrm>
        </p:grpSpPr>
        <p:sp>
          <p:nvSpPr>
            <p:cNvPr id="13" name="Ellipse 32">
              <a:extLst>
                <a:ext uri="{FF2B5EF4-FFF2-40B4-BE49-F238E27FC236}">
                  <a16:creationId xmlns:a16="http://schemas.microsoft.com/office/drawing/2014/main" id="{AC39816E-5E80-49F4-7D6A-490218A47D51}"/>
                </a:ext>
              </a:extLst>
            </p:cNvPr>
            <p:cNvSpPr/>
            <p:nvPr/>
          </p:nvSpPr>
          <p:spPr>
            <a:xfrm>
              <a:off x="3247675" y="3320887"/>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400" dirty="0">
                <a:solidFill>
                  <a:schemeClr val="tx1"/>
                </a:solidFill>
              </a:endParaRPr>
            </a:p>
          </p:txBody>
        </p:sp>
        <p:sp>
          <p:nvSpPr>
            <p:cNvPr id="14" name="Textfeld 53">
              <a:extLst>
                <a:ext uri="{FF2B5EF4-FFF2-40B4-BE49-F238E27FC236}">
                  <a16:creationId xmlns:a16="http://schemas.microsoft.com/office/drawing/2014/main" id="{0650D6BD-73F0-1E9B-DD03-D4316909C9D1}"/>
                </a:ext>
              </a:extLst>
            </p:cNvPr>
            <p:cNvSpPr txBox="1"/>
            <p:nvPr/>
          </p:nvSpPr>
          <p:spPr>
            <a:xfrm>
              <a:off x="3165078" y="3361112"/>
              <a:ext cx="522642" cy="276999"/>
            </a:xfrm>
            <a:prstGeom prst="rect">
              <a:avLst/>
            </a:prstGeom>
            <a:noFill/>
          </p:spPr>
          <p:txBody>
            <a:bodyPr wrap="square" rtlCol="0">
              <a:spAutoFit/>
            </a:bodyPr>
            <a:lstStyle/>
            <a:p>
              <a:pPr algn="ctr"/>
              <a:r>
                <a:rPr lang="de-DE" sz="1200" dirty="0"/>
                <a:t>XOR</a:t>
              </a:r>
            </a:p>
          </p:txBody>
        </p:sp>
      </p:grpSp>
      <p:sp>
        <p:nvSpPr>
          <p:cNvPr id="15" name="Sechseck 1">
            <a:extLst>
              <a:ext uri="{FF2B5EF4-FFF2-40B4-BE49-F238E27FC236}">
                <a16:creationId xmlns:a16="http://schemas.microsoft.com/office/drawing/2014/main" id="{84253580-269B-B452-8E1E-95F5BB96734F}"/>
              </a:ext>
            </a:extLst>
          </p:cNvPr>
          <p:cNvSpPr/>
          <p:nvPr/>
        </p:nvSpPr>
        <p:spPr>
          <a:xfrm>
            <a:off x="3329461" y="1217771"/>
            <a:ext cx="911523" cy="484591"/>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Wochenende begonnen</a:t>
            </a:r>
          </a:p>
        </p:txBody>
      </p:sp>
      <p:cxnSp>
        <p:nvCxnSpPr>
          <p:cNvPr id="16" name="Gerade Verbindung mit Pfeil 35">
            <a:extLst>
              <a:ext uri="{FF2B5EF4-FFF2-40B4-BE49-F238E27FC236}">
                <a16:creationId xmlns:a16="http://schemas.microsoft.com/office/drawing/2014/main" id="{2C8B2147-9703-49D8-E011-3366B1F15627}"/>
              </a:ext>
            </a:extLst>
          </p:cNvPr>
          <p:cNvCxnSpPr>
            <a:cxnSpLocks/>
            <a:endCxn id="8" idx="0"/>
          </p:cNvCxnSpPr>
          <p:nvPr/>
        </p:nvCxnSpPr>
        <p:spPr>
          <a:xfrm flipH="1">
            <a:off x="3150738" y="1702362"/>
            <a:ext cx="626437" cy="705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Abgerundetes Rechteck 2">
            <a:extLst>
              <a:ext uri="{FF2B5EF4-FFF2-40B4-BE49-F238E27FC236}">
                <a16:creationId xmlns:a16="http://schemas.microsoft.com/office/drawing/2014/main" id="{349C06A7-C0F5-EF29-13A0-50E51F103F86}"/>
              </a:ext>
            </a:extLst>
          </p:cNvPr>
          <p:cNvSpPr/>
          <p:nvPr/>
        </p:nvSpPr>
        <p:spPr>
          <a:xfrm>
            <a:off x="2712241" y="5370968"/>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err="1">
                <a:solidFill>
                  <a:schemeClr val="tx1"/>
                </a:solidFill>
              </a:rPr>
              <a:t>Failing</a:t>
            </a:r>
            <a:r>
              <a:rPr lang="de-DE" sz="1100" dirty="0">
                <a:solidFill>
                  <a:schemeClr val="tx1"/>
                </a:solidFill>
              </a:rPr>
              <a:t> Test schreiben </a:t>
            </a:r>
          </a:p>
        </p:txBody>
      </p:sp>
      <p:cxnSp>
        <p:nvCxnSpPr>
          <p:cNvPr id="21" name="Gerade Verbindung mit Pfeil 35">
            <a:extLst>
              <a:ext uri="{FF2B5EF4-FFF2-40B4-BE49-F238E27FC236}">
                <a16:creationId xmlns:a16="http://schemas.microsoft.com/office/drawing/2014/main" id="{C5B04273-F96A-AA26-EDBC-30CAEDE63E56}"/>
              </a:ext>
            </a:extLst>
          </p:cNvPr>
          <p:cNvCxnSpPr>
            <a:cxnSpLocks/>
            <a:stCxn id="8" idx="4"/>
            <a:endCxn id="20" idx="0"/>
          </p:cNvCxnSpPr>
          <p:nvPr/>
        </p:nvCxnSpPr>
        <p:spPr>
          <a:xfrm>
            <a:off x="3150738" y="2765255"/>
            <a:ext cx="17264" cy="26057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Sechseck 1">
            <a:extLst>
              <a:ext uri="{FF2B5EF4-FFF2-40B4-BE49-F238E27FC236}">
                <a16:creationId xmlns:a16="http://schemas.microsoft.com/office/drawing/2014/main" id="{78C30A48-B472-8C10-16E2-1282FD8BC9F5}"/>
              </a:ext>
            </a:extLst>
          </p:cNvPr>
          <p:cNvSpPr/>
          <p:nvPr/>
        </p:nvSpPr>
        <p:spPr>
          <a:xfrm>
            <a:off x="4236316" y="5551963"/>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err="1">
                <a:solidFill>
                  <a:schemeClr val="tx1"/>
                </a:solidFill>
              </a:rPr>
              <a:t>Failing</a:t>
            </a:r>
            <a:r>
              <a:rPr lang="de-DE" dirty="0">
                <a:solidFill>
                  <a:schemeClr val="tx1"/>
                </a:solidFill>
              </a:rPr>
              <a:t> Test </a:t>
            </a:r>
            <a:r>
              <a:rPr lang="de-DE" dirty="0" err="1">
                <a:solidFill>
                  <a:schemeClr val="tx1"/>
                </a:solidFill>
              </a:rPr>
              <a:t>exisitert</a:t>
            </a:r>
            <a:endParaRPr lang="de-DE" dirty="0">
              <a:solidFill>
                <a:schemeClr val="tx1"/>
              </a:solidFill>
            </a:endParaRPr>
          </a:p>
        </p:txBody>
      </p:sp>
      <p:cxnSp>
        <p:nvCxnSpPr>
          <p:cNvPr id="23" name="Gerade Verbindung mit Pfeil 35">
            <a:extLst>
              <a:ext uri="{FF2B5EF4-FFF2-40B4-BE49-F238E27FC236}">
                <a16:creationId xmlns:a16="http://schemas.microsoft.com/office/drawing/2014/main" id="{33BA1585-52AB-1DC7-360A-DD546CAF1A92}"/>
              </a:ext>
            </a:extLst>
          </p:cNvPr>
          <p:cNvCxnSpPr>
            <a:cxnSpLocks/>
            <a:stCxn id="20" idx="3"/>
            <a:endCxn id="22" idx="3"/>
          </p:cNvCxnSpPr>
          <p:nvPr/>
        </p:nvCxnSpPr>
        <p:spPr>
          <a:xfrm>
            <a:off x="3623763" y="5599568"/>
            <a:ext cx="612553" cy="1768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Abgerundetes Rechteck 2">
            <a:extLst>
              <a:ext uri="{FF2B5EF4-FFF2-40B4-BE49-F238E27FC236}">
                <a16:creationId xmlns:a16="http://schemas.microsoft.com/office/drawing/2014/main" id="{35B4EE68-0FCA-12C2-BDB1-7D68FB67D154}"/>
              </a:ext>
            </a:extLst>
          </p:cNvPr>
          <p:cNvSpPr/>
          <p:nvPr/>
        </p:nvSpPr>
        <p:spPr>
          <a:xfrm>
            <a:off x="4016914" y="4324386"/>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r>
              <a:rPr lang="de-DE" sz="1100" dirty="0">
                <a:solidFill>
                  <a:schemeClr val="tx1"/>
                </a:solidFill>
              </a:rPr>
              <a:t>Prototyp Code schreiben</a:t>
            </a:r>
          </a:p>
        </p:txBody>
      </p:sp>
      <p:sp>
        <p:nvSpPr>
          <p:cNvPr id="25" name="Sechseck 1">
            <a:extLst>
              <a:ext uri="{FF2B5EF4-FFF2-40B4-BE49-F238E27FC236}">
                <a16:creationId xmlns:a16="http://schemas.microsoft.com/office/drawing/2014/main" id="{0914A407-5672-1FA4-5697-793C5B246D55}"/>
              </a:ext>
            </a:extLst>
          </p:cNvPr>
          <p:cNvSpPr/>
          <p:nvPr/>
        </p:nvSpPr>
        <p:spPr>
          <a:xfrm>
            <a:off x="4016914" y="3282456"/>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Code Entwurf fertig</a:t>
            </a:r>
          </a:p>
        </p:txBody>
      </p:sp>
      <p:sp>
        <p:nvSpPr>
          <p:cNvPr id="26" name="Abgerundetes Rechteck 2">
            <a:extLst>
              <a:ext uri="{FF2B5EF4-FFF2-40B4-BE49-F238E27FC236}">
                <a16:creationId xmlns:a16="http://schemas.microsoft.com/office/drawing/2014/main" id="{431B2845-76C5-4969-6079-B6858A3E0FBB}"/>
              </a:ext>
            </a:extLst>
          </p:cNvPr>
          <p:cNvSpPr/>
          <p:nvPr/>
        </p:nvSpPr>
        <p:spPr>
          <a:xfrm>
            <a:off x="4016914" y="2327574"/>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a:solidFill>
                  <a:schemeClr val="tx1"/>
                </a:solidFill>
              </a:rPr>
              <a:t>Tests ausführen</a:t>
            </a:r>
          </a:p>
        </p:txBody>
      </p:sp>
      <p:cxnSp>
        <p:nvCxnSpPr>
          <p:cNvPr id="28" name="Gerade Verbindung mit Pfeil 35">
            <a:extLst>
              <a:ext uri="{FF2B5EF4-FFF2-40B4-BE49-F238E27FC236}">
                <a16:creationId xmlns:a16="http://schemas.microsoft.com/office/drawing/2014/main" id="{30FEAE24-8639-A842-AE05-E6C93CAC5E3C}"/>
              </a:ext>
            </a:extLst>
          </p:cNvPr>
          <p:cNvCxnSpPr>
            <a:cxnSpLocks/>
            <a:endCxn id="95" idx="2"/>
          </p:cNvCxnSpPr>
          <p:nvPr/>
        </p:nvCxnSpPr>
        <p:spPr>
          <a:xfrm flipH="1" flipV="1">
            <a:off x="4555693" y="5311926"/>
            <a:ext cx="105505" cy="234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Gerade Verbindung mit Pfeil 35">
            <a:extLst>
              <a:ext uri="{FF2B5EF4-FFF2-40B4-BE49-F238E27FC236}">
                <a16:creationId xmlns:a16="http://schemas.microsoft.com/office/drawing/2014/main" id="{A9D94E90-CD05-3265-5CBF-FB51E4A494E4}"/>
              </a:ext>
            </a:extLst>
          </p:cNvPr>
          <p:cNvCxnSpPr>
            <a:cxnSpLocks/>
            <a:endCxn id="24" idx="2"/>
          </p:cNvCxnSpPr>
          <p:nvPr/>
        </p:nvCxnSpPr>
        <p:spPr>
          <a:xfrm flipH="1" flipV="1">
            <a:off x="4472675" y="4781586"/>
            <a:ext cx="77265" cy="3131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Gerade Verbindung mit Pfeil 35">
            <a:extLst>
              <a:ext uri="{FF2B5EF4-FFF2-40B4-BE49-F238E27FC236}">
                <a16:creationId xmlns:a16="http://schemas.microsoft.com/office/drawing/2014/main" id="{0FC02671-43FE-E022-1B7E-995965AA5771}"/>
              </a:ext>
            </a:extLst>
          </p:cNvPr>
          <p:cNvCxnSpPr>
            <a:cxnSpLocks/>
            <a:stCxn id="24" idx="0"/>
          </p:cNvCxnSpPr>
          <p:nvPr/>
        </p:nvCxnSpPr>
        <p:spPr>
          <a:xfrm flipV="1">
            <a:off x="4472675" y="3731343"/>
            <a:ext cx="0" cy="5930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Gerade Verbindung mit Pfeil 35">
            <a:extLst>
              <a:ext uri="{FF2B5EF4-FFF2-40B4-BE49-F238E27FC236}">
                <a16:creationId xmlns:a16="http://schemas.microsoft.com/office/drawing/2014/main" id="{8916EAE0-0EDE-0CFD-F69A-DBA488BBCC89}"/>
              </a:ext>
            </a:extLst>
          </p:cNvPr>
          <p:cNvCxnSpPr>
            <a:cxnSpLocks/>
            <a:endCxn id="26" idx="2"/>
          </p:cNvCxnSpPr>
          <p:nvPr/>
        </p:nvCxnSpPr>
        <p:spPr>
          <a:xfrm flipV="1">
            <a:off x="4464681" y="2784774"/>
            <a:ext cx="7994" cy="476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Gerade Verbindung mit Pfeil 35">
            <a:extLst>
              <a:ext uri="{FF2B5EF4-FFF2-40B4-BE49-F238E27FC236}">
                <a16:creationId xmlns:a16="http://schemas.microsoft.com/office/drawing/2014/main" id="{D400C8B4-ABF9-3D8A-78E9-91BDF3EB68D1}"/>
              </a:ext>
            </a:extLst>
          </p:cNvPr>
          <p:cNvCxnSpPr>
            <a:cxnSpLocks/>
            <a:stCxn id="26" idx="3"/>
            <a:endCxn id="13" idx="0"/>
          </p:cNvCxnSpPr>
          <p:nvPr/>
        </p:nvCxnSpPr>
        <p:spPr>
          <a:xfrm>
            <a:off x="4928436" y="2556174"/>
            <a:ext cx="906243" cy="7445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Gerade Verbindung mit Pfeil 35">
            <a:extLst>
              <a:ext uri="{FF2B5EF4-FFF2-40B4-BE49-F238E27FC236}">
                <a16:creationId xmlns:a16="http://schemas.microsoft.com/office/drawing/2014/main" id="{9A27DCAA-533C-23FE-780E-4A590A54C798}"/>
              </a:ext>
            </a:extLst>
          </p:cNvPr>
          <p:cNvCxnSpPr>
            <a:cxnSpLocks/>
            <a:endCxn id="40" idx="3"/>
          </p:cNvCxnSpPr>
          <p:nvPr/>
        </p:nvCxnSpPr>
        <p:spPr>
          <a:xfrm>
            <a:off x="5957668" y="3479468"/>
            <a:ext cx="729017" cy="13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Sechseck 1">
            <a:extLst>
              <a:ext uri="{FF2B5EF4-FFF2-40B4-BE49-F238E27FC236}">
                <a16:creationId xmlns:a16="http://schemas.microsoft.com/office/drawing/2014/main" id="{6BBCB6EE-9AE5-8E78-0C34-7EC03BE9F49E}"/>
              </a:ext>
            </a:extLst>
          </p:cNvPr>
          <p:cNvSpPr/>
          <p:nvPr/>
        </p:nvSpPr>
        <p:spPr>
          <a:xfrm>
            <a:off x="6686685" y="3268492"/>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de-DE" dirty="0">
                <a:solidFill>
                  <a:schemeClr val="tx1"/>
                </a:solidFill>
              </a:rPr>
              <a:t>Tests bestanden</a:t>
            </a:r>
          </a:p>
        </p:txBody>
      </p:sp>
      <p:sp>
        <p:nvSpPr>
          <p:cNvPr id="41" name="Abgerundetes Rechteck 2">
            <a:extLst>
              <a:ext uri="{FF2B5EF4-FFF2-40B4-BE49-F238E27FC236}">
                <a16:creationId xmlns:a16="http://schemas.microsoft.com/office/drawing/2014/main" id="{7DDACE4C-C41A-DBB5-8C52-05C7CC6B13F2}"/>
              </a:ext>
            </a:extLst>
          </p:cNvPr>
          <p:cNvSpPr/>
          <p:nvPr/>
        </p:nvSpPr>
        <p:spPr>
          <a:xfrm>
            <a:off x="6734526" y="4320228"/>
            <a:ext cx="911522"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a:solidFill>
                  <a:schemeClr val="tx1"/>
                </a:solidFill>
              </a:rPr>
              <a:t>Code aufräumen</a:t>
            </a:r>
          </a:p>
        </p:txBody>
      </p:sp>
      <p:cxnSp>
        <p:nvCxnSpPr>
          <p:cNvPr id="42" name="Gerade Verbindung mit Pfeil 35">
            <a:extLst>
              <a:ext uri="{FF2B5EF4-FFF2-40B4-BE49-F238E27FC236}">
                <a16:creationId xmlns:a16="http://schemas.microsoft.com/office/drawing/2014/main" id="{DB4E3AA8-0B0C-29C2-5D99-C8234C97B476}"/>
              </a:ext>
            </a:extLst>
          </p:cNvPr>
          <p:cNvCxnSpPr>
            <a:cxnSpLocks/>
            <a:endCxn id="41" idx="0"/>
          </p:cNvCxnSpPr>
          <p:nvPr/>
        </p:nvCxnSpPr>
        <p:spPr>
          <a:xfrm>
            <a:off x="7142446" y="3731343"/>
            <a:ext cx="47841" cy="5888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Sechseck 1">
            <a:extLst>
              <a:ext uri="{FF2B5EF4-FFF2-40B4-BE49-F238E27FC236}">
                <a16:creationId xmlns:a16="http://schemas.microsoft.com/office/drawing/2014/main" id="{72955841-1EF6-FD3B-6B86-5870F5E5F418}"/>
              </a:ext>
            </a:extLst>
          </p:cNvPr>
          <p:cNvSpPr/>
          <p:nvPr/>
        </p:nvSpPr>
        <p:spPr>
          <a:xfrm>
            <a:off x="6734526" y="5306288"/>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lnSpcReduction="20000"/>
          </a:bodyPr>
          <a:lstStyle/>
          <a:p>
            <a:pPr algn="ctr"/>
            <a:r>
              <a:rPr lang="de-DE" dirty="0">
                <a:solidFill>
                  <a:schemeClr val="tx1"/>
                </a:solidFill>
              </a:rPr>
              <a:t>Code ist aufgeräumt</a:t>
            </a:r>
          </a:p>
        </p:txBody>
      </p:sp>
      <p:cxnSp>
        <p:nvCxnSpPr>
          <p:cNvPr id="44" name="Gerade Verbindung mit Pfeil 35">
            <a:extLst>
              <a:ext uri="{FF2B5EF4-FFF2-40B4-BE49-F238E27FC236}">
                <a16:creationId xmlns:a16="http://schemas.microsoft.com/office/drawing/2014/main" id="{4576AC14-C778-AB83-5C67-DDD74E9C6AEC}"/>
              </a:ext>
            </a:extLst>
          </p:cNvPr>
          <p:cNvCxnSpPr>
            <a:cxnSpLocks/>
            <a:stCxn id="41" idx="2"/>
          </p:cNvCxnSpPr>
          <p:nvPr/>
        </p:nvCxnSpPr>
        <p:spPr>
          <a:xfrm>
            <a:off x="7190287" y="4777428"/>
            <a:ext cx="6394" cy="5563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Abgerundetes Rechteck 2">
            <a:extLst>
              <a:ext uri="{FF2B5EF4-FFF2-40B4-BE49-F238E27FC236}">
                <a16:creationId xmlns:a16="http://schemas.microsoft.com/office/drawing/2014/main" id="{48009735-AFD9-B6FA-FCB2-264C900BAA98}"/>
              </a:ext>
            </a:extLst>
          </p:cNvPr>
          <p:cNvSpPr/>
          <p:nvPr/>
        </p:nvSpPr>
        <p:spPr>
          <a:xfrm>
            <a:off x="8102977" y="5333721"/>
            <a:ext cx="860368" cy="457200"/>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de-DE" sz="1100" dirty="0" err="1">
                <a:solidFill>
                  <a:schemeClr val="tx1"/>
                </a:solidFill>
              </a:rPr>
              <a:t>Git</a:t>
            </a:r>
            <a:r>
              <a:rPr lang="de-DE" sz="1100" dirty="0">
                <a:solidFill>
                  <a:schemeClr val="tx1"/>
                </a:solidFill>
              </a:rPr>
              <a:t> </a:t>
            </a:r>
            <a:r>
              <a:rPr lang="de-DE" sz="1100" dirty="0" err="1">
                <a:solidFill>
                  <a:schemeClr val="tx1"/>
                </a:solidFill>
              </a:rPr>
              <a:t>commit</a:t>
            </a:r>
            <a:r>
              <a:rPr lang="de-DE" sz="1100" dirty="0">
                <a:solidFill>
                  <a:schemeClr val="tx1"/>
                </a:solidFill>
              </a:rPr>
              <a:t> und push</a:t>
            </a:r>
          </a:p>
        </p:txBody>
      </p:sp>
      <p:sp>
        <p:nvSpPr>
          <p:cNvPr id="46" name="Sechseck 1">
            <a:extLst>
              <a:ext uri="{FF2B5EF4-FFF2-40B4-BE49-F238E27FC236}">
                <a16:creationId xmlns:a16="http://schemas.microsoft.com/office/drawing/2014/main" id="{BB0F8999-7486-0577-AD20-F0D0479BA817}"/>
              </a:ext>
            </a:extLst>
          </p:cNvPr>
          <p:cNvSpPr/>
          <p:nvPr/>
        </p:nvSpPr>
        <p:spPr>
          <a:xfrm>
            <a:off x="9337518" y="5349789"/>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lstStyle/>
          <a:p>
            <a:pPr algn="ctr"/>
            <a:r>
              <a:rPr lang="de-DE" dirty="0">
                <a:solidFill>
                  <a:schemeClr val="tx1"/>
                </a:solidFill>
              </a:rPr>
              <a:t>Feature abgeschlossen im Repo</a:t>
            </a:r>
          </a:p>
        </p:txBody>
      </p:sp>
      <p:cxnSp>
        <p:nvCxnSpPr>
          <p:cNvPr id="47" name="Gerade Verbindung mit Pfeil 35">
            <a:extLst>
              <a:ext uri="{FF2B5EF4-FFF2-40B4-BE49-F238E27FC236}">
                <a16:creationId xmlns:a16="http://schemas.microsoft.com/office/drawing/2014/main" id="{D6244333-9979-7172-D38D-B80A361677C8}"/>
              </a:ext>
            </a:extLst>
          </p:cNvPr>
          <p:cNvCxnSpPr>
            <a:cxnSpLocks/>
            <a:stCxn id="43" idx="0"/>
            <a:endCxn id="45" idx="1"/>
          </p:cNvCxnSpPr>
          <p:nvPr/>
        </p:nvCxnSpPr>
        <p:spPr>
          <a:xfrm>
            <a:off x="7646049" y="5530732"/>
            <a:ext cx="456928" cy="315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Gerade Verbindung mit Pfeil 35">
            <a:extLst>
              <a:ext uri="{FF2B5EF4-FFF2-40B4-BE49-F238E27FC236}">
                <a16:creationId xmlns:a16="http://schemas.microsoft.com/office/drawing/2014/main" id="{D53825A6-BB4D-D53C-1627-31AE578CF958}"/>
              </a:ext>
            </a:extLst>
          </p:cNvPr>
          <p:cNvCxnSpPr>
            <a:cxnSpLocks/>
            <a:stCxn id="45" idx="3"/>
            <a:endCxn id="46" idx="3"/>
          </p:cNvCxnSpPr>
          <p:nvPr/>
        </p:nvCxnSpPr>
        <p:spPr>
          <a:xfrm>
            <a:off x="8963345" y="5562321"/>
            <a:ext cx="374173" cy="11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93" name="Gruppieren 54">
            <a:extLst>
              <a:ext uri="{FF2B5EF4-FFF2-40B4-BE49-F238E27FC236}">
                <a16:creationId xmlns:a16="http://schemas.microsoft.com/office/drawing/2014/main" id="{0236E85B-209D-E36E-E662-B7A7A7138852}"/>
              </a:ext>
            </a:extLst>
          </p:cNvPr>
          <p:cNvGrpSpPr/>
          <p:nvPr/>
        </p:nvGrpSpPr>
        <p:grpSpPr>
          <a:xfrm>
            <a:off x="4294372" y="4994702"/>
            <a:ext cx="522642" cy="357448"/>
            <a:chOff x="3165078" y="3320887"/>
            <a:chExt cx="522642" cy="357448"/>
          </a:xfrm>
        </p:grpSpPr>
        <p:sp>
          <p:nvSpPr>
            <p:cNvPr id="94" name="Ellipse 32">
              <a:extLst>
                <a:ext uri="{FF2B5EF4-FFF2-40B4-BE49-F238E27FC236}">
                  <a16:creationId xmlns:a16="http://schemas.microsoft.com/office/drawing/2014/main" id="{2E6E32C8-0EDE-4853-A0A7-F14B35B8C08B}"/>
                </a:ext>
              </a:extLst>
            </p:cNvPr>
            <p:cNvSpPr/>
            <p:nvPr/>
          </p:nvSpPr>
          <p:spPr>
            <a:xfrm>
              <a:off x="3247675" y="3320887"/>
              <a:ext cx="357448" cy="357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400" dirty="0">
                <a:solidFill>
                  <a:schemeClr val="tx1"/>
                </a:solidFill>
              </a:endParaRPr>
            </a:p>
          </p:txBody>
        </p:sp>
        <p:sp>
          <p:nvSpPr>
            <p:cNvPr id="95" name="Textfeld 53">
              <a:extLst>
                <a:ext uri="{FF2B5EF4-FFF2-40B4-BE49-F238E27FC236}">
                  <a16:creationId xmlns:a16="http://schemas.microsoft.com/office/drawing/2014/main" id="{BB39635D-1A67-07AE-AE4E-1CB7A411E9A4}"/>
                </a:ext>
              </a:extLst>
            </p:cNvPr>
            <p:cNvSpPr txBox="1"/>
            <p:nvPr/>
          </p:nvSpPr>
          <p:spPr>
            <a:xfrm>
              <a:off x="3165078" y="3361112"/>
              <a:ext cx="522642" cy="276999"/>
            </a:xfrm>
            <a:prstGeom prst="rect">
              <a:avLst/>
            </a:prstGeom>
            <a:noFill/>
          </p:spPr>
          <p:txBody>
            <a:bodyPr wrap="square" rtlCol="0">
              <a:spAutoFit/>
            </a:bodyPr>
            <a:lstStyle/>
            <a:p>
              <a:pPr algn="ctr"/>
              <a:r>
                <a:rPr lang="de-DE" sz="1200" dirty="0"/>
                <a:t>XOR</a:t>
              </a:r>
            </a:p>
          </p:txBody>
        </p:sp>
      </p:grpSp>
      <p:sp>
        <p:nvSpPr>
          <p:cNvPr id="107" name="Sechseck 1">
            <a:extLst>
              <a:ext uri="{FF2B5EF4-FFF2-40B4-BE49-F238E27FC236}">
                <a16:creationId xmlns:a16="http://schemas.microsoft.com/office/drawing/2014/main" id="{DB6D4ADA-D2FD-C309-19DD-1A63FB80F336}"/>
              </a:ext>
            </a:extLst>
          </p:cNvPr>
          <p:cNvSpPr/>
          <p:nvPr/>
        </p:nvSpPr>
        <p:spPr>
          <a:xfrm>
            <a:off x="5378917" y="4324385"/>
            <a:ext cx="911523" cy="448887"/>
          </a:xfrm>
          <a:prstGeom prst="hexagon">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lstStyle/>
          <a:p>
            <a:pPr algn="ctr"/>
            <a:r>
              <a:rPr lang="de-DE" dirty="0">
                <a:solidFill>
                  <a:schemeClr val="tx1"/>
                </a:solidFill>
              </a:rPr>
              <a:t>Test fehlgeschlagen</a:t>
            </a:r>
          </a:p>
        </p:txBody>
      </p:sp>
      <p:cxnSp>
        <p:nvCxnSpPr>
          <p:cNvPr id="108" name="Gerade Verbindung mit Pfeil 35">
            <a:extLst>
              <a:ext uri="{FF2B5EF4-FFF2-40B4-BE49-F238E27FC236}">
                <a16:creationId xmlns:a16="http://schemas.microsoft.com/office/drawing/2014/main" id="{CB9863FA-6DE3-8A4C-40DA-BE8C97DB63F4}"/>
              </a:ext>
            </a:extLst>
          </p:cNvPr>
          <p:cNvCxnSpPr>
            <a:cxnSpLocks/>
            <a:stCxn id="13" idx="4"/>
          </p:cNvCxnSpPr>
          <p:nvPr/>
        </p:nvCxnSpPr>
        <p:spPr>
          <a:xfrm>
            <a:off x="5834679" y="3658192"/>
            <a:ext cx="0" cy="662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Gerade Verbindung mit Pfeil 35">
            <a:extLst>
              <a:ext uri="{FF2B5EF4-FFF2-40B4-BE49-F238E27FC236}">
                <a16:creationId xmlns:a16="http://schemas.microsoft.com/office/drawing/2014/main" id="{356BF877-7DE3-0BE0-772E-BE2304DFD506}"/>
              </a:ext>
            </a:extLst>
          </p:cNvPr>
          <p:cNvCxnSpPr>
            <a:cxnSpLocks/>
          </p:cNvCxnSpPr>
          <p:nvPr/>
        </p:nvCxnSpPr>
        <p:spPr>
          <a:xfrm flipH="1">
            <a:off x="4661198" y="4773272"/>
            <a:ext cx="1173481" cy="3214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69866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D4CDD3DB-42D7-4D64-B445-1CA380B8D48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45E0C437-3016-4CE4-A4C8-63710D2C6516}"/>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562EF406-C45A-41CE-B801-BB0129EE2629}"/>
              </a:ext>
            </a:extLst>
          </p:cNvPr>
          <p:cNvSpPr>
            <a:spLocks noGrp="1"/>
          </p:cNvSpPr>
          <p:nvPr>
            <p:ph type="sldNum" sz="quarter" idx="4"/>
          </p:nvPr>
        </p:nvSpPr>
        <p:spPr/>
        <p:txBody>
          <a:bodyPr/>
          <a:lstStyle/>
          <a:p>
            <a:pPr>
              <a:defRPr/>
            </a:pPr>
            <a:fld id="{B6F15528-21DE-4FAA-801E-634DDDAF4B2B}" type="slidenum">
              <a:rPr lang="de-DE" smtClean="0"/>
              <a:t>13</a:t>
            </a:fld>
            <a:endParaRPr lang="de-DE"/>
          </a:p>
        </p:txBody>
      </p:sp>
      <p:sp>
        <p:nvSpPr>
          <p:cNvPr id="7" name="Titel 6">
            <a:extLst>
              <a:ext uri="{FF2B5EF4-FFF2-40B4-BE49-F238E27FC236}">
                <a16:creationId xmlns:a16="http://schemas.microsoft.com/office/drawing/2014/main" id="{6110CB1A-79EA-43E4-B07E-257B21EBAC6E}"/>
              </a:ext>
            </a:extLst>
          </p:cNvPr>
          <p:cNvSpPr>
            <a:spLocks noGrp="1"/>
          </p:cNvSpPr>
          <p:nvPr>
            <p:ph type="title"/>
          </p:nvPr>
        </p:nvSpPr>
        <p:spPr>
          <a:xfrm>
            <a:off x="151155" y="491371"/>
            <a:ext cx="10515600" cy="1325033"/>
          </a:xfrm>
        </p:spPr>
        <p:txBody>
          <a:bodyPr/>
          <a:lstStyle/>
          <a:p>
            <a:r>
              <a:rPr lang="en-GB" dirty="0"/>
              <a:t>Aufgabe 4</a:t>
            </a:r>
          </a:p>
        </p:txBody>
      </p:sp>
      <p:sp>
        <p:nvSpPr>
          <p:cNvPr id="10" name="Textfeld 9">
            <a:extLst>
              <a:ext uri="{FF2B5EF4-FFF2-40B4-BE49-F238E27FC236}">
                <a16:creationId xmlns:a16="http://schemas.microsoft.com/office/drawing/2014/main" id="{9CF93455-E584-4E90-9C1F-F02601CF11D3}"/>
              </a:ext>
            </a:extLst>
          </p:cNvPr>
          <p:cNvSpPr txBox="1"/>
          <p:nvPr/>
        </p:nvSpPr>
        <p:spPr>
          <a:xfrm>
            <a:off x="151155" y="1398392"/>
            <a:ext cx="11540736" cy="5037276"/>
          </a:xfrm>
          <a:prstGeom prst="rect">
            <a:avLst/>
          </a:prstGeom>
          <a:noFill/>
        </p:spPr>
        <p:txBody>
          <a:bodyPr wrap="square" rtlCol="0">
            <a:spAutoFit/>
          </a:bodyPr>
          <a:lstStyle/>
          <a:p>
            <a:pPr>
              <a:spcAft>
                <a:spcPts val="400"/>
              </a:spcAft>
            </a:pPr>
            <a:r>
              <a:rPr lang="de-DE" dirty="0">
                <a:latin typeface="Arial" panose="020B0604020202020204" pitchFamily="34" charset="0"/>
                <a:ea typeface="Times New Roman" panose="02020603050405020304" pitchFamily="18" charset="0"/>
                <a:cs typeface="Times New Roman" panose="02020603050405020304" pitchFamily="18" charset="0"/>
              </a:rPr>
              <a:t>Beantworten Sie </a:t>
            </a: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anhand Ihrer Ergebnisse aus Aufgabe 3A und 3B die folgenden Aufgaben und Fragen, in je 2-4 Sätzen:</a:t>
            </a:r>
          </a:p>
          <a:p>
            <a:pPr marL="800100" lvl="1" indent="-342900">
              <a:spcAft>
                <a:spcPts val="400"/>
              </a:spcAft>
              <a:buFont typeface="Arial" panose="020B0604020202020204" pitchFamily="34" charset="0"/>
              <a:buChar char="•"/>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Glauben Sie, dass Sie den optimierten Prozess in dieser Form in Ihren Alltag integrieren würden? Weshalb?</a:t>
            </a:r>
            <a:endParaRPr lang="de-DE" dirty="0">
              <a:effectLst/>
              <a:latin typeface="Arial" panose="020B0604020202020204" pitchFamily="34" charset="0"/>
              <a:ea typeface="Times New Roman" panose="02020603050405020304" pitchFamily="18" charset="0"/>
              <a:cs typeface="Times New Roman" panose="02020603050405020304" pitchFamily="18" charset="0"/>
            </a:endParaRPr>
          </a:p>
          <a:p>
            <a:pPr marL="800100" lvl="1" indent="-342900">
              <a:spcAft>
                <a:spcPts val="400"/>
              </a:spcAft>
              <a:buFont typeface="Arial" panose="020B0604020202020204" pitchFamily="34" charset="0"/>
              <a:buChar char="•"/>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Welche Vor- und Nachteile würde diese Optimierung aus Ihrer Sicht nach sich ziehen?</a:t>
            </a:r>
          </a:p>
          <a:p>
            <a:pPr marL="800100" lvl="1" indent="-342900">
              <a:spcAft>
                <a:spcPts val="400"/>
              </a:spcAft>
              <a:buFont typeface="Arial" panose="020B0604020202020204" pitchFamily="34" charset="0"/>
              <a:buChar char="•"/>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Welche externen Faktoren beeinflussen Ihre Möglichkeiten oder Bereitschaft, andere alltägliche Prozesse zu optimieren oder dies nicht zu tun? </a:t>
            </a:r>
          </a:p>
          <a:p>
            <a:pPr marL="800100" lvl="1" indent="-342900">
              <a:spcAft>
                <a:spcPts val="400"/>
              </a:spcAft>
              <a:buFont typeface="Arial" panose="020B0604020202020204" pitchFamily="34" charset="0"/>
              <a:buChar char="•"/>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Welchen Einfluss haben die Aspekte Koordinationsbedarf und Transformationsdruck auf Ihre Bereitschaft bestehende Prozesse anzupassen?</a:t>
            </a:r>
          </a:p>
          <a:p>
            <a:pPr lvl="1">
              <a:spcAft>
                <a:spcPts val="400"/>
              </a:spcAft>
            </a:pPr>
            <a:endParaRPr lang="de-DE"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lvl="1">
              <a:spcAft>
                <a:spcPts val="400"/>
              </a:spcAft>
            </a:pPr>
            <a:r>
              <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Erstellen Sie für die Bearbeitung dieser Aufgabe eine Folie und gliedern Sie Ihre Antworten in der Reihenfolge der präsentierten Fragen.</a:t>
            </a:r>
          </a:p>
          <a:p>
            <a:pPr lvl="1">
              <a:spcAft>
                <a:spcPts val="400"/>
              </a:spcAft>
            </a:pPr>
            <a:endParaRPr lang="de-DE"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342900" indent="-342900">
              <a:spcAft>
                <a:spcPts val="400"/>
              </a:spcAft>
              <a:buFontTx/>
              <a:buAutoNum type="alphaUcParenR"/>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pPr>
              <a:spcAft>
                <a:spcPts val="400"/>
              </a:spcAft>
            </a:pPr>
            <a:endParaRPr lang="de-DE" sz="18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39396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714E-662D-C18B-8AD5-EE2BA52DF618}"/>
            </a:ext>
          </a:extLst>
        </p:cNvPr>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B28E8CD-1B88-5CAA-363D-E988E89D1A61}"/>
              </a:ext>
            </a:extLst>
          </p:cNvPr>
          <p:cNvSpPr>
            <a:spLocks noGrp="1"/>
          </p:cNvSpPr>
          <p:nvPr>
            <p:ph type="ftr" sz="quarter" idx="3"/>
          </p:nvPr>
        </p:nvSpPr>
        <p:spPr/>
        <p:txBody>
          <a:bodyPr/>
          <a:lstStyle/>
          <a:p>
            <a:pPr>
              <a:defRPr/>
            </a:pPr>
            <a:r>
              <a:rPr lang="de-DE"/>
              <a:t>Fachbereich Wirtschaftswissenschaften -  Prof. Dr. Martin Adam </a:t>
            </a:r>
            <a:br>
              <a:rPr lang="de-DE"/>
            </a:br>
            <a:endParaRPr lang="de-DE" dirty="0"/>
          </a:p>
        </p:txBody>
      </p:sp>
      <p:sp>
        <p:nvSpPr>
          <p:cNvPr id="4" name="Datumsplatzhalter 3">
            <a:extLst>
              <a:ext uri="{FF2B5EF4-FFF2-40B4-BE49-F238E27FC236}">
                <a16:creationId xmlns:a16="http://schemas.microsoft.com/office/drawing/2014/main" id="{09D5831E-0A7F-AD85-7C69-8813ECEE9CFD}"/>
              </a:ext>
            </a:extLst>
          </p:cNvPr>
          <p:cNvSpPr>
            <a:spLocks noGrp="1"/>
          </p:cNvSpPr>
          <p:nvPr>
            <p:ph type="dt" sz="half" idx="2"/>
          </p:nvPr>
        </p:nvSpPr>
        <p:spPr/>
        <p:txBody>
          <a:bodyPr/>
          <a:lstStyle/>
          <a:p>
            <a:pPr>
              <a:defRPr/>
            </a:pPr>
            <a:fld id="{D136BA79-F54F-FF44-890F-0CC4A3312E96}" type="datetime1">
              <a:rPr lang="de-DE" smtClean="0"/>
              <a:t>12.01.26</a:t>
            </a:fld>
            <a:endParaRPr lang="en-US"/>
          </a:p>
        </p:txBody>
      </p:sp>
      <p:sp>
        <p:nvSpPr>
          <p:cNvPr id="5" name="Foliennummernplatzhalter 4">
            <a:extLst>
              <a:ext uri="{FF2B5EF4-FFF2-40B4-BE49-F238E27FC236}">
                <a16:creationId xmlns:a16="http://schemas.microsoft.com/office/drawing/2014/main" id="{B6F72ECF-E0DE-D109-1F6C-B981E8C7D84E}"/>
              </a:ext>
            </a:extLst>
          </p:cNvPr>
          <p:cNvSpPr>
            <a:spLocks noGrp="1"/>
          </p:cNvSpPr>
          <p:nvPr>
            <p:ph type="sldNum" sz="quarter" idx="4"/>
          </p:nvPr>
        </p:nvSpPr>
        <p:spPr/>
        <p:txBody>
          <a:bodyPr/>
          <a:lstStyle/>
          <a:p>
            <a:pPr>
              <a:defRPr/>
            </a:pPr>
            <a:fld id="{B6F15528-21DE-4FAA-801E-634DDDAF4B2B}" type="slidenum">
              <a:rPr lang="de-DE" smtClean="0"/>
              <a:t>14</a:t>
            </a:fld>
            <a:endParaRPr lang="de-DE"/>
          </a:p>
        </p:txBody>
      </p:sp>
      <p:sp>
        <p:nvSpPr>
          <p:cNvPr id="7" name="Titel 6">
            <a:extLst>
              <a:ext uri="{FF2B5EF4-FFF2-40B4-BE49-F238E27FC236}">
                <a16:creationId xmlns:a16="http://schemas.microsoft.com/office/drawing/2014/main" id="{90416691-6645-B03E-B084-0859126253F8}"/>
              </a:ext>
            </a:extLst>
          </p:cNvPr>
          <p:cNvSpPr>
            <a:spLocks noGrp="1"/>
          </p:cNvSpPr>
          <p:nvPr>
            <p:ph type="title"/>
          </p:nvPr>
        </p:nvSpPr>
        <p:spPr>
          <a:xfrm>
            <a:off x="151155" y="491371"/>
            <a:ext cx="10515600" cy="1325033"/>
          </a:xfrm>
        </p:spPr>
        <p:txBody>
          <a:bodyPr/>
          <a:lstStyle/>
          <a:p>
            <a:r>
              <a:rPr lang="en-GB" dirty="0"/>
              <a:t>Aufgabe 4</a:t>
            </a:r>
          </a:p>
        </p:txBody>
      </p:sp>
      <p:sp>
        <p:nvSpPr>
          <p:cNvPr id="10" name="Textfeld 9">
            <a:extLst>
              <a:ext uri="{FF2B5EF4-FFF2-40B4-BE49-F238E27FC236}">
                <a16:creationId xmlns:a16="http://schemas.microsoft.com/office/drawing/2014/main" id="{EF79511E-3690-1B39-7DB3-9606F861CC20}"/>
              </a:ext>
            </a:extLst>
          </p:cNvPr>
          <p:cNvSpPr txBox="1"/>
          <p:nvPr/>
        </p:nvSpPr>
        <p:spPr>
          <a:xfrm>
            <a:off x="151155" y="1398392"/>
            <a:ext cx="11540736" cy="5129609"/>
          </a:xfrm>
          <a:prstGeom prst="rect">
            <a:avLst/>
          </a:prstGeom>
          <a:noFill/>
        </p:spPr>
        <p:txBody>
          <a:bodyPr wrap="square" rtlCol="0">
            <a:spAutoFit/>
          </a:bodyPr>
          <a:lstStyle/>
          <a:p>
            <a:pPr lvl="1">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Integration:</a:t>
            </a:r>
          </a:p>
          <a:p>
            <a:pPr marL="742950" lvl="1" indent="-285750">
              <a:spcAft>
                <a:spcPts val="400"/>
              </a:spcAft>
              <a:buFont typeface="Arial" panose="020B0604020202020204" pitchFamily="34" charset="0"/>
              <a:buChar char="•"/>
            </a:pPr>
            <a:r>
              <a:rPr lang="de-DE" sz="1400" dirty="0">
                <a:solidFill>
                  <a:srgbClr val="000000"/>
                </a:solidFill>
                <a:latin typeface="Arial" panose="020B0604020202020204" pitchFamily="34" charset="0"/>
                <a:ea typeface="Times New Roman" panose="02020603050405020304" pitchFamily="18" charset="0"/>
                <a:cs typeface="Arial" panose="020B0604020202020204" pitchFamily="34" charset="0"/>
              </a:rPr>
              <a:t>Ich würde den optimierten Prozess definitiv integrieren, da die strikte Trennung von Planung und Implementierung mir hilft den Fokus während der Coding-Sessions zu behalten. Zudem kann beim Einpflegen der Aufgaben in das Backlog unter der Woche, was bereits schon zur Routine gehörte, direkt eine Priorität festgelegt werden. Das wurde bisher noch nicht gemacht. Im Endeffekt ist die Planung vor der Implementierung ein wichtiger Faktor, um schneller in den produktiven Flow bei begrenzter Zeit am Wochenende zu kommen.</a:t>
            </a:r>
          </a:p>
          <a:p>
            <a:pPr lvl="1">
              <a:spcAft>
                <a:spcPts val="400"/>
              </a:spcAft>
            </a:pPr>
            <a:r>
              <a:rPr lang="de-DE"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Vor</a:t>
            </a:r>
            <a:r>
              <a:rPr lang="de-DE" sz="1400" dirty="0">
                <a:solidFill>
                  <a:srgbClr val="000000"/>
                </a:solidFill>
                <a:latin typeface="Arial" panose="020B0604020202020204" pitchFamily="34" charset="0"/>
                <a:ea typeface="Times New Roman" panose="02020603050405020304" pitchFamily="18" charset="0"/>
                <a:cs typeface="Arial" panose="020B0604020202020204" pitchFamily="34" charset="0"/>
              </a:rPr>
              <a:t>- und Nachteile:</a:t>
            </a:r>
          </a:p>
          <a:p>
            <a:pPr marL="742950" lvl="1" indent="-285750">
              <a:spcAft>
                <a:spcPts val="400"/>
              </a:spcAft>
              <a:buFont typeface="Arial" panose="020B0604020202020204" pitchFamily="34" charset="0"/>
              <a:buChar char="•"/>
            </a:pPr>
            <a:r>
              <a:rPr lang="de-DE" sz="1400" dirty="0">
                <a:latin typeface="Arial" panose="020B0604020202020204" pitchFamily="34" charset="0"/>
                <a:ea typeface="Times New Roman" panose="02020603050405020304" pitchFamily="18" charset="0"/>
                <a:cs typeface="Times New Roman" panose="02020603050405020304" pitchFamily="18" charset="0"/>
              </a:rPr>
              <a:t>Wie im ersten Absatz bereits erwähnt, liegt der größte Vorteil in der verbesserten Fokuszeit und Effizienz, da man sich auf nur eine Art von Arbeit konzentrieren kann. Ein Nachteil könnte sein, dass durch die strikte Festlegung der Prioritäten vor dem Wochenende eine geringere Flexibilität die Folge ist. </a:t>
            </a:r>
          </a:p>
          <a:p>
            <a:pPr lvl="1">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Externe Faktoren:</a:t>
            </a:r>
          </a:p>
          <a:p>
            <a:pPr marL="742950" lvl="1" indent="-285750">
              <a:spcAft>
                <a:spcPts val="400"/>
              </a:spcAft>
              <a:buFont typeface="Arial" panose="020B0604020202020204" pitchFamily="34" charset="0"/>
              <a:buChar char="•"/>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Der mit Abstand größte externe Faktor ist der Zeitdruck neben der privaten Weiterbildung, Sport und Universität. Es klingt erstmal paradox, da ein optimierter Prozess zu mehr Zeit führen kann, aber sobald ich unter Zeitdruck stehe, werden gewohnte Muster nicht eliminiert, sondern beibehalten, </a:t>
            </a:r>
            <a:r>
              <a:rPr lang="de-DE" sz="1400" dirty="0">
                <a:latin typeface="Arial" panose="020B0604020202020204" pitchFamily="34" charset="0"/>
                <a:ea typeface="Times New Roman" panose="02020603050405020304" pitchFamily="18" charset="0"/>
                <a:cs typeface="Times New Roman" panose="02020603050405020304" pitchFamily="18" charset="0"/>
              </a:rPr>
              <a:t>um die Aufgabe mit Gewissheit zu erledigen, </a:t>
            </a:r>
            <a:r>
              <a:rPr lang="de-DE" sz="1400" dirty="0">
                <a:effectLst/>
                <a:latin typeface="Arial" panose="020B0604020202020204" pitchFamily="34" charset="0"/>
                <a:ea typeface="Times New Roman" panose="02020603050405020304" pitchFamily="18" charset="0"/>
                <a:cs typeface="Times New Roman" panose="02020603050405020304" pitchFamily="18" charset="0"/>
              </a:rPr>
              <a:t>auch wenn dies nicht unbedingt effizient ist.</a:t>
            </a:r>
          </a:p>
          <a:p>
            <a:pPr lvl="1">
              <a:spcAft>
                <a:spcPts val="400"/>
              </a:spcAft>
            </a:pPr>
            <a:r>
              <a:rPr lang="de-DE" sz="1400" dirty="0">
                <a:effectLst/>
                <a:latin typeface="Arial" panose="020B0604020202020204" pitchFamily="34" charset="0"/>
                <a:ea typeface="Times New Roman" panose="02020603050405020304" pitchFamily="18" charset="0"/>
                <a:cs typeface="Times New Roman" panose="02020603050405020304" pitchFamily="18" charset="0"/>
              </a:rPr>
              <a:t>Einflussgrößen:</a:t>
            </a:r>
          </a:p>
          <a:p>
            <a:pPr marL="742950" lvl="1" indent="-285750">
              <a:spcAft>
                <a:spcPts val="400"/>
              </a:spcAft>
              <a:buFont typeface="Arial" panose="020B0604020202020204" pitchFamily="34" charset="0"/>
              <a:buChar char="•"/>
            </a:pPr>
            <a:r>
              <a:rPr lang="de-DE" sz="1400" dirty="0">
                <a:latin typeface="Arial" panose="020B0604020202020204" pitchFamily="34" charset="0"/>
                <a:ea typeface="Times New Roman" panose="02020603050405020304" pitchFamily="18" charset="0"/>
                <a:cs typeface="Times New Roman" panose="02020603050405020304" pitchFamily="18" charset="0"/>
              </a:rPr>
              <a:t>Ein hoher Transformationsdruck, durch scheitern des ursprünglichen Prozesses oder Frustration durch bspw. repetitive Aufgaben, wirkt sich positiv auf eine Anpassung aus, um das Fehlerpotenzial oder auch die Frustration einzelner Parteien zu eliminieren. Ein hoher Koordinationsbedarf wirkt sich meiner Meinung nach eher negativ auf eine Anpassungsbereitschaft aus, da der Planungsaufwand meist den </a:t>
            </a:r>
            <a:r>
              <a:rPr lang="de-DE" sz="1400" b="1" dirty="0">
                <a:latin typeface="Arial" panose="020B0604020202020204" pitchFamily="34" charset="0"/>
                <a:ea typeface="Times New Roman" panose="02020603050405020304" pitchFamily="18" charset="0"/>
                <a:cs typeface="Times New Roman" panose="02020603050405020304" pitchFamily="18" charset="0"/>
              </a:rPr>
              <a:t>wahrgenommenen</a:t>
            </a:r>
            <a:r>
              <a:rPr lang="de-DE" sz="1400" dirty="0">
                <a:latin typeface="Arial" panose="020B0604020202020204" pitchFamily="34" charset="0"/>
                <a:ea typeface="Times New Roman" panose="02020603050405020304" pitchFamily="18" charset="0"/>
                <a:cs typeface="Times New Roman" panose="02020603050405020304" pitchFamily="18" charset="0"/>
              </a:rPr>
              <a:t> Nutzen nicht rechtfertigt.</a:t>
            </a: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p>
            <a:pPr marL="742950" lvl="1" indent="-285750">
              <a:spcAft>
                <a:spcPts val="400"/>
              </a:spcAft>
              <a:buFont typeface="Arial" panose="020B0604020202020204" pitchFamily="34" charset="0"/>
              <a:buChar char="•"/>
            </a:pP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p>
            <a:pPr>
              <a:spcAft>
                <a:spcPts val="400"/>
              </a:spcAft>
            </a:pPr>
            <a:endParaRPr lang="de-DE" sz="1400" dirty="0">
              <a:effectLst/>
              <a:latin typeface="Arial" panose="020B0604020202020204" pitchFamily="34" charset="0"/>
              <a:ea typeface="Times New Roman" panose="02020603050405020304" pitchFamily="18" charset="0"/>
              <a:cs typeface="Times New Roman" panose="02020603050405020304" pitchFamily="18" charset="0"/>
            </a:endParaRPr>
          </a:p>
          <a:p>
            <a:endParaRPr lang="en-GB" sz="1400" dirty="0"/>
          </a:p>
        </p:txBody>
      </p:sp>
    </p:spTree>
    <p:extLst>
      <p:ext uri="{BB962C8B-B14F-4D97-AF65-F5344CB8AC3E}">
        <p14:creationId xmlns:p14="http://schemas.microsoft.com/office/powerpoint/2010/main" val="260986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alphaModFix amt="81349"/>
            <a:lum/>
          </a:blip>
          <a:srcRect t="-10655" b="7377"/>
          <a:stretch>
            <a:fillRect t="4000"/>
          </a:stretch>
        </a:blipFill>
        <a:effectLst/>
      </p:bgPr>
    </p:bg>
    <p:spTree>
      <p:nvGrpSpPr>
        <p:cNvPr id="1" name=""/>
        <p:cNvGrpSpPr/>
        <p:nvPr/>
      </p:nvGrpSpPr>
      <p:grpSpPr bwMode="auto">
        <a:xfrm>
          <a:off x="0" y="0"/>
          <a:ext cx="0" cy="0"/>
          <a:chOff x="0" y="0"/>
          <a:chExt cx="0" cy="0"/>
        </a:xfrm>
      </p:grpSpPr>
      <p:sp>
        <p:nvSpPr>
          <p:cNvPr id="5" name="Datumsplatzhalter 4"/>
          <p:cNvSpPr>
            <a:spLocks noGrp="1"/>
          </p:cNvSpPr>
          <p:nvPr>
            <p:ph type="dt" sz="half" idx="2"/>
          </p:nvPr>
        </p:nvSpPr>
        <p:spPr bwMode="auto"/>
        <p:txBody>
          <a:bodyPr/>
          <a:lstStyle/>
          <a:p>
            <a:pPr>
              <a:defRPr/>
            </a:pPr>
            <a:fld id="{9302AED1-E657-9F40-B58A-11EF3887D941}" type="datetime1">
              <a:rPr lang="de-DE"/>
              <a:t>12.01.26</a:t>
            </a:fld>
            <a:endParaRPr lang="en-US"/>
          </a:p>
        </p:txBody>
      </p:sp>
      <p:sp>
        <p:nvSpPr>
          <p:cNvPr id="6" name="Foliennummernplatzhalter 5"/>
          <p:cNvSpPr>
            <a:spLocks noGrp="1"/>
          </p:cNvSpPr>
          <p:nvPr>
            <p:ph type="sldNum" sz="quarter" idx="4"/>
          </p:nvPr>
        </p:nvSpPr>
        <p:spPr bwMode="auto"/>
        <p:txBody>
          <a:bodyPr/>
          <a:lstStyle/>
          <a:p>
            <a:pPr>
              <a:defRPr/>
            </a:pPr>
            <a:fld id="{B6F15528-21DE-4FAA-801E-634DDDAF4B2B}" type="slidenum">
              <a:rPr lang="de-DE"/>
              <a:t>15</a:t>
            </a:fld>
            <a:endParaRPr lang="de-DE"/>
          </a:p>
        </p:txBody>
      </p:sp>
      <p:sp>
        <p:nvSpPr>
          <p:cNvPr id="8" name="Fußzeilenplatzhalter 3"/>
          <p:cNvSpPr>
            <a:spLocks noGrp="1"/>
          </p:cNvSpPr>
          <p:nvPr>
            <p:ph type="ftr" sz="quarter" idx="3"/>
          </p:nvPr>
        </p:nvSpPr>
        <p:spPr bwMode="auto"/>
        <p:txBody>
          <a:bodyPr/>
          <a:lstStyle/>
          <a:p>
            <a:pPr>
              <a:defRPr/>
            </a:pPr>
            <a:r>
              <a:rPr lang="de-DE"/>
              <a:t>Fachbereich Wirtschaftswissenschaften -  Prof. Dr. Martin Adam </a:t>
            </a:r>
            <a:br>
              <a:rPr lang="de-DE"/>
            </a:br>
            <a:endParaRPr lang="de-DE"/>
          </a:p>
        </p:txBody>
      </p:sp>
    </p:spTree>
    <p:extLst>
      <p:ext uri="{BB962C8B-B14F-4D97-AF65-F5344CB8AC3E}">
        <p14:creationId xmlns:p14="http://schemas.microsoft.com/office/powerpoint/2010/main" val="28758282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Farben Uni Göttingen">
      <a:dk1>
        <a:sysClr val="windowText" lastClr="000000"/>
      </a:dk1>
      <a:lt1>
        <a:sysClr val="window" lastClr="FFFFFF"/>
      </a:lt1>
      <a:dk2>
        <a:srgbClr val="005F9B"/>
      </a:dk2>
      <a:lt2>
        <a:srgbClr val="50A5D2"/>
      </a:lt2>
      <a:accent1>
        <a:srgbClr val="153268"/>
      </a:accent1>
      <a:accent2>
        <a:srgbClr val="3B3B3A"/>
      </a:accent2>
      <a:accent3>
        <a:srgbClr val="0096D2"/>
      </a:accent3>
      <a:accent4>
        <a:srgbClr val="EAE2D8"/>
      </a:accent4>
      <a:accent5>
        <a:srgbClr val="F6F4F0"/>
      </a:accent5>
      <a:accent6>
        <a:srgbClr val="575756"/>
      </a:accent6>
      <a:hlink>
        <a:srgbClr val="0033CC"/>
      </a:hlink>
      <a:folHlink>
        <a:srgbClr val="6600CC"/>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1477</Words>
  <Application>Microsoft Macintosh PowerPoint</Application>
  <PresentationFormat>Widescreen</PresentationFormat>
  <Paragraphs>224</Paragraphs>
  <Slides>15</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Aptos</vt:lpstr>
      <vt:lpstr>Arial</vt:lpstr>
      <vt:lpstr>Arial Black</vt:lpstr>
      <vt:lpstr>Calibri</vt:lpstr>
      <vt:lpstr>Symbol</vt:lpstr>
      <vt:lpstr>1_Office Theme</vt:lpstr>
      <vt:lpstr>think-cell Slide</vt:lpstr>
      <vt:lpstr>Grundlagen der Digitalisierung Und digitalen Transformation</vt:lpstr>
      <vt:lpstr>Bearbeitungshinweis</vt:lpstr>
      <vt:lpstr>Aufgabe 1a</vt:lpstr>
      <vt:lpstr>PowerPoint Presentation</vt:lpstr>
      <vt:lpstr>Aufgabe 1B</vt:lpstr>
      <vt:lpstr>PowerPoint Presentation</vt:lpstr>
      <vt:lpstr>Aufgabe 2</vt:lpstr>
      <vt:lpstr>Aufgabe 2</vt:lpstr>
      <vt:lpstr>Aufgabe 2</vt:lpstr>
      <vt:lpstr>Aufgabe 3</vt:lpstr>
      <vt:lpstr>Aufgabe 3</vt:lpstr>
      <vt:lpstr>PowerPoint Presentation</vt:lpstr>
      <vt:lpstr>Aufgabe 4</vt:lpstr>
      <vt:lpstr>Aufgabe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  Veranstaltungsfolien überarbeiten</dc:title>
  <dc:creator>Maria Rachel</dc:creator>
  <cp:lastModifiedBy>David Ivanov</cp:lastModifiedBy>
  <cp:revision>50</cp:revision>
  <dcterms:created xsi:type="dcterms:W3CDTF">2024-10-29T10:46:39Z</dcterms:created>
  <dcterms:modified xsi:type="dcterms:W3CDTF">2026-01-12T13:52:55Z</dcterms:modified>
</cp:coreProperties>
</file>